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2"/>
  </p:notesMasterIdLst>
  <p:sldIdLst>
    <p:sldId id="256" r:id="rId2"/>
    <p:sldId id="257" r:id="rId3"/>
    <p:sldId id="266" r:id="rId4"/>
    <p:sldId id="263" r:id="rId5"/>
    <p:sldId id="275" r:id="rId6"/>
    <p:sldId id="344" r:id="rId7"/>
    <p:sldId id="345" r:id="rId8"/>
    <p:sldId id="358" r:id="rId9"/>
    <p:sldId id="346" r:id="rId10"/>
    <p:sldId id="359" r:id="rId11"/>
    <p:sldId id="347" r:id="rId12"/>
    <p:sldId id="360" r:id="rId13"/>
    <p:sldId id="348" r:id="rId14"/>
    <p:sldId id="361" r:id="rId15"/>
    <p:sldId id="387" r:id="rId16"/>
    <p:sldId id="384" r:id="rId17"/>
    <p:sldId id="388" r:id="rId18"/>
    <p:sldId id="385" r:id="rId19"/>
    <p:sldId id="389" r:id="rId20"/>
    <p:sldId id="386" r:id="rId21"/>
    <p:sldId id="390" r:id="rId22"/>
    <p:sldId id="362" r:id="rId23"/>
    <p:sldId id="365" r:id="rId24"/>
    <p:sldId id="363" r:id="rId25"/>
    <p:sldId id="364" r:id="rId26"/>
    <p:sldId id="381" r:id="rId27"/>
    <p:sldId id="382" r:id="rId28"/>
    <p:sldId id="383" r:id="rId29"/>
    <p:sldId id="276" r:id="rId30"/>
    <p:sldId id="335" r:id="rId31"/>
    <p:sldId id="333" r:id="rId32"/>
    <p:sldId id="349" r:id="rId33"/>
    <p:sldId id="350" r:id="rId34"/>
    <p:sldId id="351" r:id="rId35"/>
    <p:sldId id="352" r:id="rId36"/>
    <p:sldId id="353" r:id="rId37"/>
    <p:sldId id="354" r:id="rId38"/>
    <p:sldId id="355" r:id="rId39"/>
    <p:sldId id="356" r:id="rId40"/>
    <p:sldId id="366" r:id="rId41"/>
    <p:sldId id="367" r:id="rId42"/>
    <p:sldId id="369" r:id="rId43"/>
    <p:sldId id="368" r:id="rId44"/>
    <p:sldId id="370" r:id="rId45"/>
    <p:sldId id="371" r:id="rId46"/>
    <p:sldId id="372" r:id="rId47"/>
    <p:sldId id="373" r:id="rId48"/>
    <p:sldId id="374" r:id="rId49"/>
    <p:sldId id="375" r:id="rId50"/>
    <p:sldId id="376" r:id="rId51"/>
    <p:sldId id="377" r:id="rId52"/>
    <p:sldId id="378" r:id="rId53"/>
    <p:sldId id="380" r:id="rId54"/>
    <p:sldId id="379" r:id="rId55"/>
    <p:sldId id="277" r:id="rId56"/>
    <p:sldId id="336" r:id="rId57"/>
    <p:sldId id="279" r:id="rId58"/>
    <p:sldId id="298" r:id="rId59"/>
    <p:sldId id="318" r:id="rId60"/>
    <p:sldId id="316" r:id="rId6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淺色樣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中等深淺樣式 1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57" autoAdjust="0"/>
    <p:restoredTop sz="68136" autoAdjust="0"/>
  </p:normalViewPr>
  <p:slideViewPr>
    <p:cSldViewPr snapToGrid="0">
      <p:cViewPr varScale="1">
        <p:scale>
          <a:sx n="110" d="100"/>
          <a:sy n="110" d="100"/>
        </p:scale>
        <p:origin x="2268" y="78"/>
      </p:cViewPr>
      <p:guideLst/>
    </p:cSldViewPr>
  </p:slideViewPr>
  <p:outlineViewPr>
    <p:cViewPr>
      <p:scale>
        <a:sx n="33" d="100"/>
        <a:sy n="33" d="100"/>
      </p:scale>
      <p:origin x="0" y="-8136"/>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123" d="100"/>
          <a:sy n="123" d="100"/>
        </p:scale>
        <p:origin x="4974"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6B4A7BA4-1707-4587-AFD9-F5BDA3A06A0C}" type="datetimeFigureOut">
              <a:rPr lang="zh-TW" altLang="en-US" smtClean="0"/>
              <a:t>2025/1/20</a:t>
            </a:fld>
            <a:endParaRPr lang="zh-TW" altLang="en-US"/>
          </a:p>
        </p:txBody>
      </p:sp>
      <p:sp>
        <p:nvSpPr>
          <p:cNvPr id="4" name="投影片影像版面配置區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2FA0D12-3C47-4697-B18D-88A283670588}" type="slidenum">
              <a:rPr lang="zh-TW" altLang="en-US" smtClean="0"/>
              <a:t>‹#›</a:t>
            </a:fld>
            <a:endParaRPr lang="zh-TW" altLang="en-US"/>
          </a:p>
        </p:txBody>
      </p:sp>
    </p:spTree>
    <p:extLst>
      <p:ext uri="{BB962C8B-B14F-4D97-AF65-F5344CB8AC3E}">
        <p14:creationId xmlns:p14="http://schemas.microsoft.com/office/powerpoint/2010/main" val="3297968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lvl="0" indent="0" algn="l" rtl="0">
              <a:spcBef>
                <a:spcPts val="0"/>
              </a:spcBef>
              <a:spcAft>
                <a:spcPts val="0"/>
              </a:spcAft>
              <a:buNone/>
            </a:pPr>
            <a:r>
              <a:rPr lang="zh-TW" altLang="en-US" sz="1200" b="0" dirty="0">
                <a:latin typeface="DFKai-SB"/>
                <a:ea typeface="DFKai-SB"/>
                <a:cs typeface="DFKai-SB"/>
                <a:sym typeface="DFKai-SB"/>
              </a:rPr>
              <a:t>各位口試委員好，我是學生王裕詮，</a:t>
            </a:r>
            <a:br>
              <a:rPr lang="en-US" altLang="zh-TW" sz="1200" b="0" dirty="0">
                <a:latin typeface="DFKai-SB"/>
                <a:ea typeface="DFKai-SB"/>
                <a:cs typeface="DFKai-SB"/>
                <a:sym typeface="DFKai-SB"/>
              </a:rPr>
            </a:br>
            <a:r>
              <a:rPr lang="zh-TW" altLang="en-US" sz="1200" b="0" dirty="0">
                <a:latin typeface="DFKai-SB"/>
                <a:ea typeface="DFKai-SB"/>
                <a:cs typeface="DFKai-SB"/>
                <a:sym typeface="DFKai-SB"/>
              </a:rPr>
              <a:t>我的論文題目為 </a:t>
            </a:r>
            <a:r>
              <a:rPr lang="en-US" altLang="zh-TW" sz="1200" b="0" dirty="0">
                <a:latin typeface="DFKai-SB"/>
                <a:ea typeface="DFKai-SB"/>
                <a:cs typeface="DFKai-SB"/>
                <a:sym typeface="DFKai-SB"/>
              </a:rPr>
              <a:t>”</a:t>
            </a:r>
            <a:r>
              <a:rPr lang="zh-TW" altLang="en-US" sz="1200" b="0" dirty="0">
                <a:latin typeface="DFKai-SB"/>
                <a:ea typeface="DFKai-SB"/>
                <a:cs typeface="DFKai-SB"/>
                <a:sym typeface="DFKai-SB"/>
              </a:rPr>
              <a:t>基於</a:t>
            </a:r>
            <a:r>
              <a:rPr lang="en-US" altLang="zh-TW" sz="1200" b="0" dirty="0" err="1">
                <a:latin typeface="DFKai-SB"/>
                <a:ea typeface="DFKai-SB"/>
                <a:cs typeface="DFKai-SB"/>
                <a:sym typeface="DFKai-SB"/>
              </a:rPr>
              <a:t>FirmAE</a:t>
            </a:r>
            <a:r>
              <a:rPr lang="zh-TW" altLang="en-US" sz="1200" b="0" dirty="0">
                <a:latin typeface="DFKai-SB"/>
                <a:ea typeface="DFKai-SB"/>
                <a:cs typeface="DFKai-SB"/>
                <a:sym typeface="DFKai-SB"/>
              </a:rPr>
              <a:t>的嵌入式韌體模擬改進研究</a:t>
            </a:r>
            <a:r>
              <a:rPr lang="en-US" altLang="zh-TW" sz="1200" b="0" dirty="0">
                <a:latin typeface="DFKai-SB"/>
                <a:ea typeface="DFKai-SB"/>
                <a:cs typeface="DFKai-SB"/>
                <a:sym typeface="DFKai-SB"/>
              </a:rPr>
              <a:t>”</a:t>
            </a:r>
          </a:p>
          <a:p>
            <a:pPr marL="0" lvl="0" indent="0" algn="l" rtl="0">
              <a:spcBef>
                <a:spcPts val="0"/>
              </a:spcBef>
              <a:spcAft>
                <a:spcPts val="0"/>
              </a:spcAft>
              <a:buNone/>
            </a:pPr>
            <a:br>
              <a:rPr lang="en-US" altLang="zh-TW" sz="1200" b="0" dirty="0">
                <a:latin typeface="DFKai-SB"/>
                <a:ea typeface="DFKai-SB"/>
                <a:cs typeface="DFKai-SB"/>
                <a:sym typeface="DFKai-SB"/>
              </a:rPr>
            </a:br>
            <a:r>
              <a:rPr lang="zh-TW" altLang="en-US" sz="1200" b="0" dirty="0">
                <a:latin typeface="DFKai-SB"/>
                <a:ea typeface="DFKai-SB"/>
                <a:cs typeface="DFKai-SB"/>
                <a:sym typeface="DFKai-SB"/>
              </a:rPr>
              <a:t>我的指導教授是郭忠義老師</a:t>
            </a:r>
            <a:endParaRPr lang="en-US" altLang="zh-TW" sz="1200" b="0" dirty="0">
              <a:latin typeface="DFKai-SB"/>
              <a:ea typeface="DFKai-SB"/>
              <a:cs typeface="DFKai-SB"/>
              <a:sym typeface="DFKai-SB"/>
            </a:endParaRPr>
          </a:p>
          <a:p>
            <a:pPr marL="0" lvl="0" indent="0" algn="l" rtl="0">
              <a:spcBef>
                <a:spcPts val="0"/>
              </a:spcBef>
              <a:spcAft>
                <a:spcPts val="0"/>
              </a:spcAft>
              <a:buNone/>
            </a:pPr>
            <a:r>
              <a:rPr lang="zh-TW" altLang="en-US" sz="1200" b="0" dirty="0">
                <a:latin typeface="DFKai-SB"/>
                <a:ea typeface="DFKai-SB"/>
                <a:cs typeface="DFKai-SB"/>
                <a:sym typeface="DFKai-SB"/>
              </a:rPr>
              <a:t>本研究主要是希望能透過分析模擬失敗的韌體，以找出改善規則，來讓韌體模擬的成功率提高</a:t>
            </a:r>
            <a:endParaRPr lang="en-US" altLang="zh-TW" sz="1200" b="0" dirty="0">
              <a:latin typeface="DFKai-SB"/>
              <a:ea typeface="DFKai-SB"/>
              <a:cs typeface="DFKai-SB"/>
              <a:sym typeface="DFKai-SB"/>
            </a:endParaRP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a:t>
            </a:fld>
            <a:endParaRPr lang="zh-TW" altLang="en-US"/>
          </a:p>
        </p:txBody>
      </p:sp>
    </p:spTree>
    <p:extLst>
      <p:ext uri="{BB962C8B-B14F-4D97-AF65-F5344CB8AC3E}">
        <p14:creationId xmlns:p14="http://schemas.microsoft.com/office/powerpoint/2010/main" val="2285989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這是本研究的報告大綱，分為五個章節</a:t>
            </a:r>
            <a:endParaRPr lang="en-US" altLang="zh-TW" dirty="0"/>
          </a:p>
          <a:p>
            <a:r>
              <a:rPr lang="zh-TW" altLang="en-US" dirty="0"/>
              <a:t>將依序介紹研究動機、研究方法、實驗結果、討論、結論與未來研究方向</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a:t>
            </a:fld>
            <a:endParaRPr lang="zh-TW" altLang="en-US"/>
          </a:p>
        </p:txBody>
      </p:sp>
    </p:spTree>
    <p:extLst>
      <p:ext uri="{BB962C8B-B14F-4D97-AF65-F5344CB8AC3E}">
        <p14:creationId xmlns:p14="http://schemas.microsoft.com/office/powerpoint/2010/main" val="1575578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首先介紹本研究的研究動機</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a:t>
            </a:fld>
            <a:endParaRPr lang="zh-TW" altLang="en-US"/>
          </a:p>
        </p:txBody>
      </p:sp>
    </p:spTree>
    <p:extLst>
      <p:ext uri="{BB962C8B-B14F-4D97-AF65-F5344CB8AC3E}">
        <p14:creationId xmlns:p14="http://schemas.microsoft.com/office/powerpoint/2010/main" val="598746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隨著物聯網 </a:t>
            </a:r>
            <a:r>
              <a:rPr lang="en-US" altLang="zh-TW" dirty="0"/>
              <a:t>(IoT) </a:t>
            </a:r>
            <a:r>
              <a:rPr lang="zh-TW" altLang="en-US" dirty="0"/>
              <a:t>的快速普及，</a:t>
            </a:r>
            <a:r>
              <a:rPr lang="en-US" altLang="zh-TW" dirty="0"/>
              <a:t>IoT</a:t>
            </a:r>
            <a:r>
              <a:rPr lang="zh-TW" altLang="en-US" dirty="0"/>
              <a:t>設備已廣泛應用於智慧家庭、醫療設備及工業控制等領域。然而，</a:t>
            </a:r>
            <a:r>
              <a:rPr lang="en-US" altLang="zh-TW" dirty="0"/>
              <a:t>IoT</a:t>
            </a:r>
            <a:r>
              <a:rPr lang="zh-TW" altLang="en-US" dirty="0"/>
              <a:t>設備的資安問題日益嚴重，常見漏洞包括未授權存取、記憶體溢出、後門程式及弱密碼等，這些問題不僅威脅使用者隱私，還可能成為大規模網路攻擊的跳板。由於</a:t>
            </a:r>
            <a:r>
              <a:rPr lang="en-US" altLang="zh-TW" dirty="0"/>
              <a:t>IoT</a:t>
            </a:r>
            <a:r>
              <a:rPr lang="zh-TW" altLang="en-US" dirty="0"/>
              <a:t>設備多運行於資源受限的嵌入式環境，且廠商更新頻率低，漏洞難以及時修復，因此需要更有效的漏洞檢測方法。</a:t>
            </a:r>
            <a:endParaRPr lang="en-US" altLang="zh-TW" dirty="0"/>
          </a:p>
          <a:p>
            <a:endParaRPr lang="en-US" altLang="zh-TW" dirty="0"/>
          </a:p>
          <a:p>
            <a:r>
              <a:rPr lang="zh-TW" altLang="en-US" dirty="0"/>
              <a:t>而在動態的檢測方法中，需要為其準備完整的測試環境，那可以分為兩種方法，第一種是直接購買真實的設備，並對其進行測試，但</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由於</a:t>
            </a:r>
            <a:r>
              <a:rPr lang="en-US" altLang="zh-TW" sz="1800" dirty="0">
                <a:effectLst/>
                <a:latin typeface="Times New Roman" panose="02020603050405020304" pitchFamily="18" charset="0"/>
                <a:ea typeface="標楷體" panose="03000509000000000000" pitchFamily="65" charset="-120"/>
              </a:rPr>
              <a:t>IoT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設備成本較高，且數量與型號繁多，於進行實體測試時將面臨資源與效率的雙重限制，因此使用</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第二種方法，以</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韌體模擬作為替代方案</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err="1"/>
              <a:t>FirmAE</a:t>
            </a:r>
            <a:r>
              <a:rPr lang="zh-TW" altLang="en-US" dirty="0"/>
              <a:t>的設計偏向於通用型模擬框架，能夠有效處理大量的 </a:t>
            </a:r>
            <a:r>
              <a:rPr lang="en-US" altLang="zh-TW" dirty="0"/>
              <a:t>IoT </a:t>
            </a:r>
            <a:r>
              <a:rPr lang="zh-TW" altLang="en-US" dirty="0"/>
              <a:t>韌體。然而針對一些結構或功能上較為特殊的韌體，</a:t>
            </a:r>
            <a:r>
              <a:rPr lang="en-US" altLang="zh-TW" dirty="0" err="1"/>
              <a:t>FirmAE</a:t>
            </a:r>
            <a:r>
              <a:rPr lang="en-US" altLang="zh-TW" dirty="0"/>
              <a:t> </a:t>
            </a:r>
            <a:r>
              <a:rPr lang="zh-TW" altLang="en-US" dirty="0"/>
              <a:t>的通用模擬方法可能無法涵蓋它們的需求，因此本研究希望透過分析這些特殊的韌體，以找出模擬失敗的問題並整理出修復規則。</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a:t>
            </a:fld>
            <a:endParaRPr lang="zh-TW" altLang="en-US"/>
          </a:p>
        </p:txBody>
      </p:sp>
    </p:spTree>
    <p:extLst>
      <p:ext uri="{BB962C8B-B14F-4D97-AF65-F5344CB8AC3E}">
        <p14:creationId xmlns:p14="http://schemas.microsoft.com/office/powerpoint/2010/main" val="2146292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接下來介紹本研究提出的研究方法</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a:t>
            </a:fld>
            <a:endParaRPr lang="zh-TW" altLang="en-US"/>
          </a:p>
        </p:txBody>
      </p:sp>
    </p:spTree>
    <p:extLst>
      <p:ext uri="{BB962C8B-B14F-4D97-AF65-F5344CB8AC3E}">
        <p14:creationId xmlns:p14="http://schemas.microsoft.com/office/powerpoint/2010/main" val="3685908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6</a:t>
            </a:fld>
            <a:endParaRPr lang="zh-TW" altLang="en-US"/>
          </a:p>
        </p:txBody>
      </p:sp>
    </p:spTree>
    <p:extLst>
      <p:ext uri="{BB962C8B-B14F-4D97-AF65-F5344CB8AC3E}">
        <p14:creationId xmlns:p14="http://schemas.microsoft.com/office/powerpoint/2010/main" val="4186914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首先先介紹</a:t>
            </a:r>
            <a:r>
              <a:rPr lang="en-US" altLang="zh-TW" sz="1200" kern="0" dirty="0">
                <a:solidFill>
                  <a:prstClr val="black"/>
                </a:solidFill>
                <a:latin typeface="Times New Roman" panose="02020603050405020304" pitchFamily="18" charset="0"/>
                <a:cs typeface="Times New Roman" panose="02020603050405020304" pitchFamily="18" charset="0"/>
              </a:rPr>
              <a:t>Extractor</a:t>
            </a:r>
            <a:r>
              <a:rPr lang="zh-TW" altLang="en-US" sz="1200" kern="0" dirty="0">
                <a:solidFill>
                  <a:prstClr val="black"/>
                </a:solidFill>
                <a:latin typeface="Times New Roman" panose="02020603050405020304" pitchFamily="18" charset="0"/>
                <a:cs typeface="Times New Roman" panose="02020603050405020304" pitchFamily="18" charset="0"/>
              </a:rPr>
              <a:t>模組</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7</a:t>
            </a:fld>
            <a:endParaRPr lang="zh-TW" altLang="en-US"/>
          </a:p>
        </p:txBody>
      </p:sp>
    </p:spTree>
    <p:extLst>
      <p:ext uri="{BB962C8B-B14F-4D97-AF65-F5344CB8AC3E}">
        <p14:creationId xmlns:p14="http://schemas.microsoft.com/office/powerpoint/2010/main" val="1865109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0" dirty="0">
                <a:solidFill>
                  <a:prstClr val="black"/>
                </a:solidFill>
                <a:latin typeface="Times New Roman" panose="02020603050405020304" pitchFamily="18" charset="0"/>
                <a:cs typeface="Times New Roman" panose="02020603050405020304" pitchFamily="18" charset="0"/>
              </a:rPr>
              <a:t>Extractor</a:t>
            </a:r>
            <a:r>
              <a:rPr lang="zh-TW" altLang="en-US" sz="1200" kern="0" dirty="0">
                <a:solidFill>
                  <a:prstClr val="black"/>
                </a:solidFill>
                <a:latin typeface="Times New Roman" panose="02020603050405020304" pitchFamily="18" charset="0"/>
                <a:cs typeface="Times New Roman" panose="02020603050405020304" pitchFamily="18" charset="0"/>
              </a:rPr>
              <a:t>模組</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對目標韌體進行萃取，以取出目標韌體在執行期間所需要的</a:t>
            </a:r>
            <a:r>
              <a:rPr lang="en-US" altLang="zh-TW" sz="1800" dirty="0">
                <a:effectLst/>
                <a:latin typeface="Times New Roman" panose="02020603050405020304" pitchFamily="18" charset="0"/>
                <a:ea typeface="標楷體" panose="03000509000000000000" pitchFamily="65" charset="-120"/>
              </a:rPr>
              <a:t>CPU</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架構類型、檔案結構以及資料夾</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，以作為後續</a:t>
            </a:r>
            <a:r>
              <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rPr>
              <a:t>QEMU</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模擬時所需的資訊</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8</a:t>
            </a:fld>
            <a:endParaRPr lang="zh-TW" altLang="en-US"/>
          </a:p>
        </p:txBody>
      </p:sp>
    </p:spTree>
    <p:extLst>
      <p:ext uri="{BB962C8B-B14F-4D97-AF65-F5344CB8AC3E}">
        <p14:creationId xmlns:p14="http://schemas.microsoft.com/office/powerpoint/2010/main" val="1682503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接著介紹</a:t>
            </a:r>
            <a:r>
              <a:rPr lang="en-US" altLang="zh-TW" sz="1200" kern="0" dirty="0" err="1">
                <a:solidFill>
                  <a:prstClr val="black"/>
                </a:solidFill>
                <a:latin typeface="Times New Roman" panose="02020603050405020304" pitchFamily="18" charset="0"/>
                <a:cs typeface="Times New Roman" panose="02020603050405020304" pitchFamily="18" charset="0"/>
              </a:rPr>
              <a:t>ImageMaker</a:t>
            </a:r>
            <a:r>
              <a:rPr lang="zh-TW" altLang="en-US" sz="1200" kern="0" dirty="0">
                <a:solidFill>
                  <a:prstClr val="black"/>
                </a:solidFill>
                <a:latin typeface="Times New Roman" panose="02020603050405020304" pitchFamily="18" charset="0"/>
                <a:cs typeface="Times New Roman" panose="02020603050405020304" pitchFamily="18" charset="0"/>
              </a:rPr>
              <a:t>模組</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9</a:t>
            </a:fld>
            <a:endParaRPr lang="zh-TW" altLang="en-US"/>
          </a:p>
        </p:txBody>
      </p:sp>
    </p:spTree>
    <p:extLst>
      <p:ext uri="{BB962C8B-B14F-4D97-AF65-F5344CB8AC3E}">
        <p14:creationId xmlns:p14="http://schemas.microsoft.com/office/powerpoint/2010/main" val="3501652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0" dirty="0" err="1">
                <a:solidFill>
                  <a:prstClr val="black"/>
                </a:solidFill>
                <a:latin typeface="Times New Roman" panose="02020603050405020304" pitchFamily="18" charset="0"/>
                <a:cs typeface="Times New Roman" panose="02020603050405020304" pitchFamily="18" charset="0"/>
              </a:rPr>
              <a:t>ImageMaker</a:t>
            </a:r>
            <a:r>
              <a:rPr lang="zh-TW" altLang="en-US" sz="1200" kern="0" dirty="0">
                <a:solidFill>
                  <a:prstClr val="black"/>
                </a:solidFill>
                <a:latin typeface="Times New Roman" panose="02020603050405020304" pitchFamily="18" charset="0"/>
                <a:cs typeface="Times New Roman" panose="02020603050405020304" pitchFamily="18" charset="0"/>
              </a:rPr>
              <a:t>模組</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會根據</a:t>
            </a:r>
            <a:r>
              <a:rPr lang="en-US" altLang="zh-TW" sz="1800" dirty="0">
                <a:effectLst/>
                <a:latin typeface="Times New Roman" panose="02020603050405020304" pitchFamily="18" charset="0"/>
                <a:ea typeface="標楷體" panose="03000509000000000000" pitchFamily="65" charset="-120"/>
              </a:rPr>
              <a:t>Extractor</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模組所萃取出來的檔案系統以及資料進行處理，並產生出一個</a:t>
            </a:r>
            <a:r>
              <a:rPr lang="en-US" altLang="zh-TW" sz="1800" dirty="0">
                <a:effectLst/>
                <a:latin typeface="Times New Roman" panose="02020603050405020304" pitchFamily="18" charset="0"/>
                <a:ea typeface="標楷體" panose="03000509000000000000" pitchFamily="65" charset="-120"/>
              </a:rPr>
              <a:t>firmware image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，作為使用</a:t>
            </a:r>
            <a:r>
              <a:rPr lang="en-US" altLang="zh-TW" sz="1800" dirty="0">
                <a:effectLst/>
                <a:latin typeface="Times New Roman" panose="02020603050405020304" pitchFamily="18" charset="0"/>
                <a:ea typeface="標楷體" panose="03000509000000000000" pitchFamily="65" charset="-120"/>
              </a:rPr>
              <a:t>QEMU</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開機時所需要的檔案</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10</a:t>
            </a:fld>
            <a:endParaRPr lang="zh-TW" altLang="en-US"/>
          </a:p>
        </p:txBody>
      </p:sp>
    </p:spTree>
    <p:extLst>
      <p:ext uri="{BB962C8B-B14F-4D97-AF65-F5344CB8AC3E}">
        <p14:creationId xmlns:p14="http://schemas.microsoft.com/office/powerpoint/2010/main" val="3139503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a:t>
            </a:r>
            <a:r>
              <a:rPr lang="en-US" altLang="zh-TW" sz="1200" kern="0" dirty="0">
                <a:solidFill>
                  <a:prstClr val="black"/>
                </a:solidFill>
                <a:latin typeface="Times New Roman" panose="02020603050405020304" pitchFamily="18" charset="0"/>
                <a:cs typeface="Times New Roman" panose="02020603050405020304" pitchFamily="18" charset="0"/>
              </a:rPr>
              <a:t>Emulator</a:t>
            </a:r>
            <a:r>
              <a:rPr lang="zh-TW" altLang="en-US" sz="1200" kern="0" dirty="0">
                <a:solidFill>
                  <a:prstClr val="black"/>
                </a:solidFill>
                <a:latin typeface="Times New Roman" panose="02020603050405020304" pitchFamily="18" charset="0"/>
                <a:cs typeface="Times New Roman" panose="02020603050405020304" pitchFamily="18" charset="0"/>
              </a:rPr>
              <a:t>模組</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11</a:t>
            </a:fld>
            <a:endParaRPr lang="zh-TW" altLang="en-US"/>
          </a:p>
        </p:txBody>
      </p:sp>
    </p:spTree>
    <p:extLst>
      <p:ext uri="{BB962C8B-B14F-4D97-AF65-F5344CB8AC3E}">
        <p14:creationId xmlns:p14="http://schemas.microsoft.com/office/powerpoint/2010/main" val="3613184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effectLst/>
                <a:latin typeface="Times New Roman" panose="02020603050405020304" pitchFamily="18" charset="0"/>
                <a:ea typeface="標楷體" panose="03000509000000000000" pitchFamily="65" charset="-120"/>
              </a:rPr>
              <a:t>Emulator</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模組會透過</a:t>
            </a:r>
            <a:r>
              <a:rPr lang="en-US" altLang="zh-TW" sz="1800" dirty="0">
                <a:effectLst/>
                <a:latin typeface="Times New Roman" panose="02020603050405020304" pitchFamily="18" charset="0"/>
                <a:ea typeface="標楷體" panose="03000509000000000000" pitchFamily="65" charset="-120"/>
              </a:rPr>
              <a:t>Arbitration</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模組進行第一次的模擬，第一次模擬過程中，</a:t>
            </a:r>
            <a:r>
              <a:rPr lang="en-US" altLang="zh-TW" sz="1800" dirty="0">
                <a:effectLst/>
                <a:latin typeface="Times New Roman" panose="02020603050405020304" pitchFamily="18" charset="0"/>
                <a:ea typeface="標楷體" panose="03000509000000000000" pitchFamily="65" charset="-120"/>
              </a:rPr>
              <a:t>Arbitration</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模組會針對</a:t>
            </a:r>
            <a:r>
              <a:rPr lang="en-US" altLang="zh-TW" sz="1800" dirty="0">
                <a:effectLst/>
                <a:latin typeface="Times New Roman" panose="02020603050405020304" pitchFamily="18" charset="0"/>
                <a:ea typeface="標楷體" panose="03000509000000000000" pitchFamily="65" charset="-120"/>
              </a:rPr>
              <a:t>Boot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effectLst/>
                <a:latin typeface="Times New Roman" panose="02020603050405020304" pitchFamily="18" charset="0"/>
                <a:ea typeface="標楷體" panose="03000509000000000000" pitchFamily="65" charset="-120"/>
              </a:rPr>
              <a:t>Kernel</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effectLst/>
                <a:latin typeface="Times New Roman" panose="02020603050405020304" pitchFamily="18" charset="0"/>
                <a:ea typeface="標楷體" panose="03000509000000000000" pitchFamily="65" charset="-120"/>
              </a:rPr>
              <a:t>Network</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，以及</a:t>
            </a:r>
            <a:r>
              <a:rPr lang="en-US" altLang="zh-TW" sz="1800" dirty="0">
                <a:effectLst/>
                <a:latin typeface="Times New Roman" panose="02020603050405020304" pitchFamily="18" charset="0"/>
                <a:ea typeface="標楷體" panose="03000509000000000000" pitchFamily="65" charset="-120"/>
              </a:rPr>
              <a:t>NVRAM</a:t>
            </a:r>
            <a:r>
              <a:rPr lang="zh-TW" altLang="en-US" sz="1800" dirty="0">
                <a:effectLst/>
                <a:latin typeface="Times New Roman" panose="02020603050405020304" pitchFamily="18" charset="0"/>
                <a:ea typeface="標楷體" panose="03000509000000000000" pitchFamily="65" charset="-120"/>
              </a:rPr>
              <a:t>資料</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進行</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蒐集</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，並將這些</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蒐集到的資料</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寫入到</a:t>
            </a:r>
            <a:r>
              <a:rPr lang="en-US" altLang="zh-TW" sz="1800" dirty="0">
                <a:effectLst/>
                <a:latin typeface="Times New Roman" panose="02020603050405020304" pitchFamily="18" charset="0"/>
                <a:ea typeface="標楷體" panose="03000509000000000000" pitchFamily="65" charset="-120"/>
              </a:rPr>
              <a:t>run.sh</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以及</a:t>
            </a:r>
            <a:r>
              <a:rPr lang="en-US" altLang="zh-TW" sz="1800" dirty="0">
                <a:effectLst/>
                <a:latin typeface="Times New Roman" panose="02020603050405020304" pitchFamily="18" charset="0"/>
                <a:ea typeface="標楷體" panose="03000509000000000000" pitchFamily="65" charset="-120"/>
              </a:rPr>
              <a:t>firmware image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中</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完成收集相關資訊後，</a:t>
            </a:r>
            <a:r>
              <a:rPr lang="en-US" altLang="zh-TW" sz="1800" dirty="0">
                <a:effectLst/>
                <a:latin typeface="Times New Roman" panose="02020603050405020304" pitchFamily="18" charset="0"/>
                <a:ea typeface="標楷體" panose="03000509000000000000" pitchFamily="65" charset="-120"/>
              </a:rPr>
              <a:t>Emulator</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模組會對韌體進行第二次模擬，並帶入修正後的</a:t>
            </a:r>
            <a:r>
              <a:rPr lang="en-US" altLang="zh-TW" sz="1800" dirty="0">
                <a:effectLst/>
                <a:latin typeface="Times New Roman" panose="02020603050405020304" pitchFamily="18" charset="0"/>
                <a:ea typeface="標楷體" panose="03000509000000000000" pitchFamily="65" charset="-120"/>
              </a:rPr>
              <a:t>run.sh</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以及</a:t>
            </a:r>
            <a:r>
              <a:rPr lang="en-US" altLang="zh-TW" sz="1800" dirty="0">
                <a:effectLst/>
                <a:latin typeface="Times New Roman" panose="02020603050405020304" pitchFamily="18" charset="0"/>
                <a:ea typeface="標楷體" panose="03000509000000000000" pitchFamily="65" charset="-120"/>
              </a:rPr>
              <a:t>firmware image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，以此達到自動偵測並修復韌體模擬失敗之問題。</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12</a:t>
            </a:fld>
            <a:endParaRPr lang="zh-TW" altLang="en-US"/>
          </a:p>
        </p:txBody>
      </p:sp>
    </p:spTree>
    <p:extLst>
      <p:ext uri="{BB962C8B-B14F-4D97-AF65-F5344CB8AC3E}">
        <p14:creationId xmlns:p14="http://schemas.microsoft.com/office/powerpoint/2010/main" val="784440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a:t>
            </a:r>
            <a:r>
              <a:rPr lang="en-US" altLang="zh-TW" sz="1200" kern="0" dirty="0">
                <a:solidFill>
                  <a:prstClr val="black"/>
                </a:solidFill>
                <a:latin typeface="Times New Roman" panose="02020603050405020304" pitchFamily="18" charset="0"/>
                <a:cs typeface="Times New Roman" panose="02020603050405020304" pitchFamily="18" charset="0"/>
              </a:rPr>
              <a:t>Arbitration</a:t>
            </a:r>
            <a:r>
              <a:rPr lang="zh-TW" altLang="en-US" sz="1200" kern="0" dirty="0">
                <a:solidFill>
                  <a:prstClr val="black"/>
                </a:solidFill>
                <a:latin typeface="Times New Roman" panose="02020603050405020304" pitchFamily="18" charset="0"/>
                <a:cs typeface="Times New Roman" panose="02020603050405020304" pitchFamily="18" charset="0"/>
              </a:rPr>
              <a:t>模組</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13</a:t>
            </a:fld>
            <a:endParaRPr lang="zh-TW" altLang="en-US"/>
          </a:p>
        </p:txBody>
      </p:sp>
    </p:spTree>
    <p:extLst>
      <p:ext uri="{BB962C8B-B14F-4D97-AF65-F5344CB8AC3E}">
        <p14:creationId xmlns:p14="http://schemas.microsoft.com/office/powerpoint/2010/main" val="2559707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dirty="0">
                <a:effectLst/>
                <a:latin typeface="Times New Roman" panose="02020603050405020304" pitchFamily="18" charset="0"/>
                <a:ea typeface="標楷體" panose="03000509000000000000" pitchFamily="65" charset="-120"/>
              </a:rPr>
              <a:t>第</a:t>
            </a:r>
            <a:r>
              <a:rPr lang="en-US" altLang="zh-TW" sz="1800" dirty="0">
                <a:effectLst/>
                <a:latin typeface="Times New Roman" panose="02020603050405020304" pitchFamily="18" charset="0"/>
                <a:ea typeface="標楷體" panose="03000509000000000000" pitchFamily="65" charset="-120"/>
              </a:rPr>
              <a:t>1</a:t>
            </a:r>
            <a:r>
              <a:rPr lang="zh-TW" altLang="en-US" sz="1800" dirty="0">
                <a:effectLst/>
                <a:latin typeface="Times New Roman" panose="02020603050405020304" pitchFamily="18" charset="0"/>
                <a:ea typeface="標楷體" panose="03000509000000000000" pitchFamily="65" charset="-120"/>
              </a:rPr>
              <a:t>個</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是針對韌體開機過程中的</a:t>
            </a:r>
            <a:r>
              <a:rPr lang="en-US" altLang="zh-TW" sz="1800" dirty="0" err="1">
                <a:effectLst/>
                <a:latin typeface="Times New Roman" panose="02020603050405020304" pitchFamily="18" charset="0"/>
                <a:ea typeface="標楷體" panose="03000509000000000000" pitchFamily="65" charset="-120"/>
              </a:rPr>
              <a:t>init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檔案執行順序進行修正。此過程中</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針對不同韌體去尋找以及調整</a:t>
            </a:r>
            <a:r>
              <a:rPr lang="en-US" altLang="zh-TW" sz="1800" dirty="0" err="1">
                <a:effectLst/>
                <a:latin typeface="Times New Roman" panose="02020603050405020304" pitchFamily="18" charset="0"/>
                <a:ea typeface="標楷體" panose="03000509000000000000" pitchFamily="65" charset="-120"/>
              </a:rPr>
              <a:t>init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檔案的執行順序，確保模擬環境與實際裝置行為一致，以避免啟動順序錯誤導致模擬失敗。</a:t>
            </a: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dirty="0">
                <a:effectLst/>
                <a:latin typeface="Times New Roman" panose="02020603050405020304" pitchFamily="18" charset="0"/>
                <a:ea typeface="標楷體" panose="03000509000000000000" pitchFamily="65" charset="-120"/>
              </a:rPr>
              <a:t>第</a:t>
            </a:r>
            <a:r>
              <a:rPr lang="en-US" altLang="zh-TW" sz="1800" dirty="0">
                <a:effectLst/>
                <a:latin typeface="Times New Roman" panose="02020603050405020304" pitchFamily="18" charset="0"/>
                <a:ea typeface="標楷體" panose="03000509000000000000" pitchFamily="65" charset="-120"/>
              </a:rPr>
              <a:t>2</a:t>
            </a:r>
            <a:r>
              <a:rPr lang="zh-TW" altLang="en-US" sz="1800" dirty="0">
                <a:effectLst/>
                <a:latin typeface="Times New Roman" panose="02020603050405020304" pitchFamily="18" charset="0"/>
                <a:ea typeface="標楷體" panose="03000509000000000000" pitchFamily="65" charset="-120"/>
              </a:rPr>
              <a:t>個</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是針對常見的系統資料夾進行處理，像是</a:t>
            </a:r>
            <a:r>
              <a:rPr lang="en-US" altLang="zh-TW" sz="1800" dirty="0">
                <a:effectLst/>
                <a:latin typeface="Times New Roman" panose="02020603050405020304" pitchFamily="18" charset="0"/>
                <a:ea typeface="標楷體" panose="03000509000000000000" pitchFamily="65" charset="-120"/>
              </a:rPr>
              <a:t>proc</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err="1">
                <a:effectLst/>
                <a:latin typeface="Times New Roman" panose="02020603050405020304" pitchFamily="18" charset="0"/>
                <a:ea typeface="標楷體" panose="03000509000000000000" pitchFamily="65" charset="-120"/>
              </a:rPr>
              <a:t>tmp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effectLst/>
                <a:latin typeface="Times New Roman" panose="02020603050405020304" pitchFamily="18" charset="0"/>
                <a:ea typeface="標楷體" panose="03000509000000000000" pitchFamily="65" charset="-120"/>
              </a:rPr>
              <a:t>var</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等這類資料夾，透過修</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補</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這些常見的系統資料夾，可以確保韌體在模擬或執行時能夠正確存取這些位置</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14</a:t>
            </a:fld>
            <a:endParaRPr lang="zh-TW" altLang="en-US"/>
          </a:p>
        </p:txBody>
      </p:sp>
    </p:spTree>
    <p:extLst>
      <p:ext uri="{BB962C8B-B14F-4D97-AF65-F5344CB8AC3E}">
        <p14:creationId xmlns:p14="http://schemas.microsoft.com/office/powerpoint/2010/main" val="2497895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err="1">
                <a:effectLst/>
                <a:latin typeface="Times New Roman" panose="02020603050405020304" pitchFamily="18" charset="0"/>
                <a:ea typeface="標楷體" panose="03000509000000000000" pitchFamily="65" charset="-120"/>
              </a:rPr>
              <a:t>rdinit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參數只在系統使用</a:t>
            </a:r>
            <a:r>
              <a:rPr lang="en-US" altLang="zh-TW" sz="1800" dirty="0" err="1">
                <a:effectLst/>
                <a:latin typeface="Times New Roman" panose="02020603050405020304" pitchFamily="18" charset="0"/>
                <a:ea typeface="標楷體" panose="03000509000000000000" pitchFamily="65" charset="-120"/>
              </a:rPr>
              <a:t>initrd</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的情况下生效，並決定核心在加载初始</a:t>
            </a:r>
            <a:r>
              <a:rPr lang="en-US" altLang="zh-TW" sz="1800" dirty="0">
                <a:effectLst/>
                <a:latin typeface="Times New Roman" panose="02020603050405020304" pitchFamily="18" charset="0"/>
                <a:ea typeface="標楷體" panose="03000509000000000000" pitchFamily="65" charset="-120"/>
              </a:rPr>
              <a:t> RAM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磁碟後，首先執行哪个</a:t>
            </a:r>
            <a:r>
              <a:rPr lang="en-US" altLang="zh-TW" sz="1800" dirty="0">
                <a:effectLst/>
                <a:latin typeface="Times New Roman" panose="02020603050405020304" pitchFamily="18" charset="0"/>
                <a:ea typeface="標楷體" panose="03000509000000000000" pitchFamily="65" charset="-120"/>
              </a:rPr>
              <a:t>process</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。因此，</a:t>
            </a:r>
            <a:r>
              <a:rPr lang="en-US" altLang="zh-TW" sz="1800" dirty="0" err="1">
                <a:effectLst/>
                <a:latin typeface="Times New Roman" panose="02020603050405020304" pitchFamily="18" charset="0"/>
                <a:ea typeface="標楷體" panose="03000509000000000000" pitchFamily="65" charset="-120"/>
              </a:rPr>
              <a:t>rdinit</a:t>
            </a:r>
            <a:r>
              <a:rPr lang="en-US" altLang="zh-TW" sz="1800" dirty="0">
                <a:effectLst/>
                <a:latin typeface="Times New Roman" panose="02020603050405020304" pitchFamily="18" charset="0"/>
                <a:ea typeface="標楷體" panose="03000509000000000000" pitchFamily="65" charset="-120"/>
              </a:rPr>
              <a:t>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參數的應用主要集中在使用</a:t>
            </a:r>
            <a:r>
              <a:rPr lang="en-US" altLang="zh-TW" sz="1800" dirty="0">
                <a:effectLst/>
                <a:latin typeface="Times New Roman" panose="02020603050405020304" pitchFamily="18" charset="0"/>
                <a:ea typeface="標楷體" panose="03000509000000000000" pitchFamily="65" charset="-120"/>
              </a:rPr>
              <a:t> </a:t>
            </a:r>
            <a:r>
              <a:rPr lang="en-US" altLang="zh-TW" sz="1800" dirty="0" err="1">
                <a:effectLst/>
                <a:latin typeface="Times New Roman" panose="02020603050405020304" pitchFamily="18" charset="0"/>
                <a:ea typeface="標楷體" panose="03000509000000000000" pitchFamily="65" charset="-120"/>
              </a:rPr>
              <a:t>initrd</a:t>
            </a:r>
            <a:r>
              <a:rPr lang="en-US" altLang="zh-TW" sz="1800" dirty="0">
                <a:effectLst/>
                <a:latin typeface="Times New Roman" panose="02020603050405020304" pitchFamily="18" charset="0"/>
                <a:ea typeface="標楷體" panose="03000509000000000000" pitchFamily="65" charset="-120"/>
              </a:rPr>
              <a:t>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的系統環境中，而</a:t>
            </a:r>
            <a:r>
              <a:rPr lang="en-US" altLang="zh-TW" sz="1800" dirty="0" err="1">
                <a:effectLst/>
                <a:latin typeface="Times New Roman" panose="02020603050405020304" pitchFamily="18" charset="0"/>
                <a:ea typeface="標楷體" panose="03000509000000000000" pitchFamily="65" charset="-120"/>
              </a:rPr>
              <a:t>init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則影響整體系統的啟動流程。</a:t>
            </a:r>
            <a:r>
              <a:rPr lang="en-US" altLang="zh-TW" sz="1800" dirty="0" err="1">
                <a:effectLst/>
                <a:latin typeface="Times New Roman" panose="02020603050405020304" pitchFamily="18" charset="0"/>
                <a:ea typeface="標楷體" panose="03000509000000000000" pitchFamily="65" charset="-120"/>
              </a:rPr>
              <a:t>init</a:t>
            </a:r>
            <a:r>
              <a:rPr lang="en-US" altLang="zh-TW" sz="1800" dirty="0">
                <a:effectLst/>
                <a:latin typeface="Times New Roman" panose="02020603050405020304" pitchFamily="18" charset="0"/>
                <a:ea typeface="標楷體" panose="03000509000000000000" pitchFamily="65" charset="-120"/>
              </a:rPr>
              <a:t>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更適合一般</a:t>
            </a:r>
            <a:r>
              <a:rPr lang="en-US" altLang="zh-TW" sz="1800" dirty="0">
                <a:effectLst/>
                <a:latin typeface="Times New Roman" panose="02020603050405020304" pitchFamily="18" charset="0"/>
                <a:ea typeface="標楷體" panose="03000509000000000000" pitchFamily="65" charset="-120"/>
              </a:rPr>
              <a:t>Linux</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系統的啟動配置，而</a:t>
            </a:r>
            <a:r>
              <a:rPr lang="en-US" altLang="zh-TW" sz="1800" dirty="0">
                <a:effectLst/>
                <a:latin typeface="Times New Roman" panose="02020603050405020304" pitchFamily="18" charset="0"/>
                <a:ea typeface="標楷體" panose="03000509000000000000" pitchFamily="65" charset="-120"/>
              </a:rPr>
              <a:t> </a:t>
            </a:r>
            <a:r>
              <a:rPr lang="en-US" altLang="zh-TW" sz="1800" dirty="0" err="1">
                <a:effectLst/>
                <a:latin typeface="Times New Roman" panose="02020603050405020304" pitchFamily="18" charset="0"/>
                <a:ea typeface="標楷體" panose="03000509000000000000" pitchFamily="65" charset="-120"/>
              </a:rPr>
              <a:t>rdinit</a:t>
            </a:r>
            <a:r>
              <a:rPr lang="en-US" altLang="zh-TW" sz="1800" dirty="0">
                <a:effectLst/>
                <a:latin typeface="Times New Roman" panose="02020603050405020304" pitchFamily="18" charset="0"/>
                <a:ea typeface="標楷體" panose="03000509000000000000" pitchFamily="65" charset="-120"/>
              </a:rPr>
              <a:t>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則針對需要使用</a:t>
            </a:r>
            <a:r>
              <a:rPr lang="en-US" altLang="zh-TW" sz="1800" dirty="0">
                <a:effectLst/>
                <a:latin typeface="Times New Roman" panose="02020603050405020304" pitchFamily="18" charset="0"/>
                <a:ea typeface="標楷體" panose="03000509000000000000" pitchFamily="65" charset="-120"/>
              </a:rPr>
              <a:t> </a:t>
            </a:r>
            <a:r>
              <a:rPr lang="en-US" altLang="zh-TW" sz="1800" dirty="0" err="1">
                <a:effectLst/>
                <a:latin typeface="Times New Roman" panose="02020603050405020304" pitchFamily="18" charset="0"/>
                <a:ea typeface="標楷體" panose="03000509000000000000" pitchFamily="65" charset="-120"/>
              </a:rPr>
              <a:t>initrd</a:t>
            </a:r>
            <a:r>
              <a:rPr lang="en-US" altLang="zh-TW" sz="1800" dirty="0">
                <a:effectLst/>
                <a:latin typeface="Times New Roman" panose="02020603050405020304" pitchFamily="18" charset="0"/>
                <a:ea typeface="標楷體" panose="03000509000000000000" pitchFamily="65" charset="-120"/>
              </a:rPr>
              <a:t>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的特殊場合。</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15</a:t>
            </a:fld>
            <a:endParaRPr lang="zh-TW" altLang="en-US"/>
          </a:p>
        </p:txBody>
      </p:sp>
    </p:spTree>
    <p:extLst>
      <p:ext uri="{BB962C8B-B14F-4D97-AF65-F5344CB8AC3E}">
        <p14:creationId xmlns:p14="http://schemas.microsoft.com/office/powerpoint/2010/main" val="2528996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effectLst/>
                <a:latin typeface="Times New Roman" panose="02020603050405020304" pitchFamily="18" charset="0"/>
                <a:ea typeface="標楷體" panose="03000509000000000000" pitchFamily="65" charset="-120"/>
              </a:rPr>
              <a:t>第</a:t>
            </a:r>
            <a:r>
              <a:rPr lang="en-US" altLang="zh-TW" sz="1200" dirty="0">
                <a:effectLst/>
                <a:latin typeface="Times New Roman" panose="02020603050405020304" pitchFamily="18" charset="0"/>
                <a:ea typeface="標楷體" panose="03000509000000000000" pitchFamily="65" charset="-120"/>
              </a:rPr>
              <a:t>1</a:t>
            </a:r>
            <a:r>
              <a:rPr lang="zh-TW" altLang="en-US" sz="1200" dirty="0">
                <a:effectLst/>
                <a:latin typeface="Times New Roman" panose="02020603050405020304" pitchFamily="18" charset="0"/>
                <a:ea typeface="標楷體" panose="03000509000000000000" pitchFamily="65" charset="-120"/>
              </a:rPr>
              <a:t>個</a:t>
            </a:r>
            <a:r>
              <a:rPr lang="zh-TW" altLang="zh-TW" sz="1200" dirty="0">
                <a:effectLst/>
                <a:latin typeface="Times New Roman" panose="02020603050405020304" pitchFamily="18" charset="0"/>
                <a:ea typeface="標楷體" panose="03000509000000000000" pitchFamily="65" charset="-120"/>
                <a:cs typeface="Times New Roman" panose="02020603050405020304" pitchFamily="18" charset="0"/>
              </a:rPr>
              <a:t>是</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針對不同</a:t>
            </a:r>
            <a:r>
              <a:rPr lang="en-US" altLang="zh-TW" sz="1800" dirty="0">
                <a:effectLst/>
                <a:latin typeface="Times New Roman" panose="02020603050405020304" pitchFamily="18" charset="0"/>
                <a:ea typeface="標楷體" panose="03000509000000000000" pitchFamily="65" charset="-120"/>
              </a:rPr>
              <a:t>Kernel</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版本之間的相容性問題進行處理。由於韌體通常都是基於不同版本的</a:t>
            </a:r>
            <a:r>
              <a:rPr lang="en-US" altLang="zh-TW" sz="1800" dirty="0">
                <a:effectLst/>
                <a:latin typeface="Times New Roman" panose="02020603050405020304" pitchFamily="18" charset="0"/>
                <a:ea typeface="標楷體" panose="03000509000000000000" pitchFamily="65" charset="-120"/>
              </a:rPr>
              <a:t>Linux Kernel</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開發，且較新的韌體使用的核心版本是比較高的，那就會出現模擬過程中由於版本差異導致不相容情況</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針對這個問題，最直接的做法就是</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根據</a:t>
            </a:r>
            <a:r>
              <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rPr>
              <a:t>CPU</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架構</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提供一個較新版本編譯的核心，確保韌體能夠在模擬環境中正確執行。</a:t>
            </a: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並且為</a:t>
            </a:r>
            <a:r>
              <a:rPr lang="en-US" altLang="zh-TW" sz="1800" dirty="0">
                <a:effectLst/>
                <a:latin typeface="Times New Roman" panose="02020603050405020304" pitchFamily="18" charset="0"/>
                <a:ea typeface="標楷體" panose="03000509000000000000" pitchFamily="65" charset="-120"/>
              </a:rPr>
              <a:t>Kernel</a:t>
            </a:r>
            <a:r>
              <a:rPr lang="zh-TW" altLang="en-US" sz="1800" dirty="0">
                <a:effectLst/>
                <a:latin typeface="Times New Roman" panose="02020603050405020304" pitchFamily="18" charset="0"/>
                <a:ea typeface="標楷體" panose="03000509000000000000" pitchFamily="65" charset="-120"/>
              </a:rPr>
              <a:t>中</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編譯一些較為通用的模組</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16</a:t>
            </a:fld>
            <a:endParaRPr lang="zh-TW" altLang="en-US"/>
          </a:p>
        </p:txBody>
      </p:sp>
    </p:spTree>
    <p:extLst>
      <p:ext uri="{BB962C8B-B14F-4D97-AF65-F5344CB8AC3E}">
        <p14:creationId xmlns:p14="http://schemas.microsoft.com/office/powerpoint/2010/main" val="1544137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dirty="0">
                <a:effectLst/>
                <a:latin typeface="Times New Roman" panose="02020603050405020304" pitchFamily="18" charset="0"/>
                <a:ea typeface="標楷體" panose="03000509000000000000" pitchFamily="65" charset="-120"/>
              </a:rPr>
              <a:t>本研究發現</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提供的通用</a:t>
            </a:r>
            <a:r>
              <a:rPr lang="zh-TW" altLang="en-US" sz="1800" dirty="0">
                <a:effectLst/>
                <a:latin typeface="Times New Roman" panose="02020603050405020304" pitchFamily="18" charset="0"/>
                <a:ea typeface="標楷體" panose="03000509000000000000" pitchFamily="65" charset="-120"/>
              </a:rPr>
              <a:t>模組</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雖能滿足大多數韌體的基本需求，但某些韌體因依賴特定核心模組而無法在該環境中正常執行。這些模組在通用</a:t>
            </a:r>
            <a:r>
              <a:rPr lang="en-US" altLang="zh-TW" sz="1800" dirty="0">
                <a:effectLst/>
                <a:latin typeface="Times New Roman" panose="02020603050405020304" pitchFamily="18" charset="0"/>
                <a:ea typeface="標楷體" panose="03000509000000000000" pitchFamily="65" charset="-120"/>
              </a:rPr>
              <a:t>Kernel</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中通常未被包含，導致韌體無法載入必要的功能模組，進而導致模擬失敗。</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17</a:t>
            </a:fld>
            <a:endParaRPr lang="zh-TW" altLang="en-US"/>
          </a:p>
        </p:txBody>
      </p:sp>
    </p:spTree>
    <p:extLst>
      <p:ext uri="{BB962C8B-B14F-4D97-AF65-F5344CB8AC3E}">
        <p14:creationId xmlns:p14="http://schemas.microsoft.com/office/powerpoint/2010/main" val="3616080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a:t>
            </a:r>
            <a:r>
              <a:rPr lang="en-US" altLang="zh-TW" dirty="0"/>
              <a:t>1</a:t>
            </a:r>
            <a:r>
              <a:rPr lang="zh-TW" altLang="en-US" dirty="0"/>
              <a:t>個是</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發現</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Firmadyne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在實作中，會將每個搜尋到的</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IP</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地址都產生出一個介面給他，並且會對其設定路由規則，</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對此進行修正，統一只配置一個介面和</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IP</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給韌體使用。</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a:t>
            </a:r>
            <a:r>
              <a:rPr lang="en-US" altLang="zh-TW" dirty="0"/>
              <a:t>2</a:t>
            </a:r>
            <a:r>
              <a:rPr lang="zh-TW" altLang="en-US" dirty="0"/>
              <a:t>個是</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在某些韌體中，網路</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地址是由其他</a:t>
            </a:r>
            <a:r>
              <a:rPr lang="en-US" altLang="zh-TW" sz="1800" dirty="0">
                <a:effectLst/>
                <a:latin typeface="Times New Roman" panose="02020603050405020304" pitchFamily="18" charset="0"/>
                <a:ea typeface="標楷體" panose="03000509000000000000" pitchFamily="65" charset="-120"/>
              </a:rPr>
              <a:t>DHCP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伺服器動態分配。但是模擬環境中可能缺乏這類設備，導致韌體無法正常獲得</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位置。為了解決此問題，強制配置一個網路介面並手動設置</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地址，</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a:t>
            </a:r>
            <a:r>
              <a:rPr lang="en-US" altLang="zh-TW" dirty="0"/>
              <a:t>3</a:t>
            </a:r>
            <a:r>
              <a:rPr lang="zh-TW" altLang="en-US" dirty="0"/>
              <a:t>個是</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發現</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Firmadyne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在其模擬環境中，對</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VLAN</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的處理並不完善，導致模擬過程中出現失敗的情況。為了解決這個問題，</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透過正確配置</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VLAN</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以</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對網路進行正確的分組</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a:t>
            </a:r>
            <a:r>
              <a:rPr lang="en-US" altLang="zh-TW" dirty="0"/>
              <a:t>4</a:t>
            </a:r>
            <a:r>
              <a:rPr lang="zh-TW" altLang="en-US" dirty="0"/>
              <a:t>個是</a:t>
            </a:r>
            <a:r>
              <a:rPr lang="zh-TW"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有些韌體出於網路安全考量，會特別設定防火牆規則，這導致在模擬環境中，對該韌體的網頁存取常常被防火牆阻擋，無法順利進行操作。對於這種情況，</a:t>
            </a:r>
            <a:r>
              <a:rPr lang="en-US" altLang="zh-TW" sz="1800" kern="100" dirty="0" err="1">
                <a:effectLst/>
                <a:latin typeface="Times New Roman" panose="02020603050405020304" pitchFamily="18" charset="0"/>
                <a:ea typeface="標楷體" panose="03000509000000000000" pitchFamily="65" charset="-120"/>
                <a:cs typeface="Times New Roman" panose="02020603050405020304" pitchFamily="18" charset="0"/>
              </a:rPr>
              <a:t>FirmAE</a:t>
            </a:r>
            <a:r>
              <a:rPr lang="zh-TW"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透過腳本不斷地檢查是否有防火牆的規則存在，如果有找到則清除防火牆的規則，確保能夠正常存取韌體的網頁介面。</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18</a:t>
            </a:fld>
            <a:endParaRPr lang="zh-TW" altLang="en-US"/>
          </a:p>
        </p:txBody>
      </p:sp>
    </p:spTree>
    <p:extLst>
      <p:ext uri="{BB962C8B-B14F-4D97-AF65-F5344CB8AC3E}">
        <p14:creationId xmlns:p14="http://schemas.microsoft.com/office/powerpoint/2010/main" val="2327794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第</a:t>
            </a:r>
            <a:r>
              <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rPr>
              <a:t>1</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個</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本研究在此過程中發現，</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在為韌體中的網路介面</a:t>
            </a:r>
            <a:r>
              <a:rPr lang="en-US" altLang="zh-TW" sz="1800" dirty="0">
                <a:effectLst/>
                <a:latin typeface="Times New Roman" panose="02020603050405020304" pitchFamily="18" charset="0"/>
                <a:ea typeface="標楷體" panose="03000509000000000000" pitchFamily="65" charset="-120"/>
              </a:rPr>
              <a:t>(</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如</a:t>
            </a:r>
            <a:r>
              <a:rPr lang="en-US" altLang="zh-TW" sz="1800" dirty="0">
                <a:effectLst/>
                <a:latin typeface="Times New Roman" panose="02020603050405020304" pitchFamily="18" charset="0"/>
                <a:ea typeface="標楷體" panose="03000509000000000000" pitchFamily="65" charset="-120"/>
              </a:rPr>
              <a:t> eth0)</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配置</a:t>
            </a:r>
            <a:r>
              <a:rPr lang="en-US" altLang="zh-TW" sz="1800" dirty="0">
                <a:effectLst/>
                <a:latin typeface="Times New Roman" panose="02020603050405020304" pitchFamily="18" charset="0"/>
                <a:ea typeface="標楷體" panose="03000509000000000000" pitchFamily="65" charset="-120"/>
              </a:rPr>
              <a:t> IP </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位址時，統一使用預設的</a:t>
            </a:r>
            <a:r>
              <a:rPr lang="en-US" altLang="zh-TW" sz="1800" dirty="0">
                <a:effectLst/>
                <a:latin typeface="Times New Roman" panose="02020603050405020304" pitchFamily="18" charset="0"/>
                <a:ea typeface="標楷體" panose="03000509000000000000" pitchFamily="65" charset="-120"/>
              </a:rPr>
              <a:t>192.168.0.1</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作為</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位址，然而這預設配置並不適用於所有韌體。某些廠商為其產品設計自訂的網路配置，這些韌體在啟動時會預期使用特定的</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位址，並非</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所分配的</a:t>
            </a:r>
            <a:r>
              <a:rPr lang="en-US" altLang="zh-TW" sz="1800" dirty="0">
                <a:effectLst/>
                <a:latin typeface="Times New Roman" panose="02020603050405020304" pitchFamily="18" charset="0"/>
                <a:ea typeface="標楷體" panose="03000509000000000000" pitchFamily="65" charset="-120"/>
              </a:rPr>
              <a:t> 192.168.0.1</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a:t>
            </a:r>
            <a:r>
              <a:rPr lang="en-US" altLang="zh-TW" dirty="0"/>
              <a:t>2</a:t>
            </a:r>
            <a:r>
              <a:rPr lang="zh-TW" altLang="en-US" dirty="0"/>
              <a:t>個</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有些韌體在啟動過程中會自行創建網路介面並配置</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位址，完全不依賴外部的網路設置工具或腳本，在這種情況下，</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強制應用預設</a:t>
            </a:r>
            <a:r>
              <a:rPr lang="en-US" altLang="zh-TW" sz="1800" dirty="0">
                <a:effectLst/>
                <a:latin typeface="Times New Roman" panose="02020603050405020304" pitchFamily="18" charset="0"/>
                <a:ea typeface="標楷體" panose="03000509000000000000" pitchFamily="65" charset="-120"/>
              </a:rPr>
              <a:t>IP</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配置反而可能干擾韌體的正常執行</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19</a:t>
            </a:fld>
            <a:endParaRPr lang="zh-TW" altLang="en-US"/>
          </a:p>
        </p:txBody>
      </p:sp>
    </p:spTree>
    <p:extLst>
      <p:ext uri="{BB962C8B-B14F-4D97-AF65-F5344CB8AC3E}">
        <p14:creationId xmlns:p14="http://schemas.microsoft.com/office/powerpoint/2010/main" val="1249849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在韌體的開發與應用中，</a:t>
            </a:r>
            <a:r>
              <a:rPr lang="en-US" altLang="zh-TW" sz="1800" dirty="0">
                <a:effectLst/>
                <a:latin typeface="Times New Roman" panose="02020603050405020304" pitchFamily="18" charset="0"/>
                <a:ea typeface="標楷體" panose="03000509000000000000" pitchFamily="65" charset="-120"/>
              </a:rPr>
              <a:t>NVRAM</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通常用以儲存系統設置、使用者配置、網路設定、硬體參數及設備執行時的狀態資料</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，這些紀錄可以讓</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設備在重啟後能快速恢復到之前的執行狀態。</a:t>
            </a: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err="1">
                <a:effectLst/>
                <a:latin typeface="Times New Roman" panose="02020603050405020304" pitchFamily="18" charset="0"/>
                <a:ea typeface="標楷體" panose="03000509000000000000" pitchFamily="65" charset="-120"/>
                <a:cs typeface="Times New Roman" panose="02020603050405020304" pitchFamily="18" charset="0"/>
              </a:rPr>
              <a:t>FirmAE</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主要是</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處理韌體中需要</a:t>
            </a:r>
            <a:r>
              <a:rPr lang="en-US" altLang="zh-TW" sz="1800" dirty="0">
                <a:effectLst/>
                <a:latin typeface="Times New Roman" panose="02020603050405020304" pitchFamily="18" charset="0"/>
                <a:ea typeface="標楷體" panose="03000509000000000000" pitchFamily="65" charset="-120"/>
              </a:rPr>
              <a:t>NVRAM</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值的設定。</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確保</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韌體在模擬過程中正確配置</a:t>
            </a:r>
            <a:r>
              <a:rPr lang="en-US" altLang="zh-TW" sz="1800" dirty="0">
                <a:effectLst/>
                <a:latin typeface="Times New Roman" panose="02020603050405020304" pitchFamily="18" charset="0"/>
                <a:ea typeface="標楷體" panose="03000509000000000000" pitchFamily="65" charset="-120"/>
              </a:rPr>
              <a:t>NVRAM</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的值，確保其回傳的值不會造成系統崩潰導致模擬失敗。</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20</a:t>
            </a:fld>
            <a:endParaRPr lang="zh-TW" altLang="en-US"/>
          </a:p>
        </p:txBody>
      </p:sp>
    </p:spTree>
    <p:extLst>
      <p:ext uri="{BB962C8B-B14F-4D97-AF65-F5344CB8AC3E}">
        <p14:creationId xmlns:p14="http://schemas.microsoft.com/office/powerpoint/2010/main" val="2102529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本研究在此過程中發現，</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雖然有提供基本的</a:t>
            </a:r>
            <a:r>
              <a:rPr lang="en-US" altLang="zh-TW" sz="1800" dirty="0">
                <a:effectLst/>
                <a:latin typeface="Times New Roman" panose="02020603050405020304" pitchFamily="18" charset="0"/>
                <a:ea typeface="標楷體" panose="03000509000000000000" pitchFamily="65" charset="-120"/>
              </a:rPr>
              <a:t>NVRAM</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操作，以符合韌體系統執行所需的操作，但是有時候某些韌體會需要額外的一些操作，但卻被</a:t>
            </a:r>
            <a:r>
              <a:rPr lang="en-US" altLang="zh-TW" sz="1800" dirty="0" err="1">
                <a:effectLst/>
                <a:latin typeface="Times New Roman" panose="02020603050405020304" pitchFamily="18" charset="0"/>
                <a:ea typeface="標楷體" panose="03000509000000000000" pitchFamily="65" charset="-120"/>
              </a:rPr>
              <a:t>FirmAE</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1800" dirty="0">
                <a:effectLst/>
                <a:latin typeface="Times New Roman" panose="02020603050405020304" pitchFamily="18" charset="0"/>
                <a:ea typeface="標楷體" panose="03000509000000000000" pitchFamily="65" charset="-120"/>
              </a:rPr>
              <a:t>NVRAM Arbitrations</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覆蓋掉，導致模擬失敗，針對此類韌體，本研究將會採用關閉</a:t>
            </a:r>
            <a:r>
              <a:rPr lang="en-US" altLang="zh-TW" sz="1800" dirty="0">
                <a:effectLst/>
                <a:latin typeface="Times New Roman" panose="02020603050405020304" pitchFamily="18" charset="0"/>
                <a:ea typeface="標楷體" panose="03000509000000000000" pitchFamily="65" charset="-120"/>
              </a:rPr>
              <a:t>NVRAM Arbitrations</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，使其執行原生之</a:t>
            </a:r>
            <a:r>
              <a:rPr lang="en-US" altLang="zh-TW" sz="1800" dirty="0">
                <a:effectLst/>
                <a:latin typeface="Times New Roman" panose="02020603050405020304" pitchFamily="18" charset="0"/>
                <a:ea typeface="標楷體" panose="03000509000000000000" pitchFamily="65" charset="-120"/>
              </a:rPr>
              <a:t>NVRAM</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操作。</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21</a:t>
            </a:fld>
            <a:endParaRPr lang="zh-TW" altLang="en-US"/>
          </a:p>
        </p:txBody>
      </p:sp>
    </p:spTree>
    <p:extLst>
      <p:ext uri="{BB962C8B-B14F-4D97-AF65-F5344CB8AC3E}">
        <p14:creationId xmlns:p14="http://schemas.microsoft.com/office/powerpoint/2010/main" val="85476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接下來介紹本研究當遇到一個模擬失敗的韌體時，要怎麼去發現問題並嘗試修復的過程。</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22</a:t>
            </a:fld>
            <a:endParaRPr lang="zh-TW" altLang="en-US"/>
          </a:p>
        </p:txBody>
      </p:sp>
    </p:spTree>
    <p:extLst>
      <p:ext uri="{BB962C8B-B14F-4D97-AF65-F5344CB8AC3E}">
        <p14:creationId xmlns:p14="http://schemas.microsoft.com/office/powerpoint/2010/main" val="3491108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首先先介紹重新導向韌體系統日誌輸出的部分</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23</a:t>
            </a:fld>
            <a:endParaRPr lang="zh-TW" altLang="en-US"/>
          </a:p>
        </p:txBody>
      </p:sp>
    </p:spTree>
    <p:extLst>
      <p:ext uri="{BB962C8B-B14F-4D97-AF65-F5344CB8AC3E}">
        <p14:creationId xmlns:p14="http://schemas.microsoft.com/office/powerpoint/2010/main" val="3563090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在第一個</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Redirect Output</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階段中，會先將</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run.sh</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腳本中</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原本輸出到日誌的內容，同時也輸出到命令列中，透過這樣的方式不僅方便本研究能夠在模擬執行期間即時查看韌體的執行情況，還能讓使用者直接在命令列中輸入指令與模擬的韌體進行互動</a:t>
            </a:r>
            <a:r>
              <a:rPr lang="zh-TW" altLang="en-US" sz="1800" dirty="0">
                <a:effectLst/>
                <a:latin typeface="Calibri" panose="020F0502020204030204" pitchFamily="34" charset="0"/>
                <a:ea typeface="新細明體" panose="02020500000000000000" pitchFamily="18" charset="-120"/>
                <a:cs typeface="Times New Roman" panose="02020603050405020304" pitchFamily="18" charset="0"/>
              </a:rPr>
              <a:t>。</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24</a:t>
            </a:fld>
            <a:endParaRPr lang="zh-TW" altLang="en-US"/>
          </a:p>
        </p:txBody>
      </p:sp>
    </p:spTree>
    <p:extLst>
      <p:ext uri="{BB962C8B-B14F-4D97-AF65-F5344CB8AC3E}">
        <p14:creationId xmlns:p14="http://schemas.microsoft.com/office/powerpoint/2010/main" val="40365657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接下來介紹歸納規則的部分</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25</a:t>
            </a:fld>
            <a:endParaRPr lang="zh-TW" altLang="en-US"/>
          </a:p>
        </p:txBody>
      </p:sp>
    </p:spTree>
    <p:extLst>
      <p:ext uri="{BB962C8B-B14F-4D97-AF65-F5344CB8AC3E}">
        <p14:creationId xmlns:p14="http://schemas.microsoft.com/office/powerpoint/2010/main" val="3719919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在第二個階段中，本研究將分析</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在</a:t>
            </a: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Arbitrations</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實作過程中所遇到的問題，並針對這些問題進行深入的探討，在修復的過程中，本研究將分析各種可能影響模擬成功率的因素，且根據不同的情境制定對應的修復方式，並將這些改進措施實際應用於韌體模擬環境中。</a:t>
            </a:r>
            <a:endPar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endParaRPr>
          </a:p>
          <a:p>
            <a:pPr marL="0" lvl="0" indent="0" algn="just">
              <a:lnSpc>
                <a:spcPct val="150000"/>
              </a:lnSpc>
              <a:buFont typeface="+mj-lt"/>
              <a:buNone/>
            </a:pPr>
            <a:r>
              <a:rPr lang="zh-TW" altLang="zh-TW" sz="1800" kern="100" dirty="0">
                <a:effectLst/>
                <a:latin typeface="Times New Roman" panose="02020603050405020304" pitchFamily="18" charset="0"/>
                <a:ea typeface="標楷體" panose="03000509000000000000" pitchFamily="65" charset="-120"/>
              </a:rPr>
              <a:t>第二個階段中，會對修復後的韌體進行測試，以確認模擬是否成功。成功的判斷標準包括：</a:t>
            </a:r>
          </a:p>
          <a:p>
            <a:pPr marL="342900" lvl="0" indent="-342900" algn="just">
              <a:lnSpc>
                <a:spcPct val="150000"/>
              </a:lnSpc>
              <a:buFont typeface="Wingdings" panose="05000000000000000000" pitchFamily="2" charset="2"/>
              <a:buChar char=""/>
            </a:pPr>
            <a:r>
              <a:rPr lang="en-US" altLang="zh-TW" sz="1800" kern="100" dirty="0">
                <a:effectLst/>
                <a:latin typeface="Times New Roman" panose="02020603050405020304" pitchFamily="18" charset="0"/>
                <a:ea typeface="標楷體" panose="03000509000000000000" pitchFamily="65" charset="-120"/>
              </a:rPr>
              <a:t>host</a:t>
            </a:r>
            <a:r>
              <a:rPr lang="zh-TW" altLang="zh-TW" sz="1800" kern="100" dirty="0">
                <a:effectLst/>
                <a:latin typeface="Times New Roman" panose="02020603050405020304" pitchFamily="18" charset="0"/>
                <a:ea typeface="標楷體" panose="03000509000000000000" pitchFamily="65" charset="-120"/>
              </a:rPr>
              <a:t>端能夠對韌體端進行</a:t>
            </a:r>
            <a:r>
              <a:rPr lang="en-US" altLang="zh-TW" sz="1800" kern="100" dirty="0">
                <a:effectLst/>
                <a:latin typeface="Times New Roman" panose="02020603050405020304" pitchFamily="18" charset="0"/>
                <a:ea typeface="標楷體" panose="03000509000000000000" pitchFamily="65" charset="-120"/>
              </a:rPr>
              <a:t>ping</a:t>
            </a:r>
            <a:r>
              <a:rPr lang="zh-TW" altLang="zh-TW" sz="1800" kern="100" dirty="0">
                <a:effectLst/>
                <a:latin typeface="Times New Roman" panose="02020603050405020304" pitchFamily="18" charset="0"/>
                <a:ea typeface="標楷體" panose="03000509000000000000" pitchFamily="65" charset="-120"/>
              </a:rPr>
              <a:t>測試，並成功得到回應。</a:t>
            </a:r>
          </a:p>
          <a:p>
            <a:pPr marL="342900" lvl="0" indent="-342900" algn="just">
              <a:lnSpc>
                <a:spcPct val="150000"/>
              </a:lnSpc>
              <a:buFont typeface="Wingdings" panose="05000000000000000000" pitchFamily="2" charset="2"/>
              <a:buChar char=""/>
            </a:pPr>
            <a:r>
              <a:rPr lang="en-US" altLang="zh-TW" sz="1800" kern="100" dirty="0">
                <a:effectLst/>
                <a:latin typeface="Times New Roman" panose="02020603050405020304" pitchFamily="18" charset="0"/>
                <a:ea typeface="標楷體" panose="03000509000000000000" pitchFamily="65" charset="-120"/>
              </a:rPr>
              <a:t>host</a:t>
            </a:r>
            <a:r>
              <a:rPr lang="zh-TW" altLang="zh-TW" sz="1800" kern="100" dirty="0">
                <a:effectLst/>
                <a:latin typeface="Times New Roman" panose="02020603050405020304" pitchFamily="18" charset="0"/>
                <a:ea typeface="標楷體" panose="03000509000000000000" pitchFamily="65" charset="-120"/>
              </a:rPr>
              <a:t>端能夠從透過瀏覽器存取韌體的網頁服務。</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26</a:t>
            </a:fld>
            <a:endParaRPr lang="zh-TW" altLang="en-US"/>
          </a:p>
        </p:txBody>
      </p:sp>
    </p:spTree>
    <p:extLst>
      <p:ext uri="{BB962C8B-B14F-4D97-AF65-F5344CB8AC3E}">
        <p14:creationId xmlns:p14="http://schemas.microsoft.com/office/powerpoint/2010/main" val="1211279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接著介紹驗證規則的部分</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27</a:t>
            </a:fld>
            <a:endParaRPr lang="zh-TW" altLang="en-US"/>
          </a:p>
        </p:txBody>
      </p:sp>
    </p:spTree>
    <p:extLst>
      <p:ext uri="{BB962C8B-B14F-4D97-AF65-F5344CB8AC3E}">
        <p14:creationId xmlns:p14="http://schemas.microsoft.com/office/powerpoint/2010/main" val="2731787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本研究將進一步驗證第二階段所歸納出的修復規則之有效性，將選取額外的的韌體，並將其投入</a:t>
            </a:r>
            <a:r>
              <a:rPr lang="en-US" altLang="zh-TW" sz="1800" dirty="0" err="1">
                <a:effectLst/>
                <a:latin typeface="Calibri" panose="020F0502020204030204" pitchFamily="34" charset="0"/>
                <a:ea typeface="新細明體" panose="02020500000000000000" pitchFamily="18" charset="-120"/>
                <a:cs typeface="Times New Roman" panose="02020603050405020304" pitchFamily="18" charset="0"/>
              </a:rPr>
              <a:t>FirmAE</a:t>
            </a:r>
            <a:r>
              <a:rPr lang="zh-TW" altLang="zh-TW" sz="1800" dirty="0">
                <a:effectLst/>
                <a:latin typeface="Calibri" panose="020F0502020204030204" pitchFamily="34" charset="0"/>
                <a:ea typeface="新細明體" panose="02020500000000000000" pitchFamily="18" charset="-120"/>
                <a:cs typeface="Times New Roman" panose="02020603050405020304" pitchFamily="18" charset="0"/>
              </a:rPr>
              <a:t>進行模擬測試，並且本研究將應用第二階段所制定的修復規則於這些韌體中</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28</a:t>
            </a:fld>
            <a:endParaRPr lang="zh-TW" altLang="en-US"/>
          </a:p>
        </p:txBody>
      </p:sp>
    </p:spTree>
    <p:extLst>
      <p:ext uri="{BB962C8B-B14F-4D97-AF65-F5344CB8AC3E}">
        <p14:creationId xmlns:p14="http://schemas.microsoft.com/office/powerpoint/2010/main" val="280108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接下來介紹本研究的實驗</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29</a:t>
            </a:fld>
            <a:endParaRPr lang="zh-TW" altLang="en-US"/>
          </a:p>
        </p:txBody>
      </p:sp>
    </p:spTree>
    <p:extLst>
      <p:ext uri="{BB962C8B-B14F-4D97-AF65-F5344CB8AC3E}">
        <p14:creationId xmlns:p14="http://schemas.microsoft.com/office/powerpoint/2010/main" val="21893421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首先介紹本研究的實驗環境</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30</a:t>
            </a:fld>
            <a:endParaRPr lang="zh-TW" altLang="en-US"/>
          </a:p>
        </p:txBody>
      </p:sp>
    </p:spTree>
    <p:extLst>
      <p:ext uri="{BB962C8B-B14F-4D97-AF65-F5344CB8AC3E}">
        <p14:creationId xmlns:p14="http://schemas.microsoft.com/office/powerpoint/2010/main" val="26489951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在實驗中本研究選取了以下的韌體來進行實驗，前兩個是</a:t>
            </a:r>
            <a:r>
              <a:rPr lang="en-US" altLang="zh-TW" dirty="0"/>
              <a:t>delta</a:t>
            </a:r>
            <a:r>
              <a:rPr lang="zh-TW" altLang="en-US" dirty="0"/>
              <a:t>在網路上公開可以取得的韌體，分別是</a:t>
            </a:r>
            <a:r>
              <a:rPr lang="en-US" altLang="zh-TW" dirty="0" err="1"/>
              <a:t>routor</a:t>
            </a:r>
            <a:r>
              <a:rPr lang="zh-TW" altLang="en-US" dirty="0"/>
              <a:t>以及</a:t>
            </a:r>
            <a:r>
              <a:rPr lang="en-US" altLang="zh-TW" dirty="0" err="1"/>
              <a:t>ip</a:t>
            </a:r>
            <a:r>
              <a:rPr lang="en-US" altLang="zh-TW" dirty="0"/>
              <a:t> camera</a:t>
            </a:r>
            <a:r>
              <a:rPr lang="zh-TW" altLang="en-US" dirty="0"/>
              <a:t>，剩下的</a:t>
            </a:r>
            <a:r>
              <a:rPr lang="en-US" altLang="zh-TW" dirty="0"/>
              <a:t>4</a:t>
            </a:r>
            <a:r>
              <a:rPr lang="zh-TW" altLang="en-US" dirty="0"/>
              <a:t>個韌體則是從</a:t>
            </a:r>
            <a:r>
              <a:rPr lang="en-US" altLang="zh-TW" dirty="0" err="1"/>
              <a:t>FirmAE</a:t>
            </a:r>
            <a:r>
              <a:rPr lang="zh-TW" altLang="en-US" dirty="0"/>
              <a:t>原始資料集中模擬失敗的韌體。</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31</a:t>
            </a:fld>
            <a:endParaRPr lang="zh-TW" altLang="en-US"/>
          </a:p>
        </p:txBody>
      </p:sp>
    </p:spTree>
    <p:extLst>
      <p:ext uri="{BB962C8B-B14F-4D97-AF65-F5344CB8AC3E}">
        <p14:creationId xmlns:p14="http://schemas.microsoft.com/office/powerpoint/2010/main" val="538539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本研究成功修復了</a:t>
            </a:r>
            <a:r>
              <a:rPr lang="en-US" altLang="zh-TW" sz="1800" dirty="0">
                <a:effectLst/>
                <a:latin typeface="Times New Roman" panose="02020603050405020304" pitchFamily="18" charset="0"/>
                <a:ea typeface="標楷體" panose="03000509000000000000" pitchFamily="65" charset="-120"/>
              </a:rPr>
              <a:t>6</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個模擬失敗韌體中的</a:t>
            </a:r>
            <a:r>
              <a:rPr lang="en-US" altLang="zh-TW" sz="1800" dirty="0">
                <a:effectLst/>
                <a:latin typeface="Times New Roman" panose="02020603050405020304" pitchFamily="18" charset="0"/>
                <a:ea typeface="標楷體" panose="03000509000000000000" pitchFamily="65" charset="-120"/>
              </a:rPr>
              <a:t>4</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個，</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以此可以推測說本研究之修復規則是</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有效</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的</a:t>
            </a:r>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，在實驗過程中，透過針對模擬失敗原因進行深入分析與調整，並將修復規則整理於下方</a:t>
            </a:r>
            <a:r>
              <a:rPr lang="zh-TW" altLang="en-US" sz="18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32</a:t>
            </a:fld>
            <a:endParaRPr lang="zh-TW" altLang="en-US"/>
          </a:p>
        </p:txBody>
      </p:sp>
    </p:spTree>
    <p:extLst>
      <p:ext uri="{BB962C8B-B14F-4D97-AF65-F5344CB8AC3E}">
        <p14:creationId xmlns:p14="http://schemas.microsoft.com/office/powerpoint/2010/main" val="1005677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33</a:t>
            </a:fld>
            <a:endParaRPr lang="zh-TW" altLang="en-US"/>
          </a:p>
        </p:txBody>
      </p:sp>
    </p:spTree>
    <p:extLst>
      <p:ext uri="{BB962C8B-B14F-4D97-AF65-F5344CB8AC3E}">
        <p14:creationId xmlns:p14="http://schemas.microsoft.com/office/powerpoint/2010/main" val="1649739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以下是本研究所提出研究方法，包含</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34</a:t>
            </a:fld>
            <a:endParaRPr lang="zh-TW" altLang="en-US"/>
          </a:p>
        </p:txBody>
      </p:sp>
    </p:spTree>
    <p:extLst>
      <p:ext uri="{BB962C8B-B14F-4D97-AF65-F5344CB8AC3E}">
        <p14:creationId xmlns:p14="http://schemas.microsoft.com/office/powerpoint/2010/main" val="34974024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以下是本研究所提出研究方法，包含</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35</a:t>
            </a:fld>
            <a:endParaRPr lang="zh-TW" altLang="en-US"/>
          </a:p>
        </p:txBody>
      </p:sp>
    </p:spTree>
    <p:extLst>
      <p:ext uri="{BB962C8B-B14F-4D97-AF65-F5344CB8AC3E}">
        <p14:creationId xmlns:p14="http://schemas.microsoft.com/office/powerpoint/2010/main" val="6122817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以下是本研究所提出研究方法，包含</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36</a:t>
            </a:fld>
            <a:endParaRPr lang="zh-TW" altLang="en-US"/>
          </a:p>
        </p:txBody>
      </p:sp>
    </p:spTree>
    <p:extLst>
      <p:ext uri="{BB962C8B-B14F-4D97-AF65-F5344CB8AC3E}">
        <p14:creationId xmlns:p14="http://schemas.microsoft.com/office/powerpoint/2010/main" val="12736793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以下是本研究所提出研究方法，包含</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37</a:t>
            </a:fld>
            <a:endParaRPr lang="zh-TW" altLang="en-US"/>
          </a:p>
        </p:txBody>
      </p:sp>
    </p:spTree>
    <p:extLst>
      <p:ext uri="{BB962C8B-B14F-4D97-AF65-F5344CB8AC3E}">
        <p14:creationId xmlns:p14="http://schemas.microsoft.com/office/powerpoint/2010/main" val="18674324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以下是本研究所提出研究方法，包含</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38</a:t>
            </a:fld>
            <a:endParaRPr lang="zh-TW" altLang="en-US"/>
          </a:p>
        </p:txBody>
      </p:sp>
    </p:spTree>
    <p:extLst>
      <p:ext uri="{BB962C8B-B14F-4D97-AF65-F5344CB8AC3E}">
        <p14:creationId xmlns:p14="http://schemas.microsoft.com/office/powerpoint/2010/main" val="6166558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以下是本研究所提出研究方法，包含</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39</a:t>
            </a:fld>
            <a:endParaRPr lang="zh-TW" altLang="en-US"/>
          </a:p>
        </p:txBody>
      </p:sp>
    </p:spTree>
    <p:extLst>
      <p:ext uri="{BB962C8B-B14F-4D97-AF65-F5344CB8AC3E}">
        <p14:creationId xmlns:p14="http://schemas.microsoft.com/office/powerpoint/2010/main" val="2487840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接著本研究找了另外兩個</a:t>
            </a:r>
            <a:r>
              <a:rPr lang="en-US" altLang="zh-TW" b="0" i="0" dirty="0">
                <a:solidFill>
                  <a:srgbClr val="242424"/>
                </a:solidFill>
                <a:effectLst/>
                <a:highlight>
                  <a:srgbClr val="FFFFFF"/>
                </a:highlight>
                <a:latin typeface="source-serif-pro"/>
              </a:rPr>
              <a:t>delta</a:t>
            </a:r>
            <a:r>
              <a:rPr lang="zh-TW" altLang="en-US" b="0" i="0" dirty="0">
                <a:solidFill>
                  <a:srgbClr val="242424"/>
                </a:solidFill>
                <a:effectLst/>
                <a:highlight>
                  <a:srgbClr val="FFFFFF"/>
                </a:highlight>
                <a:latin typeface="source-serif-pro"/>
              </a:rPr>
              <a:t>的韌體來驗證本研究所提出的修復規則是否有效地應用在其他韌體中，第</a:t>
            </a:r>
            <a:r>
              <a:rPr lang="en-US" altLang="zh-TW" b="0" i="0" dirty="0">
                <a:solidFill>
                  <a:srgbClr val="242424"/>
                </a:solidFill>
                <a:effectLst/>
                <a:highlight>
                  <a:srgbClr val="FFFFFF"/>
                </a:highlight>
                <a:latin typeface="source-serif-pro"/>
              </a:rPr>
              <a:t>1</a:t>
            </a:r>
            <a:r>
              <a:rPr lang="zh-TW" altLang="en-US" b="0" i="0" dirty="0">
                <a:solidFill>
                  <a:srgbClr val="242424"/>
                </a:solidFill>
                <a:effectLst/>
                <a:highlight>
                  <a:srgbClr val="FFFFFF"/>
                </a:highlight>
                <a:latin typeface="source-serif-pro"/>
              </a:rPr>
              <a:t>個雖然和前面實驗表格中的型號一樣，但是兩個韌體之間的推出時間並不同，第二個韌體則是一個全新沒有見過的韌體，希望可以透過本研究提出的</a:t>
            </a:r>
            <a:r>
              <a:rPr lang="en-US" altLang="zh-TW" b="0" i="0" dirty="0">
                <a:solidFill>
                  <a:srgbClr val="242424"/>
                </a:solidFill>
                <a:effectLst/>
                <a:highlight>
                  <a:srgbClr val="FFFFFF"/>
                </a:highlight>
                <a:latin typeface="source-serif-pro"/>
              </a:rPr>
              <a:t>7</a:t>
            </a:r>
            <a:r>
              <a:rPr lang="zh-TW" altLang="en-US" b="0" i="0" dirty="0">
                <a:solidFill>
                  <a:srgbClr val="242424"/>
                </a:solidFill>
                <a:effectLst/>
                <a:highlight>
                  <a:srgbClr val="FFFFFF"/>
                </a:highlight>
                <a:latin typeface="source-serif-pro"/>
              </a:rPr>
              <a:t>個修復規則來修復他們模擬失敗的問題。</a:t>
            </a:r>
            <a:endParaRPr lang="en-US" altLang="zh-TW" b="0" i="0" dirty="0">
              <a:solidFill>
                <a:srgbClr val="242424"/>
              </a:solidFill>
              <a:effectLst/>
              <a:highlight>
                <a:srgbClr val="FFFFFF"/>
              </a:highlight>
              <a:latin typeface="source-serif-pro"/>
            </a:endParaRP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40</a:t>
            </a:fld>
            <a:endParaRPr lang="zh-TW" altLang="en-US"/>
          </a:p>
        </p:txBody>
      </p:sp>
    </p:spTree>
    <p:extLst>
      <p:ext uri="{BB962C8B-B14F-4D97-AF65-F5344CB8AC3E}">
        <p14:creationId xmlns:p14="http://schemas.microsoft.com/office/powerpoint/2010/main" val="19578178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接著我們先對第</a:t>
            </a:r>
            <a:r>
              <a:rPr lang="en-US" altLang="zh-TW" dirty="0"/>
              <a:t>1</a:t>
            </a:r>
            <a:r>
              <a:rPr lang="zh-TW" altLang="en-US" dirty="0"/>
              <a:t>個韌體進行實驗，在開機後沒多久，就出現</a:t>
            </a:r>
            <a:r>
              <a:rPr lang="en-US" altLang="zh-TW" dirty="0"/>
              <a:t>kernel panic</a:t>
            </a:r>
            <a:r>
              <a:rPr lang="zh-TW" altLang="en-US" dirty="0"/>
              <a:t>的問題，根據規則</a:t>
            </a:r>
            <a:r>
              <a:rPr lang="en-US" altLang="zh-TW" dirty="0"/>
              <a:t>1</a:t>
            </a:r>
            <a:r>
              <a:rPr lang="zh-TW" altLang="en-US" dirty="0"/>
              <a:t>，本研究嘗試將</a:t>
            </a:r>
            <a:r>
              <a:rPr lang="en-US" altLang="zh-TW" dirty="0"/>
              <a:t>QEMU</a:t>
            </a:r>
            <a:r>
              <a:rPr lang="zh-TW" altLang="en-US" dirty="0"/>
              <a:t>啟動參數中的</a:t>
            </a:r>
            <a:r>
              <a:rPr lang="en-US" altLang="zh-TW" dirty="0" err="1"/>
              <a:t>rdinit</a:t>
            </a:r>
            <a:r>
              <a:rPr lang="zh-TW" altLang="en-US" dirty="0"/>
              <a:t>替換成</a:t>
            </a:r>
            <a:r>
              <a:rPr lang="en-US" altLang="zh-TW" dirty="0" err="1"/>
              <a:t>init</a:t>
            </a:r>
            <a:r>
              <a:rPr lang="zh-TW" altLang="en-US" dirty="0"/>
              <a:t>，再重新啟動一次，即可以正常進入系統。</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41</a:t>
            </a:fld>
            <a:endParaRPr lang="zh-TW" altLang="en-US"/>
          </a:p>
        </p:txBody>
      </p:sp>
    </p:spTree>
    <p:extLst>
      <p:ext uri="{BB962C8B-B14F-4D97-AF65-F5344CB8AC3E}">
        <p14:creationId xmlns:p14="http://schemas.microsoft.com/office/powerpoint/2010/main" val="36588551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在系統日誌中發現出現以下的模組缺失訊息，根據規則</a:t>
            </a:r>
            <a:r>
              <a:rPr lang="en-US" altLang="zh-TW" b="0" i="0" dirty="0">
                <a:solidFill>
                  <a:srgbClr val="242424"/>
                </a:solidFill>
                <a:effectLst/>
                <a:highlight>
                  <a:srgbClr val="FFFFFF"/>
                </a:highlight>
                <a:latin typeface="source-serif-pro"/>
              </a:rPr>
              <a:t>2</a:t>
            </a:r>
            <a:r>
              <a:rPr lang="zh-TW" altLang="en-US" b="0" i="0" dirty="0">
                <a:solidFill>
                  <a:srgbClr val="242424"/>
                </a:solidFill>
                <a:effectLst/>
                <a:highlight>
                  <a:srgbClr val="FFFFFF"/>
                </a:highlight>
                <a:latin typeface="source-serif-pro"/>
              </a:rPr>
              <a:t>，本研究嘗試將缺失的模組補足，再次重新開機，這些模組缺失的錯誤訊息就沒有出現了。</a:t>
            </a:r>
            <a:endParaRPr lang="en-US" altLang="zh-TW" b="0" i="0" dirty="0">
              <a:solidFill>
                <a:srgbClr val="242424"/>
              </a:solidFill>
              <a:effectLst/>
              <a:highlight>
                <a:srgbClr val="FFFFFF"/>
              </a:highlight>
              <a:latin typeface="source-serif-pro"/>
            </a:endParaRP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42</a:t>
            </a:fld>
            <a:endParaRPr lang="zh-TW" altLang="en-US"/>
          </a:p>
        </p:txBody>
      </p:sp>
    </p:spTree>
    <p:extLst>
      <p:ext uri="{BB962C8B-B14F-4D97-AF65-F5344CB8AC3E}">
        <p14:creationId xmlns:p14="http://schemas.microsoft.com/office/powerpoint/2010/main" val="7582167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接著日誌中出現以下的</a:t>
            </a:r>
            <a:r>
              <a:rPr lang="en-US" altLang="zh-TW" b="0" i="0" dirty="0">
                <a:solidFill>
                  <a:srgbClr val="242424"/>
                </a:solidFill>
                <a:effectLst/>
                <a:highlight>
                  <a:srgbClr val="FFFFFF"/>
                </a:highlight>
                <a:latin typeface="source-serif-pro"/>
              </a:rPr>
              <a:t>ifconfig</a:t>
            </a:r>
            <a:r>
              <a:rPr lang="zh-TW" altLang="en-US" b="0" i="0" dirty="0">
                <a:solidFill>
                  <a:srgbClr val="242424"/>
                </a:solidFill>
                <a:effectLst/>
                <a:highlight>
                  <a:srgbClr val="FFFFFF"/>
                </a:highlight>
                <a:latin typeface="source-serif-pro"/>
              </a:rPr>
              <a:t>的網路配置錯誤訊息</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43</a:t>
            </a:fld>
            <a:endParaRPr lang="zh-TW" altLang="en-US"/>
          </a:p>
        </p:txBody>
      </p:sp>
    </p:spTree>
    <p:extLst>
      <p:ext uri="{BB962C8B-B14F-4D97-AF65-F5344CB8AC3E}">
        <p14:creationId xmlns:p14="http://schemas.microsoft.com/office/powerpoint/2010/main" val="14663768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嘗試去</a:t>
            </a:r>
            <a:r>
              <a:rPr lang="en-US" altLang="zh-TW" dirty="0"/>
              <a:t>trace</a:t>
            </a:r>
            <a:r>
              <a:rPr lang="zh-TW" altLang="en-US" dirty="0"/>
              <a:t> </a:t>
            </a:r>
            <a:r>
              <a:rPr lang="en-US" altLang="zh-TW" dirty="0"/>
              <a:t>code</a:t>
            </a:r>
            <a:r>
              <a:rPr lang="zh-TW" altLang="en-US" dirty="0"/>
              <a:t>之後發現問題是出在</a:t>
            </a:r>
            <a:r>
              <a:rPr lang="en-US" altLang="zh-TW" dirty="0" err="1"/>
              <a:t>rcS.lan</a:t>
            </a:r>
            <a:r>
              <a:rPr lang="zh-TW" altLang="en-US" dirty="0"/>
              <a:t>的腳本中，程式中嘗試去透過</a:t>
            </a:r>
            <a:r>
              <a:rPr lang="en-US" altLang="zh-TW" dirty="0"/>
              <a:t>get</a:t>
            </a:r>
            <a:r>
              <a:rPr lang="zh-TW" altLang="en-US" dirty="0"/>
              <a:t>取得系統的一些配置資料，但卻沒有成功獲得，導致</a:t>
            </a:r>
            <a:r>
              <a:rPr lang="en-US" altLang="zh-TW" dirty="0"/>
              <a:t>ifconfig</a:t>
            </a:r>
            <a:r>
              <a:rPr lang="zh-TW" altLang="en-US" dirty="0"/>
              <a:t>指令參數為</a:t>
            </a:r>
            <a:r>
              <a:rPr lang="en-US" altLang="zh-TW" dirty="0"/>
              <a:t>NULL</a:t>
            </a:r>
            <a:r>
              <a:rPr lang="zh-TW" altLang="en-US" dirty="0"/>
              <a:t>導致錯誤。</a:t>
            </a:r>
            <a:endParaRPr lang="en-US" altLang="zh-TW" dirty="0"/>
          </a:p>
          <a:p>
            <a:endParaRPr lang="en-US" altLang="zh-TW" dirty="0"/>
          </a:p>
          <a:p>
            <a:r>
              <a:rPr lang="zh-TW" altLang="en-US" dirty="0"/>
              <a:t>那這邊有</a:t>
            </a:r>
            <a:r>
              <a:rPr lang="en-US" altLang="zh-TW" dirty="0"/>
              <a:t>get</a:t>
            </a:r>
            <a:r>
              <a:rPr lang="zh-TW" altLang="en-US" dirty="0"/>
              <a:t>以及</a:t>
            </a:r>
            <a:r>
              <a:rPr lang="en-US" altLang="zh-TW" dirty="0"/>
              <a:t>set</a:t>
            </a:r>
            <a:r>
              <a:rPr lang="zh-TW" altLang="en-US" dirty="0"/>
              <a:t>的操作，有點類似於系統對於</a:t>
            </a:r>
            <a:r>
              <a:rPr lang="en-US" altLang="zh-TW" dirty="0"/>
              <a:t>NVRAM</a:t>
            </a:r>
            <a:r>
              <a:rPr lang="zh-TW" altLang="en-US" dirty="0"/>
              <a:t>的操作，故初步推測有可能是因為</a:t>
            </a:r>
            <a:r>
              <a:rPr lang="en-US" altLang="zh-TW" dirty="0" err="1"/>
              <a:t>FirmAE</a:t>
            </a:r>
            <a:r>
              <a:rPr lang="zh-TW" altLang="en-US" dirty="0"/>
              <a:t>攔截了</a:t>
            </a:r>
            <a:r>
              <a:rPr lang="en-US" altLang="zh-TW" dirty="0"/>
              <a:t>NVRAM</a:t>
            </a:r>
            <a:r>
              <a:rPr lang="zh-TW" altLang="en-US" dirty="0"/>
              <a:t>的操作，而現有的</a:t>
            </a:r>
            <a:r>
              <a:rPr lang="en-US" altLang="zh-TW" dirty="0"/>
              <a:t>NVRAM</a:t>
            </a:r>
            <a:r>
              <a:rPr lang="zh-TW" altLang="en-US" dirty="0"/>
              <a:t> </a:t>
            </a:r>
            <a:r>
              <a:rPr lang="en-US" altLang="zh-TW" dirty="0"/>
              <a:t>key-value pair</a:t>
            </a:r>
            <a:r>
              <a:rPr lang="zh-TW" altLang="en-US" dirty="0"/>
              <a:t>並不足以處理這個韌體的需求，所以根據規則</a:t>
            </a:r>
            <a:r>
              <a:rPr lang="en-US" altLang="zh-TW" dirty="0"/>
              <a:t>3</a:t>
            </a:r>
            <a:r>
              <a:rPr lang="zh-TW" altLang="en-US" dirty="0"/>
              <a:t>，先停用</a:t>
            </a:r>
            <a:r>
              <a:rPr lang="en-US" altLang="zh-TW" sz="1200" dirty="0">
                <a:latin typeface="Times New Roman" panose="02020603050405020304" pitchFamily="18" charset="0"/>
                <a:cs typeface="Times New Roman" panose="02020603050405020304" pitchFamily="18" charset="0"/>
              </a:rPr>
              <a:t>NVRAM arbitrations</a:t>
            </a:r>
            <a:r>
              <a:rPr lang="zh-TW" altLang="en-US" sz="1200" dirty="0">
                <a:latin typeface="Times New Roman" panose="02020603050405020304" pitchFamily="18" charset="0"/>
                <a:cs typeface="Times New Roman" panose="02020603050405020304" pitchFamily="18" charset="0"/>
              </a:rPr>
              <a:t>的使用，讓其使用原生系統之功能。</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44</a:t>
            </a:fld>
            <a:endParaRPr lang="zh-TW" altLang="en-US"/>
          </a:p>
        </p:txBody>
      </p:sp>
    </p:spTree>
    <p:extLst>
      <p:ext uri="{BB962C8B-B14F-4D97-AF65-F5344CB8AC3E}">
        <p14:creationId xmlns:p14="http://schemas.microsoft.com/office/powerpoint/2010/main" val="39836199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latin typeface="Times New Roman" panose="02020603050405020304" pitchFamily="18" charset="0"/>
                <a:cs typeface="Times New Roman" panose="02020603050405020304" pitchFamily="18" charset="0"/>
              </a:rPr>
              <a:t>關閉</a:t>
            </a:r>
            <a:r>
              <a:rPr lang="en-US" altLang="zh-TW" sz="1200" dirty="0">
                <a:latin typeface="Times New Roman" panose="02020603050405020304" pitchFamily="18" charset="0"/>
                <a:cs typeface="Times New Roman" panose="02020603050405020304" pitchFamily="18" charset="0"/>
              </a:rPr>
              <a:t>NVRAM arbitrations</a:t>
            </a:r>
            <a:r>
              <a:rPr lang="zh-TW" altLang="en-US" sz="1200" dirty="0">
                <a:latin typeface="Times New Roman" panose="02020603050405020304" pitchFamily="18" charset="0"/>
                <a:cs typeface="Times New Roman" panose="02020603050405020304" pitchFamily="18" charset="0"/>
              </a:rPr>
              <a:t>之後，可以透過</a:t>
            </a:r>
            <a:r>
              <a:rPr lang="en-US" altLang="zh-TW" sz="1200" dirty="0">
                <a:latin typeface="Times New Roman" panose="02020603050405020304" pitchFamily="18" charset="0"/>
                <a:cs typeface="Times New Roman" panose="02020603050405020304" pitchFamily="18" charset="0"/>
              </a:rPr>
              <a:t>ifconfig</a:t>
            </a:r>
            <a:r>
              <a:rPr lang="zh-TW" altLang="en-US" sz="1200" dirty="0">
                <a:latin typeface="Times New Roman" panose="02020603050405020304" pitchFamily="18" charset="0"/>
                <a:cs typeface="Times New Roman" panose="02020603050405020304" pitchFamily="18" charset="0"/>
              </a:rPr>
              <a:t>看到網路的相關介面，</a:t>
            </a:r>
            <a:r>
              <a:rPr lang="en-US" altLang="zh-TW" sz="1200" dirty="0">
                <a:latin typeface="Times New Roman" panose="02020603050405020304" pitchFamily="18" charset="0"/>
                <a:cs typeface="Times New Roman" panose="02020603050405020304" pitchFamily="18" charset="0"/>
              </a:rPr>
              <a:t>br0</a:t>
            </a:r>
            <a:r>
              <a:rPr lang="zh-TW" altLang="en-US" sz="1200" dirty="0">
                <a:latin typeface="Times New Roman" panose="02020603050405020304" pitchFamily="18" charset="0"/>
                <a:cs typeface="Times New Roman" panose="02020603050405020304" pitchFamily="18" charset="0"/>
              </a:rPr>
              <a:t>以及</a:t>
            </a:r>
            <a:r>
              <a:rPr lang="en-US" altLang="zh-TW" sz="1200" dirty="0">
                <a:latin typeface="Times New Roman" panose="02020603050405020304" pitchFamily="18" charset="0"/>
                <a:cs typeface="Times New Roman" panose="02020603050405020304" pitchFamily="18" charset="0"/>
              </a:rPr>
              <a:t>eth0</a:t>
            </a:r>
            <a:r>
              <a:rPr lang="zh-TW" altLang="en-US" sz="1200" dirty="0">
                <a:latin typeface="Times New Roman" panose="02020603050405020304" pitchFamily="18" charset="0"/>
                <a:cs typeface="Times New Roman" panose="02020603050405020304" pitchFamily="18" charset="0"/>
              </a:rPr>
              <a:t>都被成功地建立起來，並且被分配到</a:t>
            </a:r>
            <a:r>
              <a:rPr lang="en-US" altLang="zh-TW" sz="1200" dirty="0">
                <a:latin typeface="Times New Roman" panose="02020603050405020304" pitchFamily="18" charset="0"/>
                <a:cs typeface="Times New Roman" panose="02020603050405020304" pitchFamily="18" charset="0"/>
              </a:rPr>
              <a:t>192.168.1.1</a:t>
            </a:r>
            <a:r>
              <a:rPr lang="zh-TW" altLang="en-US" sz="1200" dirty="0">
                <a:latin typeface="Times New Roman" panose="02020603050405020304" pitchFamily="18" charset="0"/>
                <a:cs typeface="Times New Roman" panose="02020603050405020304" pitchFamily="18" charset="0"/>
              </a:rPr>
              <a:t>的</a:t>
            </a:r>
            <a:r>
              <a:rPr lang="en-US" altLang="zh-TW" sz="1200" dirty="0">
                <a:latin typeface="Times New Roman" panose="02020603050405020304" pitchFamily="18" charset="0"/>
                <a:cs typeface="Times New Roman" panose="02020603050405020304" pitchFamily="18" charset="0"/>
              </a:rPr>
              <a:t>IP</a:t>
            </a:r>
            <a:r>
              <a:rPr lang="zh-TW" altLang="en-US" sz="1200" dirty="0">
                <a:latin typeface="Times New Roman" panose="02020603050405020304" pitchFamily="18" charset="0"/>
                <a:cs typeface="Times New Roman" panose="02020603050405020304" pitchFamily="18" charset="0"/>
              </a:rPr>
              <a:t>上，</a:t>
            </a:r>
            <a:r>
              <a:rPr lang="zh-TW" altLang="en-US" dirty="0"/>
              <a:t>但是</a:t>
            </a:r>
            <a:r>
              <a:rPr lang="en-US" altLang="zh-TW" dirty="0"/>
              <a:t>br0</a:t>
            </a:r>
            <a:r>
              <a:rPr lang="zh-TW" altLang="en-US" dirty="0"/>
              <a:t>和</a:t>
            </a:r>
            <a:r>
              <a:rPr lang="en-US" altLang="zh-TW" dirty="0"/>
              <a:t>eth0</a:t>
            </a:r>
            <a:r>
              <a:rPr lang="zh-TW" altLang="en-US" dirty="0"/>
              <a:t>的</a:t>
            </a:r>
            <a:r>
              <a:rPr lang="en-US" altLang="zh-TW" dirty="0"/>
              <a:t>MAC</a:t>
            </a:r>
            <a:r>
              <a:rPr lang="zh-TW" altLang="en-US" dirty="0"/>
              <a:t>位置卻不在同一個位置上。</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45</a:t>
            </a:fld>
            <a:endParaRPr lang="zh-TW" altLang="en-US"/>
          </a:p>
        </p:txBody>
      </p:sp>
    </p:spTree>
    <p:extLst>
      <p:ext uri="{BB962C8B-B14F-4D97-AF65-F5344CB8AC3E}">
        <p14:creationId xmlns:p14="http://schemas.microsoft.com/office/powerpoint/2010/main" val="32973651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根據規則</a:t>
            </a:r>
            <a:r>
              <a:rPr lang="en-US" altLang="zh-TW" dirty="0"/>
              <a:t>6</a:t>
            </a:r>
            <a:r>
              <a:rPr lang="zh-TW" altLang="en-US" dirty="0"/>
              <a:t>，第</a:t>
            </a:r>
            <a:r>
              <a:rPr lang="en-US" altLang="zh-TW" dirty="0"/>
              <a:t>1</a:t>
            </a:r>
            <a:r>
              <a:rPr lang="zh-TW" altLang="en-US" dirty="0"/>
              <a:t>、</a:t>
            </a:r>
            <a:r>
              <a:rPr lang="en-US" altLang="zh-TW" dirty="0"/>
              <a:t>2</a:t>
            </a:r>
            <a:r>
              <a:rPr lang="zh-TW" altLang="en-US" dirty="0"/>
              <a:t>行將</a:t>
            </a:r>
            <a:r>
              <a:rPr lang="en-US" altLang="zh-TW" dirty="0"/>
              <a:t>br0</a:t>
            </a:r>
            <a:r>
              <a:rPr lang="zh-TW" altLang="en-US" dirty="0"/>
              <a:t>介面停用並刪除，接著透過第</a:t>
            </a:r>
            <a:r>
              <a:rPr lang="en-US" altLang="zh-TW" dirty="0"/>
              <a:t>5~8</a:t>
            </a:r>
            <a:r>
              <a:rPr lang="zh-TW" altLang="en-US" dirty="0"/>
              <a:t>行將</a:t>
            </a:r>
            <a:r>
              <a:rPr lang="en-US" altLang="zh-TW" dirty="0"/>
              <a:t>br0</a:t>
            </a:r>
            <a:r>
              <a:rPr lang="zh-TW" altLang="en-US" dirty="0"/>
              <a:t>介面重新建立，並且分配其</a:t>
            </a:r>
            <a:r>
              <a:rPr lang="en-US" altLang="zh-TW" dirty="0" err="1"/>
              <a:t>ip</a:t>
            </a:r>
            <a:r>
              <a:rPr lang="zh-TW" altLang="en-US" dirty="0"/>
              <a:t>為</a:t>
            </a:r>
            <a:r>
              <a:rPr lang="en-US" altLang="zh-TW" dirty="0"/>
              <a:t>192.168.1.1</a:t>
            </a:r>
            <a:r>
              <a:rPr lang="zh-TW" altLang="en-US" dirty="0"/>
              <a:t>。</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46</a:t>
            </a:fld>
            <a:endParaRPr lang="zh-TW" altLang="en-US"/>
          </a:p>
        </p:txBody>
      </p:sp>
    </p:spTree>
    <p:extLst>
      <p:ext uri="{BB962C8B-B14F-4D97-AF65-F5344CB8AC3E}">
        <p14:creationId xmlns:p14="http://schemas.microsoft.com/office/powerpoint/2010/main" val="32975492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接著根據規則</a:t>
            </a:r>
            <a:r>
              <a:rPr lang="en-US" altLang="zh-TW" dirty="0"/>
              <a:t>5</a:t>
            </a:r>
            <a:r>
              <a:rPr lang="zh-TW" altLang="en-US" dirty="0"/>
              <a:t>步驟</a:t>
            </a:r>
            <a:r>
              <a:rPr lang="en-US" altLang="zh-TW" dirty="0"/>
              <a:t>2</a:t>
            </a:r>
            <a:r>
              <a:rPr lang="zh-TW" altLang="en-US" dirty="0"/>
              <a:t>，</a:t>
            </a:r>
            <a:r>
              <a:rPr lang="en-US" altLang="zh-TW" dirty="0"/>
              <a:t>host</a:t>
            </a:r>
            <a:r>
              <a:rPr lang="zh-TW" altLang="en-US" dirty="0"/>
              <a:t>端主機需要保持與韌體端同一個子網路底下，故將</a:t>
            </a:r>
            <a:r>
              <a:rPr lang="en-US" altLang="zh-TW" dirty="0"/>
              <a:t>host</a:t>
            </a:r>
            <a:r>
              <a:rPr lang="zh-TW" altLang="en-US" dirty="0"/>
              <a:t>端</a:t>
            </a:r>
            <a:r>
              <a:rPr lang="en-US" altLang="zh-TW" dirty="0"/>
              <a:t>IP</a:t>
            </a:r>
            <a:r>
              <a:rPr lang="zh-TW" altLang="en-US" dirty="0"/>
              <a:t>設定為</a:t>
            </a:r>
            <a:r>
              <a:rPr lang="en-US" altLang="zh-TW" dirty="0"/>
              <a:t>192.168.1.2</a:t>
            </a:r>
            <a:r>
              <a:rPr lang="zh-TW" altLang="en-US" dirty="0"/>
              <a:t>。</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47</a:t>
            </a:fld>
            <a:endParaRPr lang="zh-TW" altLang="en-US"/>
          </a:p>
        </p:txBody>
      </p:sp>
    </p:spTree>
    <p:extLst>
      <p:ext uri="{BB962C8B-B14F-4D97-AF65-F5344CB8AC3E}">
        <p14:creationId xmlns:p14="http://schemas.microsoft.com/office/powerpoint/2010/main" val="17775873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修改完後則可以成功的從</a:t>
            </a:r>
            <a:r>
              <a:rPr lang="en-US" altLang="zh-TW" b="0" i="0" dirty="0">
                <a:solidFill>
                  <a:srgbClr val="242424"/>
                </a:solidFill>
                <a:effectLst/>
                <a:highlight>
                  <a:srgbClr val="FFFFFF"/>
                </a:highlight>
                <a:latin typeface="source-serif-pro"/>
              </a:rPr>
              <a:t>host</a:t>
            </a:r>
            <a:r>
              <a:rPr lang="zh-TW" altLang="en-US" b="0" i="0" dirty="0">
                <a:solidFill>
                  <a:srgbClr val="242424"/>
                </a:solidFill>
                <a:effectLst/>
                <a:highlight>
                  <a:srgbClr val="FFFFFF"/>
                </a:highlight>
                <a:latin typeface="source-serif-pro"/>
              </a:rPr>
              <a:t>端</a:t>
            </a:r>
            <a:r>
              <a:rPr lang="en-US" altLang="zh-TW" b="0" i="0" dirty="0">
                <a:solidFill>
                  <a:srgbClr val="242424"/>
                </a:solidFill>
                <a:effectLst/>
                <a:highlight>
                  <a:srgbClr val="FFFFFF"/>
                </a:highlight>
                <a:latin typeface="source-serif-pro"/>
              </a:rPr>
              <a:t>ping</a:t>
            </a:r>
            <a:r>
              <a:rPr lang="zh-TW" altLang="en-US" b="0" i="0" dirty="0">
                <a:solidFill>
                  <a:srgbClr val="242424"/>
                </a:solidFill>
                <a:effectLst/>
                <a:highlight>
                  <a:srgbClr val="FFFFFF"/>
                </a:highlight>
                <a:latin typeface="source-serif-pro"/>
              </a:rPr>
              <a:t>到韌體端，以及可以成功從瀏覽器存取網頁服務。</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48</a:t>
            </a:fld>
            <a:endParaRPr lang="zh-TW" altLang="en-US"/>
          </a:p>
        </p:txBody>
      </p:sp>
    </p:spTree>
    <p:extLst>
      <p:ext uri="{BB962C8B-B14F-4D97-AF65-F5344CB8AC3E}">
        <p14:creationId xmlns:p14="http://schemas.microsoft.com/office/powerpoint/2010/main" val="23280000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接著換對</a:t>
            </a:r>
            <a:r>
              <a:rPr lang="en-US" altLang="zh-TW" dirty="0"/>
              <a:t>DX-3021L9</a:t>
            </a:r>
            <a:r>
              <a:rPr lang="zh-TW" altLang="en-US" dirty="0"/>
              <a:t>進行實驗，開機後一樣出現</a:t>
            </a:r>
            <a:r>
              <a:rPr lang="en-US" altLang="zh-TW" dirty="0"/>
              <a:t>kernel panic</a:t>
            </a:r>
            <a:r>
              <a:rPr lang="zh-TW" altLang="en-US" dirty="0"/>
              <a:t>的情況，根據規則</a:t>
            </a:r>
            <a:r>
              <a:rPr lang="en-US" altLang="zh-TW" dirty="0"/>
              <a:t>1</a:t>
            </a:r>
            <a:r>
              <a:rPr lang="zh-TW" altLang="en-US" dirty="0"/>
              <a:t>，</a:t>
            </a:r>
            <a:r>
              <a:rPr lang="en-US" altLang="zh-TW" dirty="0"/>
              <a:t>QEMU</a:t>
            </a:r>
            <a:r>
              <a:rPr lang="zh-TW" altLang="en-US" dirty="0"/>
              <a:t>啟動參數中的</a:t>
            </a:r>
            <a:r>
              <a:rPr lang="en-US" altLang="zh-TW" dirty="0" err="1"/>
              <a:t>rdinit</a:t>
            </a:r>
            <a:r>
              <a:rPr lang="zh-TW" altLang="en-US" dirty="0"/>
              <a:t>替換成</a:t>
            </a:r>
            <a:r>
              <a:rPr lang="en-US" altLang="zh-TW" dirty="0" err="1"/>
              <a:t>init</a:t>
            </a:r>
            <a:r>
              <a:rPr lang="zh-TW" altLang="en-US" dirty="0"/>
              <a:t>，再重新啟動一次，即可以正常進入系統。</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49</a:t>
            </a:fld>
            <a:endParaRPr lang="zh-TW" altLang="en-US"/>
          </a:p>
        </p:txBody>
      </p:sp>
    </p:spTree>
    <p:extLst>
      <p:ext uri="{BB962C8B-B14F-4D97-AF65-F5344CB8AC3E}">
        <p14:creationId xmlns:p14="http://schemas.microsoft.com/office/powerpoint/2010/main" val="22403790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根據規則</a:t>
            </a:r>
            <a:r>
              <a:rPr lang="en-US" altLang="zh-TW" b="0" i="0" dirty="0">
                <a:solidFill>
                  <a:srgbClr val="242424"/>
                </a:solidFill>
                <a:effectLst/>
                <a:highlight>
                  <a:srgbClr val="FFFFFF"/>
                </a:highlight>
                <a:latin typeface="source-serif-pro"/>
              </a:rPr>
              <a:t>2</a:t>
            </a:r>
            <a:r>
              <a:rPr lang="zh-TW" altLang="en-US" b="0" i="0" dirty="0">
                <a:solidFill>
                  <a:srgbClr val="242424"/>
                </a:solidFill>
                <a:effectLst/>
                <a:highlight>
                  <a:srgbClr val="FFFFFF"/>
                </a:highlight>
                <a:latin typeface="source-serif-pro"/>
              </a:rPr>
              <a:t>，本研究嘗試將缺失的模組補足，再次重新開機，這些模組缺失的錯誤訊息就沒有出現了。</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50</a:t>
            </a:fld>
            <a:endParaRPr lang="zh-TW" altLang="en-US"/>
          </a:p>
        </p:txBody>
      </p:sp>
    </p:spTree>
    <p:extLst>
      <p:ext uri="{BB962C8B-B14F-4D97-AF65-F5344CB8AC3E}">
        <p14:creationId xmlns:p14="http://schemas.microsoft.com/office/powerpoint/2010/main" val="42347355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接著日誌中一樣出現以下的</a:t>
            </a:r>
            <a:r>
              <a:rPr lang="en-US" altLang="zh-TW" b="0" i="0" dirty="0">
                <a:solidFill>
                  <a:srgbClr val="242424"/>
                </a:solidFill>
                <a:effectLst/>
                <a:highlight>
                  <a:srgbClr val="FFFFFF"/>
                </a:highlight>
                <a:latin typeface="source-serif-pro"/>
              </a:rPr>
              <a:t>ifconfig</a:t>
            </a:r>
            <a:r>
              <a:rPr lang="zh-TW" altLang="en-US" b="0" i="0" dirty="0">
                <a:solidFill>
                  <a:srgbClr val="242424"/>
                </a:solidFill>
                <a:effectLst/>
                <a:highlight>
                  <a:srgbClr val="FFFFFF"/>
                </a:highlight>
                <a:latin typeface="source-serif-pro"/>
              </a:rPr>
              <a:t>的網路配置錯誤訊息，與第</a:t>
            </a:r>
            <a:r>
              <a:rPr lang="en-US" altLang="zh-TW" b="0" i="0" dirty="0">
                <a:solidFill>
                  <a:srgbClr val="242424"/>
                </a:solidFill>
                <a:effectLst/>
                <a:highlight>
                  <a:srgbClr val="FFFFFF"/>
                </a:highlight>
                <a:latin typeface="source-serif-pro"/>
              </a:rPr>
              <a:t>1</a:t>
            </a:r>
            <a:r>
              <a:rPr lang="zh-TW" altLang="en-US" b="0" i="0" dirty="0">
                <a:solidFill>
                  <a:srgbClr val="242424"/>
                </a:solidFill>
                <a:effectLst/>
                <a:highlight>
                  <a:srgbClr val="FFFFFF"/>
                </a:highlight>
                <a:latin typeface="source-serif-pro"/>
              </a:rPr>
              <a:t>個韌體情況一樣，</a:t>
            </a:r>
            <a:r>
              <a:rPr lang="zh-TW" altLang="en-US" dirty="0"/>
              <a:t>所以根據規則</a:t>
            </a:r>
            <a:r>
              <a:rPr lang="en-US" altLang="zh-TW" dirty="0"/>
              <a:t>3</a:t>
            </a:r>
            <a:r>
              <a:rPr lang="zh-TW" altLang="en-US" dirty="0"/>
              <a:t>，先停用</a:t>
            </a:r>
            <a:r>
              <a:rPr lang="en-US" altLang="zh-TW" sz="1200" dirty="0">
                <a:latin typeface="Times New Roman" panose="02020603050405020304" pitchFamily="18" charset="0"/>
                <a:cs typeface="Times New Roman" panose="02020603050405020304" pitchFamily="18" charset="0"/>
              </a:rPr>
              <a:t>NVRAM arbitrations</a:t>
            </a:r>
            <a:r>
              <a:rPr lang="zh-TW" altLang="en-US" sz="1200" dirty="0">
                <a:latin typeface="Times New Roman" panose="02020603050405020304" pitchFamily="18" charset="0"/>
                <a:cs typeface="Times New Roman" panose="02020603050405020304" pitchFamily="18" charset="0"/>
              </a:rPr>
              <a:t>的使用，讓其使用原生系統之功能。</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51</a:t>
            </a:fld>
            <a:endParaRPr lang="zh-TW" altLang="en-US"/>
          </a:p>
        </p:txBody>
      </p:sp>
    </p:spTree>
    <p:extLst>
      <p:ext uri="{BB962C8B-B14F-4D97-AF65-F5344CB8AC3E}">
        <p14:creationId xmlns:p14="http://schemas.microsoft.com/office/powerpoint/2010/main" val="22419796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latin typeface="Times New Roman" panose="02020603050405020304" pitchFamily="18" charset="0"/>
                <a:cs typeface="Times New Roman" panose="02020603050405020304" pitchFamily="18" charset="0"/>
              </a:rPr>
              <a:t>關閉</a:t>
            </a:r>
            <a:r>
              <a:rPr lang="en-US" altLang="zh-TW" sz="1200" dirty="0">
                <a:latin typeface="Times New Roman" panose="02020603050405020304" pitchFamily="18" charset="0"/>
                <a:cs typeface="Times New Roman" panose="02020603050405020304" pitchFamily="18" charset="0"/>
              </a:rPr>
              <a:t>NVRAM arbitrations</a:t>
            </a:r>
            <a:r>
              <a:rPr lang="zh-TW" altLang="en-US" sz="1200" dirty="0">
                <a:latin typeface="Times New Roman" panose="02020603050405020304" pitchFamily="18" charset="0"/>
                <a:cs typeface="Times New Roman" panose="02020603050405020304" pitchFamily="18" charset="0"/>
              </a:rPr>
              <a:t>之後，可以透過</a:t>
            </a:r>
            <a:r>
              <a:rPr lang="en-US" altLang="zh-TW" sz="1200" dirty="0">
                <a:latin typeface="Times New Roman" panose="02020603050405020304" pitchFamily="18" charset="0"/>
                <a:cs typeface="Times New Roman" panose="02020603050405020304" pitchFamily="18" charset="0"/>
              </a:rPr>
              <a:t>ifconfig</a:t>
            </a:r>
            <a:r>
              <a:rPr lang="zh-TW" altLang="en-US" sz="1200" dirty="0">
                <a:latin typeface="Times New Roman" panose="02020603050405020304" pitchFamily="18" charset="0"/>
                <a:cs typeface="Times New Roman" panose="02020603050405020304" pitchFamily="18" charset="0"/>
              </a:rPr>
              <a:t>看到網路的相關介面，</a:t>
            </a:r>
            <a:r>
              <a:rPr lang="en-US" altLang="zh-TW" sz="1200" dirty="0">
                <a:latin typeface="Times New Roman" panose="02020603050405020304" pitchFamily="18" charset="0"/>
                <a:cs typeface="Times New Roman" panose="02020603050405020304" pitchFamily="18" charset="0"/>
              </a:rPr>
              <a:t>br0</a:t>
            </a:r>
            <a:r>
              <a:rPr lang="zh-TW" altLang="en-US" sz="1200" dirty="0">
                <a:latin typeface="Times New Roman" panose="02020603050405020304" pitchFamily="18" charset="0"/>
                <a:cs typeface="Times New Roman" panose="02020603050405020304" pitchFamily="18" charset="0"/>
              </a:rPr>
              <a:t>以及</a:t>
            </a:r>
            <a:r>
              <a:rPr lang="en-US" altLang="zh-TW" sz="1200" dirty="0">
                <a:latin typeface="Times New Roman" panose="02020603050405020304" pitchFamily="18" charset="0"/>
                <a:cs typeface="Times New Roman" panose="02020603050405020304" pitchFamily="18" charset="0"/>
              </a:rPr>
              <a:t>eth0</a:t>
            </a:r>
            <a:r>
              <a:rPr lang="zh-TW" altLang="en-US" sz="1200" dirty="0">
                <a:latin typeface="Times New Roman" panose="02020603050405020304" pitchFamily="18" charset="0"/>
                <a:cs typeface="Times New Roman" panose="02020603050405020304" pitchFamily="18" charset="0"/>
              </a:rPr>
              <a:t>都被成功地建立起來，並且被分配到</a:t>
            </a:r>
            <a:r>
              <a:rPr lang="en-US" altLang="zh-TW" sz="1200" dirty="0">
                <a:latin typeface="Times New Roman" panose="02020603050405020304" pitchFamily="18" charset="0"/>
                <a:cs typeface="Times New Roman" panose="02020603050405020304" pitchFamily="18" charset="0"/>
              </a:rPr>
              <a:t>192.168.254.254</a:t>
            </a:r>
            <a:r>
              <a:rPr lang="zh-TW" altLang="en-US" sz="1200" dirty="0">
                <a:latin typeface="Times New Roman" panose="02020603050405020304" pitchFamily="18" charset="0"/>
                <a:cs typeface="Times New Roman" panose="02020603050405020304" pitchFamily="18" charset="0"/>
              </a:rPr>
              <a:t>的</a:t>
            </a:r>
            <a:r>
              <a:rPr lang="en-US" altLang="zh-TW" sz="1200" dirty="0">
                <a:latin typeface="Times New Roman" panose="02020603050405020304" pitchFamily="18" charset="0"/>
                <a:cs typeface="Times New Roman" panose="02020603050405020304" pitchFamily="18" charset="0"/>
              </a:rPr>
              <a:t>IP</a:t>
            </a:r>
            <a:r>
              <a:rPr lang="zh-TW" altLang="en-US" sz="1200" dirty="0">
                <a:latin typeface="Times New Roman" panose="02020603050405020304" pitchFamily="18" charset="0"/>
                <a:cs typeface="Times New Roman" panose="02020603050405020304" pitchFamily="18" charset="0"/>
              </a:rPr>
              <a:t>上</a:t>
            </a:r>
            <a:r>
              <a:rPr lang="zh-TW" altLang="en-US" dirty="0"/>
              <a:t>。</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52</a:t>
            </a:fld>
            <a:endParaRPr lang="zh-TW" altLang="en-US"/>
          </a:p>
        </p:txBody>
      </p:sp>
    </p:spTree>
    <p:extLst>
      <p:ext uri="{BB962C8B-B14F-4D97-AF65-F5344CB8AC3E}">
        <p14:creationId xmlns:p14="http://schemas.microsoft.com/office/powerpoint/2010/main" val="18790455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接著根據規則</a:t>
            </a:r>
            <a:r>
              <a:rPr lang="en-US" altLang="zh-TW" dirty="0"/>
              <a:t>5</a:t>
            </a:r>
            <a:r>
              <a:rPr lang="zh-TW" altLang="en-US" dirty="0"/>
              <a:t>步驟</a:t>
            </a:r>
            <a:r>
              <a:rPr lang="en-US" altLang="zh-TW" dirty="0"/>
              <a:t>2</a:t>
            </a:r>
            <a:r>
              <a:rPr lang="zh-TW" altLang="en-US" dirty="0"/>
              <a:t>，</a:t>
            </a:r>
            <a:r>
              <a:rPr lang="en-US" altLang="zh-TW" dirty="0"/>
              <a:t>host</a:t>
            </a:r>
            <a:r>
              <a:rPr lang="zh-TW" altLang="en-US" dirty="0"/>
              <a:t>端主機需要保持與韌體端同一個子網路底下，故將</a:t>
            </a:r>
            <a:r>
              <a:rPr lang="en-US" altLang="zh-TW" dirty="0"/>
              <a:t>host</a:t>
            </a:r>
            <a:r>
              <a:rPr lang="zh-TW" altLang="en-US" dirty="0"/>
              <a:t>端</a:t>
            </a:r>
            <a:r>
              <a:rPr lang="en-US" altLang="zh-TW" dirty="0"/>
              <a:t>IP</a:t>
            </a:r>
            <a:r>
              <a:rPr lang="zh-TW" altLang="en-US" dirty="0"/>
              <a:t>設定為</a:t>
            </a:r>
            <a:r>
              <a:rPr lang="en-US" altLang="zh-TW" dirty="0"/>
              <a:t>192.168.254.253</a:t>
            </a:r>
            <a:r>
              <a:rPr lang="zh-TW" altLang="en-US" dirty="0"/>
              <a:t>。</a:t>
            </a:r>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53</a:t>
            </a:fld>
            <a:endParaRPr lang="zh-TW" altLang="en-US"/>
          </a:p>
        </p:txBody>
      </p:sp>
    </p:spTree>
    <p:extLst>
      <p:ext uri="{BB962C8B-B14F-4D97-AF65-F5344CB8AC3E}">
        <p14:creationId xmlns:p14="http://schemas.microsoft.com/office/powerpoint/2010/main" val="23886926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highlight>
                  <a:srgbClr val="FFFFFF"/>
                </a:highlight>
                <a:latin typeface="source-serif-pro"/>
              </a:rPr>
              <a:t>修改完後則可以成功的從</a:t>
            </a:r>
            <a:r>
              <a:rPr lang="en-US" altLang="zh-TW" b="0" i="0" dirty="0">
                <a:solidFill>
                  <a:srgbClr val="242424"/>
                </a:solidFill>
                <a:effectLst/>
                <a:highlight>
                  <a:srgbClr val="FFFFFF"/>
                </a:highlight>
                <a:latin typeface="source-serif-pro"/>
              </a:rPr>
              <a:t>host</a:t>
            </a:r>
            <a:r>
              <a:rPr lang="zh-TW" altLang="en-US" b="0" i="0" dirty="0">
                <a:solidFill>
                  <a:srgbClr val="242424"/>
                </a:solidFill>
                <a:effectLst/>
                <a:highlight>
                  <a:srgbClr val="FFFFFF"/>
                </a:highlight>
                <a:latin typeface="source-serif-pro"/>
              </a:rPr>
              <a:t>端</a:t>
            </a:r>
            <a:r>
              <a:rPr lang="en-US" altLang="zh-TW" b="0" i="0" dirty="0">
                <a:solidFill>
                  <a:srgbClr val="242424"/>
                </a:solidFill>
                <a:effectLst/>
                <a:highlight>
                  <a:srgbClr val="FFFFFF"/>
                </a:highlight>
                <a:latin typeface="source-serif-pro"/>
              </a:rPr>
              <a:t>ping</a:t>
            </a:r>
            <a:r>
              <a:rPr lang="zh-TW" altLang="en-US" b="0" i="0" dirty="0">
                <a:solidFill>
                  <a:srgbClr val="242424"/>
                </a:solidFill>
                <a:effectLst/>
                <a:highlight>
                  <a:srgbClr val="FFFFFF"/>
                </a:highlight>
                <a:latin typeface="source-serif-pro"/>
              </a:rPr>
              <a:t>到韌體端，以及可以成功從瀏覽器存取網頁服務。</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54</a:t>
            </a:fld>
            <a:endParaRPr lang="zh-TW" altLang="en-US"/>
          </a:p>
        </p:txBody>
      </p:sp>
    </p:spTree>
    <p:extLst>
      <p:ext uri="{BB962C8B-B14F-4D97-AF65-F5344CB8AC3E}">
        <p14:creationId xmlns:p14="http://schemas.microsoft.com/office/powerpoint/2010/main" val="3958348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接下來介紹本研究的討論</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55</a:t>
            </a:fld>
            <a:endParaRPr lang="zh-TW" altLang="en-US"/>
          </a:p>
        </p:txBody>
      </p:sp>
    </p:spTree>
    <p:extLst>
      <p:ext uri="{BB962C8B-B14F-4D97-AF65-F5344CB8AC3E}">
        <p14:creationId xmlns:p14="http://schemas.microsoft.com/office/powerpoint/2010/main" val="3170342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2800" dirty="0"/>
              <a:t>本研究統計了修復過程中 </a:t>
            </a:r>
            <a:r>
              <a:rPr lang="en-US" altLang="zh-TW" sz="2800" dirty="0"/>
              <a:t>7 </a:t>
            </a:r>
            <a:r>
              <a:rPr lang="zh-TW" altLang="en-US" sz="2800" dirty="0"/>
              <a:t>個規則的應用次數，其中</a:t>
            </a:r>
            <a:r>
              <a:rPr lang="zh-TW" altLang="en-US" sz="2800" b="1" dirty="0"/>
              <a:t>規則 </a:t>
            </a:r>
            <a:r>
              <a:rPr lang="en-US" altLang="zh-TW" sz="2800" b="1" dirty="0"/>
              <a:t>1</a:t>
            </a:r>
            <a:r>
              <a:rPr lang="zh-TW" altLang="en-US" sz="2800" dirty="0"/>
              <a:t> 的應用次數最多，達到 </a:t>
            </a:r>
            <a:r>
              <a:rPr lang="en-US" altLang="zh-TW" sz="2800" dirty="0"/>
              <a:t>6 </a:t>
            </a:r>
            <a:r>
              <a:rPr lang="zh-TW" altLang="en-US" sz="2800" dirty="0"/>
              <a:t>次，表明初始化階段的 </a:t>
            </a:r>
            <a:r>
              <a:rPr lang="en-US" altLang="zh-TW" sz="2800" dirty="0"/>
              <a:t>Kernel Panic </a:t>
            </a:r>
            <a:r>
              <a:rPr lang="zh-TW" altLang="en-US" sz="2800" dirty="0"/>
              <a:t>是模擬失敗的主要挑戰之一，這可能與初始化腳本配置錯誤或系統啟動參數</a:t>
            </a:r>
            <a:r>
              <a:rPr lang="zh-TW" altLang="en-US" sz="2800"/>
              <a:t>設定不當有關。</a:t>
            </a:r>
            <a:r>
              <a:rPr lang="zh-TW" altLang="en-US" sz="2800" b="1" dirty="0"/>
              <a:t>規則 </a:t>
            </a:r>
            <a:r>
              <a:rPr lang="en-US" altLang="zh-TW" sz="2800" b="1" dirty="0"/>
              <a:t>5</a:t>
            </a:r>
            <a:r>
              <a:rPr lang="zh-TW" altLang="en-US" sz="2800" dirty="0"/>
              <a:t> 應用 </a:t>
            </a:r>
            <a:r>
              <a:rPr lang="en-US" altLang="zh-TW" sz="2800" dirty="0"/>
              <a:t>5 </a:t>
            </a:r>
            <a:r>
              <a:rPr lang="zh-TW" altLang="en-US" sz="2800" dirty="0"/>
              <a:t>次，反映出網路相關問題在模擬過程中發生的機率較高。而其他規則（規則 </a:t>
            </a:r>
            <a:r>
              <a:rPr lang="en-US" altLang="zh-TW" sz="2800" dirty="0"/>
              <a:t>2</a:t>
            </a:r>
            <a:r>
              <a:rPr lang="zh-TW" altLang="en-US" sz="2800" dirty="0"/>
              <a:t>、</a:t>
            </a:r>
            <a:r>
              <a:rPr lang="en-US" altLang="zh-TW" sz="2800" dirty="0"/>
              <a:t>3</a:t>
            </a:r>
            <a:r>
              <a:rPr lang="zh-TW" altLang="en-US" sz="2800" dirty="0"/>
              <a:t>、</a:t>
            </a:r>
            <a:r>
              <a:rPr lang="en-US" altLang="zh-TW" sz="2800" dirty="0"/>
              <a:t>4</a:t>
            </a:r>
            <a:r>
              <a:rPr lang="zh-TW" altLang="en-US" sz="2800" dirty="0"/>
              <a:t>、</a:t>
            </a:r>
            <a:r>
              <a:rPr lang="en-US" altLang="zh-TW" sz="2800" dirty="0"/>
              <a:t>6</a:t>
            </a:r>
            <a:r>
              <a:rPr lang="zh-TW" altLang="en-US" sz="2800" dirty="0"/>
              <a:t>、</a:t>
            </a:r>
            <a:r>
              <a:rPr lang="en-US" altLang="zh-TW" sz="2800" dirty="0"/>
              <a:t>7</a:t>
            </a:r>
            <a:r>
              <a:rPr lang="zh-TW" altLang="en-US" sz="2800" dirty="0"/>
              <a:t>）的應用次數均為 </a:t>
            </a:r>
            <a:r>
              <a:rPr lang="en-US" altLang="zh-TW" sz="2800" dirty="0"/>
              <a:t>1~3 </a:t>
            </a:r>
            <a:r>
              <a:rPr lang="zh-TW" altLang="en-US" sz="2800" dirty="0"/>
              <a:t>次，顯示這些問題的發生率較低，多為特定情境下的異常。</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56</a:t>
            </a:fld>
            <a:endParaRPr lang="zh-TW" altLang="en-US"/>
          </a:p>
        </p:txBody>
      </p:sp>
    </p:spTree>
    <p:extLst>
      <p:ext uri="{BB962C8B-B14F-4D97-AF65-F5344CB8AC3E}">
        <p14:creationId xmlns:p14="http://schemas.microsoft.com/office/powerpoint/2010/main" val="19293848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接著介紹本研究的結論與未來研究方向</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57</a:t>
            </a:fld>
            <a:endParaRPr lang="zh-TW" altLang="en-US"/>
          </a:p>
        </p:txBody>
      </p:sp>
    </p:spTree>
    <p:extLst>
      <p:ext uri="{BB962C8B-B14F-4D97-AF65-F5344CB8AC3E}">
        <p14:creationId xmlns:p14="http://schemas.microsoft.com/office/powerpoint/2010/main" val="2178195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在原本無法模擬的 </a:t>
            </a:r>
            <a:r>
              <a:rPr lang="en-US" altLang="zh-TW" dirty="0"/>
              <a:t>8 </a:t>
            </a:r>
            <a:r>
              <a:rPr lang="zh-TW" altLang="en-US" dirty="0"/>
              <a:t>個韌體映像中，本研究成功解決了導致模擬失敗的問題，最終使其中的 </a:t>
            </a:r>
            <a:r>
              <a:rPr lang="en-US" altLang="zh-TW" dirty="0"/>
              <a:t>6 </a:t>
            </a:r>
            <a:r>
              <a:rPr lang="zh-TW" altLang="en-US" dirty="0"/>
              <a:t>個韌體成功完成模擬。</a:t>
            </a:r>
            <a:endParaRPr lang="en-US" altLang="zh-TW" dirty="0"/>
          </a:p>
          <a:p>
            <a:endParaRPr lang="en-US" altLang="zh-TW" dirty="0"/>
          </a:p>
          <a:p>
            <a:r>
              <a:rPr lang="zh-TW" altLang="en-US" dirty="0"/>
              <a:t>本研究透過分析與實驗所推導出的規則，成功應用於一款全新的 </a:t>
            </a:r>
            <a:r>
              <a:rPr lang="en-US" altLang="zh-TW" dirty="0"/>
              <a:t>IoT </a:t>
            </a:r>
            <a:r>
              <a:rPr lang="zh-TW" altLang="en-US" dirty="0"/>
              <a:t>設備韌體，並最終完成模擬，驗證了所設計規則的適用性與有效性。</a:t>
            </a:r>
            <a:endParaRPr lang="en-US" altLang="zh-TW"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58</a:t>
            </a:fld>
            <a:endParaRPr lang="zh-TW" altLang="en-US"/>
          </a:p>
        </p:txBody>
      </p:sp>
    </p:spTree>
    <p:extLst>
      <p:ext uri="{BB962C8B-B14F-4D97-AF65-F5344CB8AC3E}">
        <p14:creationId xmlns:p14="http://schemas.microsoft.com/office/powerpoint/2010/main" val="9364567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在處理 </a:t>
            </a:r>
            <a:r>
              <a:rPr lang="en-US" altLang="zh-TW" dirty="0"/>
              <a:t>NVRAM </a:t>
            </a:r>
            <a:r>
              <a:rPr lang="zh-TW" altLang="en-US" dirty="0"/>
              <a:t>時，系統會回傳非 </a:t>
            </a:r>
            <a:r>
              <a:rPr lang="en-US" altLang="zh-TW" dirty="0"/>
              <a:t>NULL </a:t>
            </a:r>
            <a:r>
              <a:rPr lang="zh-TW" altLang="en-US" dirty="0"/>
              <a:t>的數值以避免因非法值導致系統崩潰，但這些回傳值並非真實環境中的數據，可能導致模擬環境中的數值與實際情境出現偏差。若在此模擬環境中進行韌體的模糊測試，可能引發誤報。為解決此問題，需要與廠商合作，獲取相關參數，以模擬出更接近實際環境的數值，確保測試結果的準確性。</a:t>
            </a:r>
            <a:endParaRPr lang="en-US" altLang="zh-TW" dirty="0"/>
          </a:p>
          <a:p>
            <a:endParaRPr lang="en-US" altLang="zh-TW" dirty="0"/>
          </a:p>
          <a:p>
            <a:r>
              <a:rPr lang="zh-TW" altLang="zh-TW" sz="1800" dirty="0">
                <a:effectLst/>
                <a:latin typeface="Times New Roman" panose="02020603050405020304" pitchFamily="18" charset="0"/>
                <a:ea typeface="標楷體" panose="03000509000000000000" pitchFamily="65" charset="-120"/>
                <a:cs typeface="Times New Roman" panose="02020603050405020304" pitchFamily="18" charset="0"/>
              </a:rPr>
              <a:t>儘管本研究提出一套系統化的改善規則，但由於韌體種類繁多且不同廠商的客製化內容各異，本研究的規則可能僅涵蓋部分問題。因此，未來可基於本研究的規則，進一步探索更多規則，以適應更廣泛的韌體模擬需求並提升模擬精確性。</a:t>
            </a:r>
            <a:endParaRPr lang="zh-TW" altLang="en-US" dirty="0"/>
          </a:p>
        </p:txBody>
      </p:sp>
      <p:sp>
        <p:nvSpPr>
          <p:cNvPr id="4" name="投影片編號版面配置區 3"/>
          <p:cNvSpPr>
            <a:spLocks noGrp="1"/>
          </p:cNvSpPr>
          <p:nvPr>
            <p:ph type="sldNum" sz="quarter" idx="5"/>
          </p:nvPr>
        </p:nvSpPr>
        <p:spPr/>
        <p:txBody>
          <a:bodyPr/>
          <a:lstStyle/>
          <a:p>
            <a:fld id="{62FA0D12-3C47-4697-B18D-88A283670588}" type="slidenum">
              <a:rPr lang="zh-TW" altLang="en-US" smtClean="0"/>
              <a:t>59</a:t>
            </a:fld>
            <a:endParaRPr lang="zh-TW" altLang="en-US"/>
          </a:p>
        </p:txBody>
      </p:sp>
    </p:spTree>
    <p:extLst>
      <p:ext uri="{BB962C8B-B14F-4D97-AF65-F5344CB8AC3E}">
        <p14:creationId xmlns:p14="http://schemas.microsoft.com/office/powerpoint/2010/main" val="8823533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50:notes"/>
          <p:cNvSpPr>
            <a:spLocks noGrp="1" noRot="1" noChangeAspect="1"/>
          </p:cNvSpPr>
          <p:nvPr>
            <p:ph type="sldImg" idx="2"/>
          </p:nvPr>
        </p:nvSpPr>
        <p:spPr>
          <a:xfrm>
            <a:off x="2433638" y="960438"/>
            <a:ext cx="4606925" cy="2590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50:notes"/>
          <p:cNvSpPr txBox="1">
            <a:spLocks noGrp="1"/>
          </p:cNvSpPr>
          <p:nvPr>
            <p:ph type="body" idx="1"/>
          </p:nvPr>
        </p:nvSpPr>
        <p:spPr>
          <a:xfrm>
            <a:off x="947209" y="3694055"/>
            <a:ext cx="7577667" cy="3022410"/>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r>
              <a:rPr lang="zh-TW" altLang="en-US" dirty="0"/>
              <a:t>我的報告到此結束，謝謝各位口試委員的聆聽。</a:t>
            </a:r>
            <a:endParaRPr dirty="0"/>
          </a:p>
        </p:txBody>
      </p:sp>
      <p:sp>
        <p:nvSpPr>
          <p:cNvPr id="855" name="Google Shape;855;p50:notes"/>
          <p:cNvSpPr txBox="1">
            <a:spLocks noGrp="1"/>
          </p:cNvSpPr>
          <p:nvPr>
            <p:ph type="sldNum" idx="12"/>
          </p:nvPr>
        </p:nvSpPr>
        <p:spPr>
          <a:xfrm>
            <a:off x="5365324" y="7290831"/>
            <a:ext cx="4104569" cy="385130"/>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8B5B6843-DFC8-4147-B98F-E7BD18B40E7F}" type="datetime1">
              <a:rPr lang="zh-TW" altLang="en-US" smtClean="0"/>
              <a:t>2025/1/20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lvl1pPr>
              <a:defRPr sz="2400">
                <a:latin typeface="Times New Roman" panose="02020603050405020304" pitchFamily="18" charset="0"/>
                <a:cs typeface="Times New Roman" panose="02020603050405020304" pitchFamily="18" charset="0"/>
              </a:defRPr>
            </a:lvl1pPr>
          </a:lstStyle>
          <a:p>
            <a:fld id="{7539D880-7677-4E8F-8D1B-ECF4759392EF}" type="slidenum">
              <a:rPr lang="zh-TW" altLang="en-US" smtClean="0"/>
              <a:pPr/>
              <a:t>‹#›</a:t>
            </a:fld>
            <a:endParaRPr lang="zh-TW" alt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4770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D873AAD-7768-4C3C-BE92-E67801503988}" type="datetime1">
              <a:rPr lang="zh-TW" altLang="en-US" smtClean="0"/>
              <a:t>2025/1/20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4119530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06241A3-2A73-4F24-8FD9-25E73F0A92BA}" type="datetime1">
              <a:rPr lang="zh-TW" altLang="en-US" smtClean="0"/>
              <a:t>2025/1/20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539D880-7677-4E8F-8D1B-ECF4759392EF}"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967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53B2C71-AF48-422C-A4F1-E93EDD07D0E6}" type="datetime1">
              <a:rPr lang="zh-TW" altLang="en-US" smtClean="0"/>
              <a:t>2025/1/20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2319101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518D94A3-C74D-435D-B634-6F643A32CCCF}" type="datetime1">
              <a:rPr lang="zh-TW" altLang="en-US" smtClean="0"/>
              <a:t>2025/1/20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66395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BA5FB6A7-1A35-4D4C-9BEE-F620DDF88D89}" type="datetime1">
              <a:rPr lang="zh-TW" altLang="en-US" smtClean="0"/>
              <a:t>2025/1/20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376062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9A3D55D-4A05-4FD4-B6BC-E167231080CA}" type="datetime1">
              <a:rPr lang="zh-TW" altLang="en-US" smtClean="0"/>
              <a:t>2025/1/20</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1070218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AFEAE9-8454-470B-BD22-C8CC966F9377}" type="datetime1">
              <a:rPr lang="zh-TW" altLang="en-US" smtClean="0"/>
              <a:t>2025/1/20</a:t>
            </a:fld>
            <a:endParaRPr lang="zh-TW"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3645488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215D473E-0175-46DF-A3D9-368678EBE839}" type="datetime1">
              <a:rPr lang="zh-TW" altLang="en-US" smtClean="0"/>
              <a:t>2025/1/20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1467068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5B70A7-A207-4BD3-AE93-1AEBA9A0EC2D}" type="datetime1">
              <a:rPr lang="zh-TW" altLang="en-US" smtClean="0"/>
              <a:t>2025/1/20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1808668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044AFE4-83A3-4E37-8FE7-EFB36FF28ABF}" type="datetime1">
              <a:rPr lang="zh-TW" altLang="en-US" smtClean="0"/>
              <a:t>2025/1/20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539D880-7677-4E8F-8D1B-ECF4759392EF}" type="slidenum">
              <a:rPr lang="zh-TW" altLang="en-US" smtClean="0"/>
              <a:t>‹#›</a:t>
            </a:fld>
            <a:endParaRPr lang="zh-TW" altLang="en-US"/>
          </a:p>
        </p:txBody>
      </p:sp>
    </p:spTree>
    <p:extLst>
      <p:ext uri="{BB962C8B-B14F-4D97-AF65-F5344CB8AC3E}">
        <p14:creationId xmlns:p14="http://schemas.microsoft.com/office/powerpoint/2010/main" val="3198372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42EB82B-B01D-4139-9D16-B139BE338E04}" type="datetime1">
              <a:rPr lang="zh-TW" altLang="en-US" smtClean="0"/>
              <a:t>2025/1/20</a:t>
            </a:fld>
            <a:endParaRPr lang="zh-TW"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2400">
                <a:solidFill>
                  <a:srgbClr val="FFFFFF"/>
                </a:solidFill>
                <a:latin typeface="Times New Roman" panose="02020603050405020304" pitchFamily="18" charset="0"/>
                <a:cs typeface="Times New Roman" panose="02020603050405020304" pitchFamily="18" charset="0"/>
              </a:defRPr>
            </a:lvl1pPr>
          </a:lstStyle>
          <a:p>
            <a:fld id="{7539D880-7677-4E8F-8D1B-ECF4759392EF}" type="slidenum">
              <a:rPr lang="zh-TW" altLang="en-US" smtClean="0"/>
              <a:pPr/>
              <a:t>‹#›</a:t>
            </a:fld>
            <a:endParaRPr lang="zh-TW" alt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5260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Google Shape;106;p1">
            <a:extLst>
              <a:ext uri="{FF2B5EF4-FFF2-40B4-BE49-F238E27FC236}">
                <a16:creationId xmlns:a16="http://schemas.microsoft.com/office/drawing/2014/main" id="{FB06C26F-EA04-464F-863E-9079735A3DC2}"/>
              </a:ext>
            </a:extLst>
          </p:cNvPr>
          <p:cNvSpPr txBox="1">
            <a:spLocks noGrp="1"/>
          </p:cNvSpPr>
          <p:nvPr>
            <p:ph type="ctrTitle"/>
          </p:nvPr>
        </p:nvSpPr>
        <p:spPr>
          <a:xfrm>
            <a:off x="849570" y="1589373"/>
            <a:ext cx="10492859" cy="1941245"/>
          </a:xfrm>
          <a:prstGeom prst="rect">
            <a:avLst/>
          </a:prstGeom>
          <a:noFill/>
          <a:ln>
            <a:noFill/>
          </a:ln>
        </p:spPr>
        <p:txBody>
          <a:bodyPr spcFirstLastPara="1" wrap="square" lIns="91425" tIns="45700" rIns="91425" bIns="45700" anchor="ctr" anchorCtr="0">
            <a:normAutofit/>
          </a:bodyPr>
          <a:lstStyle/>
          <a:p>
            <a:pPr lvl="0" algn="ctr">
              <a:spcBef>
                <a:spcPts val="0"/>
              </a:spcBef>
              <a:buClr>
                <a:schemeClr val="dk1"/>
              </a:buClr>
              <a:buSzPts val="4200"/>
            </a:pPr>
            <a:r>
              <a:rPr lang="en-US" sz="4200" b="1" cap="none" dirty="0">
                <a:solidFill>
                  <a:schemeClr val="dk1"/>
                </a:solidFill>
                <a:latin typeface="Times New Roman"/>
                <a:ea typeface="Times New Roman"/>
                <a:cs typeface="Times New Roman"/>
                <a:sym typeface="Times New Roman"/>
              </a:rPr>
              <a:t>The study of Improvement for embedded firmware emulation applying </a:t>
            </a:r>
            <a:r>
              <a:rPr lang="en-US" sz="4200" b="1" cap="none" dirty="0" err="1">
                <a:solidFill>
                  <a:schemeClr val="dk1"/>
                </a:solidFill>
                <a:latin typeface="Times New Roman"/>
                <a:ea typeface="Times New Roman"/>
                <a:cs typeface="Times New Roman"/>
                <a:sym typeface="Times New Roman"/>
              </a:rPr>
              <a:t>FirmAE</a:t>
            </a:r>
            <a:endParaRPr lang="en-US" sz="4200" b="1" cap="none" dirty="0">
              <a:solidFill>
                <a:schemeClr val="dk1"/>
              </a:solidFill>
              <a:latin typeface="Times New Roman"/>
              <a:ea typeface="Times New Roman"/>
              <a:cs typeface="Times New Roman"/>
              <a:sym typeface="Times New Roman"/>
            </a:endParaRPr>
          </a:p>
        </p:txBody>
      </p:sp>
      <p:sp>
        <p:nvSpPr>
          <p:cNvPr id="5" name="Google Shape;107;p1">
            <a:extLst>
              <a:ext uri="{FF2B5EF4-FFF2-40B4-BE49-F238E27FC236}">
                <a16:creationId xmlns:a16="http://schemas.microsoft.com/office/drawing/2014/main" id="{CC229CA7-EA50-4B59-8C16-0BC17CCAE832}"/>
              </a:ext>
            </a:extLst>
          </p:cNvPr>
          <p:cNvSpPr txBox="1">
            <a:spLocks noGrp="1"/>
          </p:cNvSpPr>
          <p:nvPr>
            <p:ph type="subTitle" idx="1"/>
          </p:nvPr>
        </p:nvSpPr>
        <p:spPr>
          <a:xfrm>
            <a:off x="1100051" y="4554415"/>
            <a:ext cx="10058400" cy="2156101"/>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200"/>
              <a:buNone/>
            </a:pP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Student</a:t>
            </a:r>
            <a:r>
              <a:rPr lang="en-US" altLang="zh-TW"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zh-TW" alt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altLang="zh-TW"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Yu-Quan, Wang</a:t>
            </a:r>
            <a:endParaRPr sz="22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Advisor</a:t>
            </a:r>
            <a:r>
              <a:rPr lang="en-US" altLang="zh-TW"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zh-TW" alt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Jong-</a:t>
            </a:r>
            <a:r>
              <a:rPr lang="en-US" sz="2200" cap="none" spc="0" dirty="0" err="1">
                <a:solidFill>
                  <a:schemeClr val="dk1"/>
                </a:solidFill>
                <a:latin typeface="Times New Roman" panose="02020603050405020304" pitchFamily="18" charset="0"/>
                <a:ea typeface="Times New Roman"/>
                <a:cs typeface="Times New Roman" panose="02020603050405020304" pitchFamily="18" charset="0"/>
                <a:sym typeface="Times New Roman"/>
              </a:rPr>
              <a:t>Yih</a:t>
            </a: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 Kuo, </a:t>
            </a:r>
            <a:r>
              <a:rPr lang="en-US" sz="2200" cap="none" spc="0" dirty="0" err="1">
                <a:solidFill>
                  <a:schemeClr val="dk1"/>
                </a:solidFill>
                <a:latin typeface="Times New Roman" panose="02020603050405020304" pitchFamily="18" charset="0"/>
                <a:ea typeface="Times New Roman"/>
                <a:cs typeface="Times New Roman" panose="02020603050405020304" pitchFamily="18" charset="0"/>
                <a:sym typeface="Times New Roman"/>
              </a:rPr>
              <a:t>Ph.D</a:t>
            </a:r>
            <a:endParaRPr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ctr" rtl="0">
              <a:lnSpc>
                <a:spcPct val="100000"/>
              </a:lnSpc>
              <a:spcBef>
                <a:spcPts val="0"/>
              </a:spcBef>
              <a:spcAft>
                <a:spcPts val="0"/>
              </a:spcAft>
              <a:buSzPts val="2200"/>
              <a:buNone/>
            </a:pP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Computer Science and Information Engineering</a:t>
            </a:r>
            <a:endParaRPr sz="22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National Taipei University of Technology</a:t>
            </a:r>
            <a:endParaRPr sz="22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202</a:t>
            </a:r>
            <a:r>
              <a:rPr lang="en-US" altLang="zh-TW"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en-US" altLang="zh-TW"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01</a:t>
            </a:r>
            <a:r>
              <a:rPr lang="en-US"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en-US" altLang="zh-TW"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21</a:t>
            </a:r>
            <a:endParaRPr sz="22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7" name="投影片編號版面配置區 6">
            <a:extLst>
              <a:ext uri="{FF2B5EF4-FFF2-40B4-BE49-F238E27FC236}">
                <a16:creationId xmlns:a16="http://schemas.microsoft.com/office/drawing/2014/main" id="{E84FC728-C26A-478F-B428-744335AA4D9C}"/>
              </a:ext>
            </a:extLst>
          </p:cNvPr>
          <p:cNvSpPr>
            <a:spLocks noGrp="1"/>
          </p:cNvSpPr>
          <p:nvPr>
            <p:ph type="sldNum" sz="quarter" idx="12"/>
          </p:nvPr>
        </p:nvSpPr>
        <p:spPr/>
        <p:txBody>
          <a:bodyPr/>
          <a:lstStyle/>
          <a:p>
            <a:fld id="{7539D880-7677-4E8F-8D1B-ECF4759392EF}" type="slidenum">
              <a:rPr lang="zh-TW" altLang="en-US" smtClean="0"/>
              <a:pPr/>
              <a:t>1</a:t>
            </a:fld>
            <a:endParaRPr lang="zh-TW" altLang="en-US" dirty="0"/>
          </a:p>
        </p:txBody>
      </p:sp>
    </p:spTree>
    <p:extLst>
      <p:ext uri="{BB962C8B-B14F-4D97-AF65-F5344CB8AC3E}">
        <p14:creationId xmlns:p14="http://schemas.microsoft.com/office/powerpoint/2010/main" val="625184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Outline</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6963" y="1846263"/>
            <a:ext cx="10058400" cy="4022725"/>
          </a:xfrm>
          <a:prstGeom prst="rect">
            <a:avLst/>
          </a:prstGeom>
          <a:noFill/>
          <a:ln>
            <a:noFill/>
          </a:ln>
        </p:spPr>
        <p:txBody>
          <a:bodyPr spcFirstLastPara="1" wrap="square" lIns="0" tIns="45700" rIns="0" bIns="45700" anchor="t" anchorCtr="0">
            <a:normAutofit/>
          </a:bodyPr>
          <a:lstStyle/>
          <a:p>
            <a:pPr marL="91440" lvl="0" indent="-209550" algn="l" rtl="0">
              <a:lnSpc>
                <a:spcPct val="90000"/>
              </a:lnSpc>
              <a:spcBef>
                <a:spcPts val="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Motivation</a:t>
            </a:r>
            <a:endParaRPr dirty="0"/>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The proposed approach</a:t>
            </a:r>
          </a:p>
          <a:p>
            <a:pPr marL="91440" lvl="0" indent="-209550" algn="l" rtl="0">
              <a:lnSpc>
                <a:spcPct val="90000"/>
              </a:lnSpc>
              <a:spcBef>
                <a:spcPts val="1400"/>
              </a:spcBef>
              <a:spcAft>
                <a:spcPts val="0"/>
              </a:spcAft>
              <a:buClr>
                <a:schemeClr val="dk1"/>
              </a:buClr>
              <a:buSzPts val="3300"/>
              <a:buFont typeface="Arial"/>
              <a:buChar char="•"/>
            </a:pPr>
            <a:r>
              <a:rPr lang="zh-TW" altLang="en-US" sz="3300" dirty="0">
                <a:solidFill>
                  <a:schemeClr val="dk1"/>
                </a:solidFill>
                <a:latin typeface="Times New Roman"/>
                <a:cs typeface="Times New Roman"/>
                <a:sym typeface="Times New Roman"/>
              </a:rPr>
              <a:t> </a:t>
            </a:r>
            <a:r>
              <a:rPr lang="en-US" altLang="zh-TW" sz="3300" dirty="0">
                <a:solidFill>
                  <a:schemeClr val="dk1"/>
                </a:solidFill>
                <a:latin typeface="Times New Roman"/>
                <a:cs typeface="Times New Roman"/>
                <a:sym typeface="Times New Roman"/>
              </a:rPr>
              <a:t>Experiment</a:t>
            </a:r>
            <a:endParaRPr dirty="0"/>
          </a:p>
          <a:p>
            <a:pPr marL="91440" indent="-209550">
              <a:spcBef>
                <a:spcPts val="1400"/>
              </a:spcBef>
              <a:buClr>
                <a:schemeClr val="dk1"/>
              </a:buClr>
              <a:buSzPts val="3300"/>
              <a:buFont typeface="Arial"/>
              <a:buChar char="•"/>
            </a:pPr>
            <a:r>
              <a:rPr lang="en-US" altLang="zh-TW" sz="3300" dirty="0">
                <a:solidFill>
                  <a:schemeClr val="dk1"/>
                </a:solidFill>
                <a:latin typeface="Times New Roman"/>
                <a:ea typeface="Times New Roman"/>
                <a:cs typeface="Times New Roman"/>
                <a:sym typeface="Times New Roman"/>
              </a:rPr>
              <a:t> Discussion</a:t>
            </a:r>
            <a:endParaRPr sz="3300" dirty="0">
              <a:solidFill>
                <a:schemeClr val="dk1"/>
              </a:solidFill>
              <a:latin typeface="Times New Roman"/>
              <a:ea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Conclusion &amp; Future</a:t>
            </a:r>
            <a:endParaRPr dirty="0"/>
          </a:p>
          <a:p>
            <a:pPr marL="91440" lvl="0" indent="0" algn="l" rtl="0">
              <a:lnSpc>
                <a:spcPct val="90000"/>
              </a:lnSpc>
              <a:spcBef>
                <a:spcPts val="1400"/>
              </a:spcBef>
              <a:spcAft>
                <a:spcPts val="0"/>
              </a:spcAft>
              <a:buClr>
                <a:srgbClr val="3F3F3F"/>
              </a:buClr>
              <a:buSzPts val="3200"/>
              <a:buFont typeface="Arial"/>
              <a:buNone/>
            </a:pPr>
            <a:endParaRPr sz="3200" dirty="0">
              <a:solidFill>
                <a:schemeClr val="dk1"/>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solidFill>
                <a:schemeClr val="dk1"/>
              </a:solidFill>
              <a:latin typeface="Times New Roman"/>
              <a:ea typeface="Times New Roman"/>
              <a:cs typeface="Times New Roman"/>
              <a:sym typeface="Times New Roman"/>
            </a:endParaRPr>
          </a:p>
        </p:txBody>
      </p:sp>
      <p:sp>
        <p:nvSpPr>
          <p:cNvPr id="8" name="投影片編號版面配置區 7">
            <a:extLst>
              <a:ext uri="{FF2B5EF4-FFF2-40B4-BE49-F238E27FC236}">
                <a16:creationId xmlns:a16="http://schemas.microsoft.com/office/drawing/2014/main" id="{3BAD51F8-BDB6-41D8-905E-D181874B3F99}"/>
              </a:ext>
            </a:extLst>
          </p:cNvPr>
          <p:cNvSpPr>
            <a:spLocks noGrp="1"/>
          </p:cNvSpPr>
          <p:nvPr>
            <p:ph type="sldNum" sz="quarter" idx="12"/>
          </p:nvPr>
        </p:nvSpPr>
        <p:spPr/>
        <p:txBody>
          <a:bodyPr/>
          <a:lstStyle/>
          <a:p>
            <a:fld id="{7539D880-7677-4E8F-8D1B-ECF4759392EF}" type="slidenum">
              <a:rPr lang="zh-TW" altLang="en-US" smtClean="0"/>
              <a:t>2</a:t>
            </a:fld>
            <a:endParaRPr lang="zh-TW" altLang="en-US"/>
          </a:p>
        </p:txBody>
      </p:sp>
    </p:spTree>
    <p:extLst>
      <p:ext uri="{BB962C8B-B14F-4D97-AF65-F5344CB8AC3E}">
        <p14:creationId xmlns:p14="http://schemas.microsoft.com/office/powerpoint/2010/main" val="1591555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Outline</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6963" y="1846263"/>
            <a:ext cx="10058400" cy="4022725"/>
          </a:xfrm>
          <a:prstGeom prst="rect">
            <a:avLst/>
          </a:prstGeom>
          <a:noFill/>
          <a:ln>
            <a:noFill/>
          </a:ln>
        </p:spPr>
        <p:txBody>
          <a:bodyPr spcFirstLastPara="1" wrap="square" lIns="0" tIns="45700" rIns="0" bIns="45700" anchor="t" anchorCtr="0">
            <a:normAutofit/>
          </a:bodyPr>
          <a:lstStyle/>
          <a:p>
            <a:pPr marL="91440" lvl="0" indent="-209550" algn="l" rtl="0">
              <a:lnSpc>
                <a:spcPct val="90000"/>
              </a:lnSpc>
              <a:spcBef>
                <a:spcPts val="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Motivation</a:t>
            </a:r>
            <a:endParaRPr dirty="0"/>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The proposed approach</a:t>
            </a:r>
          </a:p>
          <a:p>
            <a:pPr marL="91440" lvl="0" indent="-209550" algn="l" rtl="0">
              <a:lnSpc>
                <a:spcPct val="90000"/>
              </a:lnSpc>
              <a:spcBef>
                <a:spcPts val="1400"/>
              </a:spcBef>
              <a:spcAft>
                <a:spcPts val="0"/>
              </a:spcAft>
              <a:buClr>
                <a:schemeClr val="dk1"/>
              </a:buClr>
              <a:buSzPts val="3300"/>
              <a:buFont typeface="Arial"/>
              <a:buChar char="•"/>
            </a:pPr>
            <a:r>
              <a:rPr lang="zh-TW" altLang="en-US" sz="3300" dirty="0">
                <a:solidFill>
                  <a:schemeClr val="bg2">
                    <a:lumMod val="90000"/>
                  </a:schemeClr>
                </a:solidFill>
                <a:latin typeface="Times New Roman"/>
                <a:cs typeface="Times New Roman"/>
                <a:sym typeface="Times New Roman"/>
              </a:rPr>
              <a:t> </a:t>
            </a:r>
            <a:r>
              <a:rPr lang="en-US" altLang="zh-TW" sz="3300" dirty="0">
                <a:solidFill>
                  <a:schemeClr val="bg2">
                    <a:lumMod val="90000"/>
                  </a:schemeClr>
                </a:solidFill>
                <a:latin typeface="Times New Roman"/>
                <a:cs typeface="Times New Roman"/>
                <a:sym typeface="Times New Roman"/>
              </a:rPr>
              <a:t>Experiment</a:t>
            </a:r>
            <a:endParaRPr sz="3300" dirty="0">
              <a:solidFill>
                <a:schemeClr val="bg2">
                  <a:lumMod val="90000"/>
                </a:schemeClr>
              </a:solidFill>
              <a:latin typeface="Times New Roman"/>
              <a:cs typeface="Times New Roman"/>
            </a:endParaRPr>
          </a:p>
          <a:p>
            <a:pPr marL="91440" indent="-209550">
              <a:spcBef>
                <a:spcPts val="1400"/>
              </a:spcBef>
              <a:buClr>
                <a:schemeClr val="dk1"/>
              </a:buClr>
              <a:buSzPts val="3300"/>
              <a:buFont typeface="Arial"/>
              <a:buChar char="•"/>
            </a:pPr>
            <a:r>
              <a:rPr lang="en-US" altLang="zh-TW" sz="3300" dirty="0">
                <a:solidFill>
                  <a:schemeClr val="bg2">
                    <a:lumMod val="90000"/>
                  </a:schemeClr>
                </a:solidFill>
                <a:latin typeface="Times New Roman"/>
                <a:cs typeface="Times New Roman"/>
                <a:sym typeface="Times New Roman"/>
              </a:rPr>
              <a:t> Discussion</a:t>
            </a:r>
            <a:endParaRPr sz="3300" dirty="0">
              <a:solidFill>
                <a:schemeClr val="bg2">
                  <a:lumMod val="90000"/>
                </a:schemeClr>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bg2">
                    <a:lumMod val="90000"/>
                  </a:schemeClr>
                </a:solidFill>
                <a:latin typeface="Times New Roman"/>
                <a:cs typeface="Times New Roman"/>
                <a:sym typeface="Times New Roman"/>
              </a:rPr>
              <a:t> Conclusion &amp; Future</a:t>
            </a:r>
            <a:endParaRPr sz="3300" dirty="0">
              <a:solidFill>
                <a:schemeClr val="bg2">
                  <a:lumMod val="90000"/>
                </a:schemeClr>
              </a:solidFill>
              <a:latin typeface="Times New Roman"/>
              <a:cs typeface="Times New Roman"/>
            </a:endParaRPr>
          </a:p>
          <a:p>
            <a:pPr marL="91440" lvl="0" indent="0" algn="l" rtl="0">
              <a:lnSpc>
                <a:spcPct val="90000"/>
              </a:lnSpc>
              <a:spcBef>
                <a:spcPts val="1400"/>
              </a:spcBef>
              <a:spcAft>
                <a:spcPts val="0"/>
              </a:spcAft>
              <a:buClr>
                <a:srgbClr val="3F3F3F"/>
              </a:buClr>
              <a:buSzPts val="3200"/>
              <a:buFont typeface="Arial"/>
              <a:buNone/>
            </a:pPr>
            <a:endParaRPr sz="3200" dirty="0">
              <a:solidFill>
                <a:schemeClr val="dk1"/>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solidFill>
                <a:schemeClr val="dk1"/>
              </a:solidFill>
              <a:latin typeface="Times New Roman"/>
              <a:ea typeface="Times New Roman"/>
              <a:cs typeface="Times New Roman"/>
              <a:sym typeface="Times New Roman"/>
            </a:endParaRPr>
          </a:p>
        </p:txBody>
      </p:sp>
      <p:sp>
        <p:nvSpPr>
          <p:cNvPr id="8" name="投影片編號版面配置區 7">
            <a:extLst>
              <a:ext uri="{FF2B5EF4-FFF2-40B4-BE49-F238E27FC236}">
                <a16:creationId xmlns:a16="http://schemas.microsoft.com/office/drawing/2014/main" id="{E83FD94F-0F96-4E3E-ACF7-1975F9C57387}"/>
              </a:ext>
            </a:extLst>
          </p:cNvPr>
          <p:cNvSpPr>
            <a:spLocks noGrp="1"/>
          </p:cNvSpPr>
          <p:nvPr>
            <p:ph type="sldNum" sz="quarter" idx="12"/>
          </p:nvPr>
        </p:nvSpPr>
        <p:spPr/>
        <p:txBody>
          <a:bodyPr/>
          <a:lstStyle/>
          <a:p>
            <a:fld id="{7539D880-7677-4E8F-8D1B-ECF4759392EF}" type="slidenum">
              <a:rPr lang="zh-TW" altLang="en-US" smtClean="0"/>
              <a:t>3</a:t>
            </a:fld>
            <a:endParaRPr lang="zh-TW" altLang="en-US"/>
          </a:p>
        </p:txBody>
      </p:sp>
    </p:spTree>
    <p:extLst>
      <p:ext uri="{BB962C8B-B14F-4D97-AF65-F5344CB8AC3E}">
        <p14:creationId xmlns:p14="http://schemas.microsoft.com/office/powerpoint/2010/main" val="725497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Motivation</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7280" y="1818128"/>
            <a:ext cx="10248816" cy="4287251"/>
          </a:xfrm>
          <a:prstGeom prst="rect">
            <a:avLst/>
          </a:prstGeom>
          <a:noFill/>
          <a:ln>
            <a:noFill/>
          </a:ln>
        </p:spPr>
        <p:txBody>
          <a:bodyPr spcFirstLastPara="1" wrap="square" lIns="0" tIns="45700" rIns="0" bIns="45700" anchor="t" anchorCtr="0">
            <a:normAutofit fontScale="55000" lnSpcReduction="20000"/>
          </a:bodyPr>
          <a:lstStyle/>
          <a:p>
            <a:pPr marL="339090" lvl="0" indent="-457200" algn="just">
              <a:lnSpc>
                <a:spcPct val="150000"/>
              </a:lnSpc>
              <a:spcBef>
                <a:spcPts val="0"/>
              </a:spcBef>
              <a:spcAft>
                <a:spcPts val="0"/>
              </a:spcAft>
              <a:buSzPct val="77000"/>
              <a:buFont typeface="Wingdings" panose="05000000000000000000" pitchFamily="2" charset="2"/>
              <a:buChar char="l"/>
            </a:pPr>
            <a:r>
              <a:rPr lang="en-US" sz="2800" dirty="0">
                <a:solidFill>
                  <a:schemeClr val="dk1"/>
                </a:solidFill>
                <a:latin typeface="Times New Roman"/>
                <a:ea typeface="Times New Roman"/>
                <a:cs typeface="Times New Roman"/>
                <a:sym typeface="Times New Roman"/>
              </a:rPr>
              <a:t> </a:t>
            </a:r>
            <a:r>
              <a:rPr lang="en-US" altLang="zh-TW" sz="4000" dirty="0">
                <a:solidFill>
                  <a:schemeClr val="dk1"/>
                </a:solidFill>
                <a:latin typeface="Times New Roman"/>
                <a:ea typeface="Times New Roman"/>
                <a:cs typeface="Times New Roman"/>
                <a:sym typeface="Times New Roman"/>
              </a:rPr>
              <a:t>Necessity of firmware vulnerability detection</a:t>
            </a:r>
          </a:p>
          <a:p>
            <a:pPr marL="631698" lvl="1" indent="-457200" algn="just">
              <a:lnSpc>
                <a:spcPct val="150000"/>
              </a:lnSpc>
              <a:spcBef>
                <a:spcPts val="0"/>
              </a:spcBef>
              <a:spcAft>
                <a:spcPts val="0"/>
              </a:spcAft>
              <a:buSzPct val="77000"/>
              <a:buFont typeface="Wingdings" panose="05000000000000000000" pitchFamily="2" charset="2"/>
              <a:buChar char="Ø"/>
            </a:pPr>
            <a:r>
              <a:rPr lang="en-US" sz="3600" dirty="0">
                <a:solidFill>
                  <a:schemeClr val="dk1"/>
                </a:solidFill>
                <a:latin typeface="Times New Roman"/>
                <a:cs typeface="Times New Roman"/>
              </a:rPr>
              <a:t>With the popularity of IoT, potential vulnerabilities such as unauthorized access and weak passwords have increased security risks and may become a springboard for large-scale cyber attacks.</a:t>
            </a:r>
          </a:p>
          <a:p>
            <a:pPr marL="339090" lvl="0" indent="-457200" algn="just">
              <a:lnSpc>
                <a:spcPct val="150000"/>
              </a:lnSpc>
              <a:spcBef>
                <a:spcPts val="1400"/>
              </a:spcBef>
              <a:spcAft>
                <a:spcPts val="0"/>
              </a:spcAft>
              <a:buSzPct val="77000"/>
              <a:buFont typeface="Wingdings" panose="05000000000000000000" pitchFamily="2" charset="2"/>
              <a:buChar char="l"/>
            </a:pPr>
            <a:r>
              <a:rPr lang="en-US" sz="2800" dirty="0">
                <a:solidFill>
                  <a:schemeClr val="dk1"/>
                </a:solidFill>
                <a:latin typeface="Times New Roman"/>
                <a:ea typeface="Times New Roman"/>
                <a:cs typeface="Times New Roman"/>
                <a:sym typeface="Times New Roman"/>
              </a:rPr>
              <a:t> </a:t>
            </a:r>
            <a:r>
              <a:rPr lang="en-US" altLang="zh-TW" sz="4000" dirty="0">
                <a:solidFill>
                  <a:schemeClr val="dk1"/>
                </a:solidFill>
                <a:latin typeface="Times New Roman"/>
                <a:ea typeface="Times New Roman"/>
                <a:cs typeface="Times New Roman"/>
                <a:sym typeface="Times New Roman"/>
              </a:rPr>
              <a:t>N</a:t>
            </a:r>
            <a:r>
              <a:rPr lang="en-US" sz="4000" dirty="0">
                <a:solidFill>
                  <a:schemeClr val="dk1"/>
                </a:solidFill>
                <a:latin typeface="Times New Roman"/>
                <a:ea typeface="Times New Roman"/>
                <a:cs typeface="Times New Roman"/>
                <a:sym typeface="Times New Roman"/>
              </a:rPr>
              <a:t>ecessity of firmware emulation</a:t>
            </a:r>
          </a:p>
          <a:p>
            <a:pPr marL="631698" lvl="1" indent="-457200" algn="just">
              <a:lnSpc>
                <a:spcPct val="150000"/>
              </a:lnSpc>
              <a:spcBef>
                <a:spcPts val="1400"/>
              </a:spcBef>
              <a:spcAft>
                <a:spcPts val="0"/>
              </a:spcAft>
              <a:buSzPct val="77000"/>
              <a:buFont typeface="Wingdings" panose="05000000000000000000" pitchFamily="2" charset="2"/>
              <a:buChar char="Ø"/>
            </a:pPr>
            <a:r>
              <a:rPr lang="en-US" sz="3600" dirty="0">
                <a:solidFill>
                  <a:schemeClr val="dk1"/>
                </a:solidFill>
                <a:latin typeface="Times New Roman"/>
                <a:ea typeface="Times New Roman"/>
                <a:cs typeface="Times New Roman"/>
                <a:sym typeface="Times New Roman"/>
              </a:rPr>
              <a:t>There are many types of IoT devices, and the cost is high. Different devices must be configured and maintained, which consumes vast resources and is inefficient.</a:t>
            </a:r>
          </a:p>
          <a:p>
            <a:pPr marL="631698" lvl="1" indent="-457200" algn="just">
              <a:lnSpc>
                <a:spcPct val="150000"/>
              </a:lnSpc>
              <a:spcBef>
                <a:spcPts val="1400"/>
              </a:spcBef>
              <a:spcAft>
                <a:spcPts val="0"/>
              </a:spcAft>
              <a:buSzPct val="77000"/>
              <a:buFont typeface="Wingdings" panose="05000000000000000000" pitchFamily="2" charset="2"/>
              <a:buChar char="Ø"/>
            </a:pPr>
            <a:r>
              <a:rPr lang="en-US" sz="3600" dirty="0">
                <a:solidFill>
                  <a:schemeClr val="dk1"/>
                </a:solidFill>
                <a:latin typeface="Times New Roman"/>
                <a:ea typeface="Times New Roman"/>
                <a:cs typeface="Times New Roman"/>
                <a:sym typeface="Times New Roman"/>
              </a:rPr>
              <a:t>Although </a:t>
            </a:r>
            <a:r>
              <a:rPr lang="en-US" sz="3600" dirty="0" err="1">
                <a:solidFill>
                  <a:schemeClr val="dk1"/>
                </a:solidFill>
                <a:latin typeface="Times New Roman"/>
                <a:ea typeface="Times New Roman"/>
                <a:cs typeface="Times New Roman"/>
                <a:sym typeface="Times New Roman"/>
              </a:rPr>
              <a:t>FirmAE</a:t>
            </a:r>
            <a:r>
              <a:rPr lang="en-US" sz="3600" dirty="0">
                <a:solidFill>
                  <a:schemeClr val="dk1"/>
                </a:solidFill>
                <a:latin typeface="Times New Roman"/>
                <a:ea typeface="Times New Roman"/>
                <a:cs typeface="Times New Roman"/>
                <a:sym typeface="Times New Roman"/>
              </a:rPr>
              <a:t> is capable of large-scale emulation, it cannot emulate specialized firmware.</a:t>
            </a:r>
          </a:p>
        </p:txBody>
      </p:sp>
      <p:sp>
        <p:nvSpPr>
          <p:cNvPr id="8" name="投影片編號版面配置區 7">
            <a:extLst>
              <a:ext uri="{FF2B5EF4-FFF2-40B4-BE49-F238E27FC236}">
                <a16:creationId xmlns:a16="http://schemas.microsoft.com/office/drawing/2014/main" id="{2B15CD61-C7D4-4F43-9F57-4E1BA0447BB7}"/>
              </a:ext>
            </a:extLst>
          </p:cNvPr>
          <p:cNvSpPr>
            <a:spLocks noGrp="1"/>
          </p:cNvSpPr>
          <p:nvPr>
            <p:ph type="sldNum" sz="quarter" idx="12"/>
          </p:nvPr>
        </p:nvSpPr>
        <p:spPr/>
        <p:txBody>
          <a:bodyPr/>
          <a:lstStyle/>
          <a:p>
            <a:fld id="{7539D880-7677-4E8F-8D1B-ECF4759392EF}" type="slidenum">
              <a:rPr lang="zh-TW" altLang="en-US" smtClean="0"/>
              <a:t>4</a:t>
            </a:fld>
            <a:endParaRPr lang="zh-TW" altLang="en-US"/>
          </a:p>
        </p:txBody>
      </p:sp>
    </p:spTree>
    <p:extLst>
      <p:ext uri="{BB962C8B-B14F-4D97-AF65-F5344CB8AC3E}">
        <p14:creationId xmlns:p14="http://schemas.microsoft.com/office/powerpoint/2010/main" val="3300304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Outline</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6963" y="1846263"/>
            <a:ext cx="10058400" cy="4022725"/>
          </a:xfrm>
          <a:prstGeom prst="rect">
            <a:avLst/>
          </a:prstGeom>
          <a:noFill/>
          <a:ln>
            <a:noFill/>
          </a:ln>
        </p:spPr>
        <p:txBody>
          <a:bodyPr spcFirstLastPara="1" wrap="square" lIns="0" tIns="45700" rIns="0" bIns="45700" anchor="t" anchorCtr="0">
            <a:normAutofit/>
          </a:bodyPr>
          <a:lstStyle/>
          <a:p>
            <a:pPr marL="91440" lvl="0" indent="-209550" algn="l" rtl="0">
              <a:lnSpc>
                <a:spcPct val="90000"/>
              </a:lnSpc>
              <a:spcBef>
                <a:spcPts val="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Motivation</a:t>
            </a:r>
            <a:endParaRPr sz="3300" dirty="0">
              <a:solidFill>
                <a:schemeClr val="bg2">
                  <a:lumMod val="90000"/>
                </a:schemeClr>
              </a:solidFill>
              <a:latin typeface="Times New Roman"/>
              <a:cs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The proposed approach</a:t>
            </a:r>
            <a:endParaRPr lang="en-US" sz="3300" dirty="0">
              <a:solidFill>
                <a:schemeClr val="dk1"/>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zh-TW" altLang="en-US" sz="3300" dirty="0">
                <a:solidFill>
                  <a:schemeClr val="bg2">
                    <a:lumMod val="90000"/>
                  </a:schemeClr>
                </a:solidFill>
                <a:latin typeface="Times New Roman"/>
                <a:cs typeface="Times New Roman"/>
                <a:sym typeface="Times New Roman"/>
              </a:rPr>
              <a:t> </a:t>
            </a:r>
            <a:r>
              <a:rPr lang="en-US" altLang="zh-TW" sz="3300" dirty="0">
                <a:solidFill>
                  <a:schemeClr val="bg2">
                    <a:lumMod val="90000"/>
                  </a:schemeClr>
                </a:solidFill>
                <a:latin typeface="Times New Roman"/>
                <a:cs typeface="Times New Roman"/>
                <a:sym typeface="Times New Roman"/>
              </a:rPr>
              <a:t>Experiment</a:t>
            </a:r>
            <a:endParaRPr sz="3300" dirty="0">
              <a:solidFill>
                <a:schemeClr val="bg2">
                  <a:lumMod val="90000"/>
                </a:schemeClr>
              </a:solidFill>
              <a:latin typeface="Times New Roman"/>
              <a:cs typeface="Times New Roman"/>
            </a:endParaRPr>
          </a:p>
          <a:p>
            <a:pPr marL="91440" indent="-209550">
              <a:spcBef>
                <a:spcPts val="1400"/>
              </a:spcBef>
              <a:buClr>
                <a:schemeClr val="dk1"/>
              </a:buClr>
              <a:buSzPts val="3300"/>
              <a:buFont typeface="Arial"/>
              <a:buChar char="•"/>
            </a:pPr>
            <a:r>
              <a:rPr lang="en-US" altLang="zh-TW" sz="3300" dirty="0">
                <a:solidFill>
                  <a:schemeClr val="bg2">
                    <a:lumMod val="90000"/>
                  </a:schemeClr>
                </a:solidFill>
                <a:latin typeface="Times New Roman"/>
                <a:cs typeface="Times New Roman"/>
                <a:sym typeface="Times New Roman"/>
              </a:rPr>
              <a:t> Discussion</a:t>
            </a:r>
            <a:endParaRPr sz="3300" dirty="0">
              <a:solidFill>
                <a:schemeClr val="bg2">
                  <a:lumMod val="90000"/>
                </a:schemeClr>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bg2">
                    <a:lumMod val="90000"/>
                  </a:schemeClr>
                </a:solidFill>
                <a:latin typeface="Times New Roman"/>
                <a:cs typeface="Times New Roman"/>
                <a:sym typeface="Times New Roman"/>
              </a:rPr>
              <a:t> Conclusion &amp; Future</a:t>
            </a:r>
            <a:endParaRPr sz="3300" dirty="0">
              <a:solidFill>
                <a:schemeClr val="bg2">
                  <a:lumMod val="90000"/>
                </a:schemeClr>
              </a:solidFill>
              <a:latin typeface="Times New Roman"/>
              <a:cs typeface="Times New Roman"/>
            </a:endParaRPr>
          </a:p>
          <a:p>
            <a:pPr marL="91440" lvl="0" indent="0" algn="l" rtl="0">
              <a:lnSpc>
                <a:spcPct val="90000"/>
              </a:lnSpc>
              <a:spcBef>
                <a:spcPts val="1400"/>
              </a:spcBef>
              <a:spcAft>
                <a:spcPts val="0"/>
              </a:spcAft>
              <a:buClr>
                <a:srgbClr val="3F3F3F"/>
              </a:buClr>
              <a:buSzPts val="3200"/>
              <a:buFont typeface="Arial"/>
              <a:buNone/>
            </a:pPr>
            <a:endParaRPr sz="3200" dirty="0">
              <a:solidFill>
                <a:schemeClr val="dk1"/>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solidFill>
                <a:schemeClr val="dk1"/>
              </a:solidFill>
              <a:latin typeface="Times New Roman"/>
              <a:ea typeface="Times New Roman"/>
              <a:cs typeface="Times New Roman"/>
              <a:sym typeface="Times New Roman"/>
            </a:endParaRPr>
          </a:p>
        </p:txBody>
      </p:sp>
      <p:sp>
        <p:nvSpPr>
          <p:cNvPr id="8" name="投影片編號版面配置區 7">
            <a:extLst>
              <a:ext uri="{FF2B5EF4-FFF2-40B4-BE49-F238E27FC236}">
                <a16:creationId xmlns:a16="http://schemas.microsoft.com/office/drawing/2014/main" id="{419F2E2D-EB73-420F-8822-2704EF4ACE73}"/>
              </a:ext>
            </a:extLst>
          </p:cNvPr>
          <p:cNvSpPr>
            <a:spLocks noGrp="1"/>
          </p:cNvSpPr>
          <p:nvPr>
            <p:ph type="sldNum" sz="quarter" idx="12"/>
          </p:nvPr>
        </p:nvSpPr>
        <p:spPr/>
        <p:txBody>
          <a:bodyPr/>
          <a:lstStyle/>
          <a:p>
            <a:fld id="{7539D880-7677-4E8F-8D1B-ECF4759392EF}" type="slidenum">
              <a:rPr lang="zh-TW" altLang="en-US" smtClean="0"/>
              <a:t>5</a:t>
            </a:fld>
            <a:endParaRPr lang="zh-TW" altLang="en-US"/>
          </a:p>
        </p:txBody>
      </p:sp>
    </p:spTree>
    <p:extLst>
      <p:ext uri="{BB962C8B-B14F-4D97-AF65-F5344CB8AC3E}">
        <p14:creationId xmlns:p14="http://schemas.microsoft.com/office/powerpoint/2010/main" val="592838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Proposed Approach</a:t>
            </a:r>
            <a:endParaRPr lang="zh-TW" altLang="en-US" dirty="0"/>
          </a:p>
        </p:txBody>
      </p:sp>
      <p:grpSp>
        <p:nvGrpSpPr>
          <p:cNvPr id="3" name="群組 2">
            <a:extLst>
              <a:ext uri="{FF2B5EF4-FFF2-40B4-BE49-F238E27FC236}">
                <a16:creationId xmlns:a16="http://schemas.microsoft.com/office/drawing/2014/main" id="{1C3C0809-1FAB-4A17-A9E4-714AB9C6F77A}"/>
              </a:ext>
            </a:extLst>
          </p:cNvPr>
          <p:cNvGrpSpPr/>
          <p:nvPr/>
        </p:nvGrpSpPr>
        <p:grpSpPr>
          <a:xfrm>
            <a:off x="9481828" y="641621"/>
            <a:ext cx="1673852" cy="964880"/>
            <a:chOff x="9481828" y="641621"/>
            <a:chExt cx="1673852" cy="964880"/>
          </a:xfrm>
        </p:grpSpPr>
        <p:sp>
          <p:nvSpPr>
            <p:cNvPr id="22" name="矩形: 圓角 21">
              <a:extLst>
                <a:ext uri="{FF2B5EF4-FFF2-40B4-BE49-F238E27FC236}">
                  <a16:creationId xmlns:a16="http://schemas.microsoft.com/office/drawing/2014/main" id="{5B7BB268-CCA2-98E2-7893-CD21A77D9B52}"/>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63B9DF2A-9BB5-2DC1-2BEE-B95EDFEF7E43}"/>
                </a:ext>
              </a:extLst>
            </p:cNvPr>
            <p:cNvSpPr txBox="1"/>
            <p:nvPr/>
          </p:nvSpPr>
          <p:spPr>
            <a:xfrm>
              <a:off x="10316947" y="741961"/>
              <a:ext cx="838733"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Original</a:t>
              </a:r>
            </a:p>
          </p:txBody>
        </p:sp>
        <p:sp>
          <p:nvSpPr>
            <p:cNvPr id="24" name="矩形 23">
              <a:extLst>
                <a:ext uri="{FF2B5EF4-FFF2-40B4-BE49-F238E27FC236}">
                  <a16:creationId xmlns:a16="http://schemas.microsoft.com/office/drawing/2014/main" id="{6DE83CB9-642B-DEF8-2532-82C69F36AAFB}"/>
                </a:ext>
              </a:extLst>
            </p:cNvPr>
            <p:cNvSpPr/>
            <p:nvPr/>
          </p:nvSpPr>
          <p:spPr>
            <a:xfrm>
              <a:off x="9695753" y="806418"/>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8E64E208-FB7D-A98D-1F3E-B4A302762281}"/>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4" name="矩形 3">
            <a:extLst>
              <a:ext uri="{FF2B5EF4-FFF2-40B4-BE49-F238E27FC236}">
                <a16:creationId xmlns:a16="http://schemas.microsoft.com/office/drawing/2014/main" id="{7506B631-C75A-45B4-A763-72651D3C0150}"/>
              </a:ext>
            </a:extLst>
          </p:cNvPr>
          <p:cNvSpPr/>
          <p:nvPr/>
        </p:nvSpPr>
        <p:spPr>
          <a:xfrm>
            <a:off x="2099068" y="1876529"/>
            <a:ext cx="7867142" cy="4244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6CD24C50-1A54-46A0-B342-87D1802D0224}"/>
              </a:ext>
            </a:extLst>
          </p:cNvPr>
          <p:cNvSpPr/>
          <p:nvPr/>
        </p:nvSpPr>
        <p:spPr>
          <a:xfrm>
            <a:off x="2363378" y="2282346"/>
            <a:ext cx="2889505" cy="362233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chemeClr val="tx1"/>
                </a:solidFill>
                <a:prstDash val="dash"/>
              </a:ln>
            </a:endParaRPr>
          </a:p>
        </p:txBody>
      </p:sp>
      <p:sp>
        <p:nvSpPr>
          <p:cNvPr id="20" name="矩形 19">
            <a:extLst>
              <a:ext uri="{FF2B5EF4-FFF2-40B4-BE49-F238E27FC236}">
                <a16:creationId xmlns:a16="http://schemas.microsoft.com/office/drawing/2014/main" id="{86CE12FC-EA26-4E2E-8866-A23B311B9653}"/>
              </a:ext>
            </a:extLst>
          </p:cNvPr>
          <p:cNvSpPr/>
          <p:nvPr/>
        </p:nvSpPr>
        <p:spPr>
          <a:xfrm>
            <a:off x="3186252" y="3440564"/>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ImageMaker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23141508-95F3-411C-A278-F1483B808910}"/>
              </a:ext>
            </a:extLst>
          </p:cNvPr>
          <p:cNvSpPr/>
          <p:nvPr/>
        </p:nvSpPr>
        <p:spPr>
          <a:xfrm>
            <a:off x="3191739" y="2668803"/>
            <a:ext cx="1243754"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Extractor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20F3F8D0-3E4A-479B-9143-B7BC8D2118D2}"/>
              </a:ext>
            </a:extLst>
          </p:cNvPr>
          <p:cNvSpPr/>
          <p:nvPr/>
        </p:nvSpPr>
        <p:spPr>
          <a:xfrm>
            <a:off x="3186252" y="4212325"/>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Emulator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DF34AD28-0F13-45FD-BBDE-56F391155199}"/>
              </a:ext>
            </a:extLst>
          </p:cNvPr>
          <p:cNvCxnSpPr>
            <a:cxnSpLocks/>
            <a:stCxn id="21" idx="2"/>
            <a:endCxn id="20" idx="0"/>
          </p:cNvCxnSpPr>
          <p:nvPr/>
        </p:nvCxnSpPr>
        <p:spPr>
          <a:xfrm flipH="1">
            <a:off x="3808130" y="3085546"/>
            <a:ext cx="5486"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C966C9B6-50C1-4054-BDDB-3633CD711C55}"/>
              </a:ext>
            </a:extLst>
          </p:cNvPr>
          <p:cNvCxnSpPr>
            <a:cxnSpLocks/>
            <a:stCxn id="20" idx="2"/>
            <a:endCxn id="26" idx="0"/>
          </p:cNvCxnSpPr>
          <p:nvPr/>
        </p:nvCxnSpPr>
        <p:spPr>
          <a:xfrm>
            <a:off x="3808130" y="3857307"/>
            <a:ext cx="0"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E3D5741F-1B09-4FB1-B89B-7B59B03F1DBC}"/>
              </a:ext>
            </a:extLst>
          </p:cNvPr>
          <p:cNvSpPr/>
          <p:nvPr/>
        </p:nvSpPr>
        <p:spPr>
          <a:xfrm>
            <a:off x="3186252" y="4978374"/>
            <a:ext cx="1243755"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Arbitration</a:t>
            </a:r>
          </a:p>
        </p:txBody>
      </p:sp>
      <p:cxnSp>
        <p:nvCxnSpPr>
          <p:cNvPr id="47" name="直線單箭頭接點 46">
            <a:extLst>
              <a:ext uri="{FF2B5EF4-FFF2-40B4-BE49-F238E27FC236}">
                <a16:creationId xmlns:a16="http://schemas.microsoft.com/office/drawing/2014/main" id="{2BD6F151-8F7E-497C-9E64-469C8C9D368C}"/>
              </a:ext>
            </a:extLst>
          </p:cNvPr>
          <p:cNvCxnSpPr>
            <a:cxnSpLocks/>
            <a:stCxn id="26" idx="2"/>
            <a:endCxn id="45" idx="0"/>
          </p:cNvCxnSpPr>
          <p:nvPr/>
        </p:nvCxnSpPr>
        <p:spPr>
          <a:xfrm>
            <a:off x="3808130" y="4629068"/>
            <a:ext cx="0" cy="3493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文字方塊 41">
            <a:extLst>
              <a:ext uri="{FF2B5EF4-FFF2-40B4-BE49-F238E27FC236}">
                <a16:creationId xmlns:a16="http://schemas.microsoft.com/office/drawing/2014/main" id="{72511417-0113-4A59-84CE-CA0F366B6284}"/>
              </a:ext>
            </a:extLst>
          </p:cNvPr>
          <p:cNvSpPr txBox="1"/>
          <p:nvPr/>
        </p:nvSpPr>
        <p:spPr>
          <a:xfrm>
            <a:off x="3808129" y="310594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27812F9F-298C-4C76-AF83-156F7E3767B6}"/>
              </a:ext>
            </a:extLst>
          </p:cNvPr>
          <p:cNvSpPr txBox="1"/>
          <p:nvPr/>
        </p:nvSpPr>
        <p:spPr>
          <a:xfrm>
            <a:off x="3808129" y="389346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EFD596E7-EA0A-471F-BB1B-1767E43BECE8}"/>
              </a:ext>
            </a:extLst>
          </p:cNvPr>
          <p:cNvSpPr txBox="1"/>
          <p:nvPr/>
        </p:nvSpPr>
        <p:spPr>
          <a:xfrm>
            <a:off x="3463323" y="2337075"/>
            <a:ext cx="689612" cy="276999"/>
          </a:xfrm>
          <a:prstGeom prst="rect">
            <a:avLst/>
          </a:prstGeom>
          <a:noFill/>
        </p:spPr>
        <p:txBody>
          <a:bodyPr wrap="none" rtlCol="0">
            <a:spAutoFit/>
          </a:bodyPr>
          <a:lstStyle/>
          <a:p>
            <a:r>
              <a:rPr lang="en-US" altLang="zh-TW" sz="1200" dirty="0" err="1">
                <a:latin typeface="Times New Roman" panose="02020603050405020304" pitchFamily="18" charset="0"/>
                <a:cs typeface="Times New Roman" panose="02020603050405020304" pitchFamily="18" charset="0"/>
              </a:rPr>
              <a:t>FirmAE</a:t>
            </a:r>
            <a:endParaRPr lang="zh-TW" altLang="en-US" sz="1200" dirty="0">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242DA01A-F27D-4CB7-BE2B-2E352ED021EE}"/>
              </a:ext>
            </a:extLst>
          </p:cNvPr>
          <p:cNvSpPr txBox="1"/>
          <p:nvPr/>
        </p:nvSpPr>
        <p:spPr>
          <a:xfrm>
            <a:off x="2256823" y="1940938"/>
            <a:ext cx="1689886"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VM (running on Linux)</a:t>
            </a:r>
            <a:endParaRPr lang="zh-TW" altLang="en-US" sz="1200" dirty="0">
              <a:latin typeface="Times New Roman" panose="02020603050405020304" pitchFamily="18" charset="0"/>
              <a:cs typeface="Times New Roman" panose="02020603050405020304" pitchFamily="18" charset="0"/>
            </a:endParaRPr>
          </a:p>
        </p:txBody>
      </p:sp>
      <p:sp>
        <p:nvSpPr>
          <p:cNvPr id="54" name="矩形 53">
            <a:extLst>
              <a:ext uri="{FF2B5EF4-FFF2-40B4-BE49-F238E27FC236}">
                <a16:creationId xmlns:a16="http://schemas.microsoft.com/office/drawing/2014/main" id="{C29B2377-93D4-4DD2-B8EA-13D06C6397AC}"/>
              </a:ext>
            </a:extLst>
          </p:cNvPr>
          <p:cNvSpPr/>
          <p:nvPr/>
        </p:nvSpPr>
        <p:spPr>
          <a:xfrm>
            <a:off x="6075758" y="4212325"/>
            <a:ext cx="1243754"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run.sh</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5" name="直線單箭頭接點 54">
            <a:extLst>
              <a:ext uri="{FF2B5EF4-FFF2-40B4-BE49-F238E27FC236}">
                <a16:creationId xmlns:a16="http://schemas.microsoft.com/office/drawing/2014/main" id="{F2D56DBB-5838-4C59-AD35-57801B75D505}"/>
              </a:ext>
            </a:extLst>
          </p:cNvPr>
          <p:cNvCxnSpPr>
            <a:cxnSpLocks/>
            <a:stCxn id="26" idx="3"/>
            <a:endCxn id="54" idx="1"/>
          </p:cNvCxnSpPr>
          <p:nvPr/>
        </p:nvCxnSpPr>
        <p:spPr>
          <a:xfrm>
            <a:off x="4430007" y="4420697"/>
            <a:ext cx="1645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a:extLst>
              <a:ext uri="{FF2B5EF4-FFF2-40B4-BE49-F238E27FC236}">
                <a16:creationId xmlns:a16="http://schemas.microsoft.com/office/drawing/2014/main" id="{CE16D1D1-6DB3-44D5-AB1D-6C5B3A0C0062}"/>
              </a:ext>
            </a:extLst>
          </p:cNvPr>
          <p:cNvCxnSpPr>
            <a:cxnSpLocks/>
            <a:stCxn id="45" idx="3"/>
            <a:endCxn id="54" idx="2"/>
          </p:cNvCxnSpPr>
          <p:nvPr/>
        </p:nvCxnSpPr>
        <p:spPr>
          <a:xfrm flipV="1">
            <a:off x="4430007" y="4629068"/>
            <a:ext cx="2267628" cy="55767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0" name="矩形 59">
            <a:extLst>
              <a:ext uri="{FF2B5EF4-FFF2-40B4-BE49-F238E27FC236}">
                <a16:creationId xmlns:a16="http://schemas.microsoft.com/office/drawing/2014/main" id="{E74E5974-84AC-4D01-90AC-0B95F5C9299A}"/>
              </a:ext>
            </a:extLst>
          </p:cNvPr>
          <p:cNvSpPr/>
          <p:nvPr/>
        </p:nvSpPr>
        <p:spPr>
          <a:xfrm>
            <a:off x="8295581" y="5387104"/>
            <a:ext cx="1243754" cy="517579"/>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firmware image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1" name="直線單箭頭接點 56">
            <a:extLst>
              <a:ext uri="{FF2B5EF4-FFF2-40B4-BE49-F238E27FC236}">
                <a16:creationId xmlns:a16="http://schemas.microsoft.com/office/drawing/2014/main" id="{758D6DDB-EABF-48B4-B9B8-14658C8A6350}"/>
              </a:ext>
            </a:extLst>
          </p:cNvPr>
          <p:cNvCxnSpPr>
            <a:cxnSpLocks/>
            <a:stCxn id="45" idx="2"/>
            <a:endCxn id="60" idx="1"/>
          </p:cNvCxnSpPr>
          <p:nvPr/>
        </p:nvCxnSpPr>
        <p:spPr>
          <a:xfrm rot="16200000" flipH="1">
            <a:off x="5926467" y="3276779"/>
            <a:ext cx="250777" cy="448745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矩形 64">
            <a:extLst>
              <a:ext uri="{FF2B5EF4-FFF2-40B4-BE49-F238E27FC236}">
                <a16:creationId xmlns:a16="http://schemas.microsoft.com/office/drawing/2014/main" id="{C887DEA9-0DE7-451A-9123-8FB5594458D1}"/>
              </a:ext>
            </a:extLst>
          </p:cNvPr>
          <p:cNvSpPr/>
          <p:nvPr/>
        </p:nvSpPr>
        <p:spPr>
          <a:xfrm>
            <a:off x="8031522" y="2646690"/>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target firmware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9FEE233B-29E6-4408-B9C1-4F73E3F660F2}"/>
              </a:ext>
            </a:extLst>
          </p:cNvPr>
          <p:cNvCxnSpPr>
            <a:cxnSpLocks/>
            <a:stCxn id="21" idx="3"/>
            <a:endCxn id="65" idx="1"/>
          </p:cNvCxnSpPr>
          <p:nvPr/>
        </p:nvCxnSpPr>
        <p:spPr>
          <a:xfrm>
            <a:off x="4435493" y="2877175"/>
            <a:ext cx="3596029" cy="3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615CB171-E12D-4E66-ABF3-1DAB5413DB2E}"/>
              </a:ext>
            </a:extLst>
          </p:cNvPr>
          <p:cNvSpPr/>
          <p:nvPr/>
        </p:nvSpPr>
        <p:spPr>
          <a:xfrm>
            <a:off x="8294787" y="4186891"/>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Qemu</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71" name="直線單箭頭接點 56">
            <a:extLst>
              <a:ext uri="{FF2B5EF4-FFF2-40B4-BE49-F238E27FC236}">
                <a16:creationId xmlns:a16="http://schemas.microsoft.com/office/drawing/2014/main" id="{575488B9-E8F1-405D-916E-B5E02D9A5CDC}"/>
              </a:ext>
            </a:extLst>
          </p:cNvPr>
          <p:cNvCxnSpPr>
            <a:cxnSpLocks/>
            <a:stCxn id="69" idx="2"/>
            <a:endCxn id="60" idx="0"/>
          </p:cNvCxnSpPr>
          <p:nvPr/>
        </p:nvCxnSpPr>
        <p:spPr>
          <a:xfrm rot="16200000" flipH="1">
            <a:off x="8550760" y="5020405"/>
            <a:ext cx="732603" cy="7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8" name="文字方塊 77">
            <a:extLst>
              <a:ext uri="{FF2B5EF4-FFF2-40B4-BE49-F238E27FC236}">
                <a16:creationId xmlns:a16="http://schemas.microsoft.com/office/drawing/2014/main" id="{67C345E0-2A93-4157-B046-69E019C557AA}"/>
              </a:ext>
            </a:extLst>
          </p:cNvPr>
          <p:cNvSpPr txBox="1"/>
          <p:nvPr/>
        </p:nvSpPr>
        <p:spPr>
          <a:xfrm>
            <a:off x="10316947" y="1069315"/>
            <a:ext cx="895536"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Modified</a:t>
            </a:r>
          </a:p>
        </p:txBody>
      </p:sp>
      <p:sp>
        <p:nvSpPr>
          <p:cNvPr id="79" name="矩形 78">
            <a:extLst>
              <a:ext uri="{FF2B5EF4-FFF2-40B4-BE49-F238E27FC236}">
                <a16:creationId xmlns:a16="http://schemas.microsoft.com/office/drawing/2014/main" id="{42931875-9988-48B4-AF0C-D2BE88890AF5}"/>
              </a:ext>
            </a:extLst>
          </p:cNvPr>
          <p:cNvSpPr/>
          <p:nvPr/>
        </p:nvSpPr>
        <p:spPr>
          <a:xfrm>
            <a:off x="9695753" y="1133772"/>
            <a:ext cx="540914" cy="170037"/>
          </a:xfrm>
          <a:prstGeom prst="rect">
            <a:avLst/>
          </a:prstGeom>
          <a:solidFill>
            <a:schemeClr val="bg1">
              <a:lumMod val="65000"/>
            </a:schemeClr>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45E7E629-36D6-4727-8CF6-4B39DBA4F43F}"/>
              </a:ext>
            </a:extLst>
          </p:cNvPr>
          <p:cNvSpPr txBox="1"/>
          <p:nvPr/>
        </p:nvSpPr>
        <p:spPr>
          <a:xfrm>
            <a:off x="5392835" y="2577719"/>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extract the tar file and kernel file </a:t>
            </a:r>
            <a:endParaRPr lang="zh-TW" altLang="en-US" sz="1200" dirty="0">
              <a:latin typeface="Times New Roman" panose="02020603050405020304" pitchFamily="18" charset="0"/>
              <a:cs typeface="Times New Roman" panose="02020603050405020304" pitchFamily="18" charset="0"/>
            </a:endParaRPr>
          </a:p>
        </p:txBody>
      </p:sp>
      <p:cxnSp>
        <p:nvCxnSpPr>
          <p:cNvPr id="81" name="直線單箭頭接點 80">
            <a:extLst>
              <a:ext uri="{FF2B5EF4-FFF2-40B4-BE49-F238E27FC236}">
                <a16:creationId xmlns:a16="http://schemas.microsoft.com/office/drawing/2014/main" id="{2AE79517-CB2C-4242-9B26-5E7D7913193F}"/>
              </a:ext>
            </a:extLst>
          </p:cNvPr>
          <p:cNvCxnSpPr>
            <a:cxnSpLocks/>
            <a:stCxn id="20" idx="3"/>
            <a:endCxn id="60" idx="3"/>
          </p:cNvCxnSpPr>
          <p:nvPr/>
        </p:nvCxnSpPr>
        <p:spPr>
          <a:xfrm>
            <a:off x="4430007" y="3648936"/>
            <a:ext cx="5109328" cy="1996958"/>
          </a:xfrm>
          <a:prstGeom prst="bentConnector3">
            <a:avLst>
              <a:gd name="adj1" fmla="val 104474"/>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單箭頭接點 80">
            <a:extLst>
              <a:ext uri="{FF2B5EF4-FFF2-40B4-BE49-F238E27FC236}">
                <a16:creationId xmlns:a16="http://schemas.microsoft.com/office/drawing/2014/main" id="{20866966-9D45-484D-9143-8322BE519FD6}"/>
              </a:ext>
            </a:extLst>
          </p:cNvPr>
          <p:cNvCxnSpPr>
            <a:cxnSpLocks/>
            <a:stCxn id="54" idx="3"/>
            <a:endCxn id="69" idx="1"/>
          </p:cNvCxnSpPr>
          <p:nvPr/>
        </p:nvCxnSpPr>
        <p:spPr>
          <a:xfrm flipV="1">
            <a:off x="7319512" y="4420696"/>
            <a:ext cx="975275"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文字方塊 114">
            <a:extLst>
              <a:ext uri="{FF2B5EF4-FFF2-40B4-BE49-F238E27FC236}">
                <a16:creationId xmlns:a16="http://schemas.microsoft.com/office/drawing/2014/main" id="{16A913D8-E8EA-49FB-BA55-A96F35A25A76}"/>
              </a:ext>
            </a:extLst>
          </p:cNvPr>
          <p:cNvSpPr txBox="1"/>
          <p:nvPr/>
        </p:nvSpPr>
        <p:spPr>
          <a:xfrm>
            <a:off x="5683293" y="3353790"/>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create firmware image (raw file)</a:t>
            </a:r>
            <a:endParaRPr lang="zh-TW" altLang="en-US" sz="1200" dirty="0">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71D5B32C-DD3C-4410-B2D4-1ED69B1B7271}"/>
              </a:ext>
            </a:extLst>
          </p:cNvPr>
          <p:cNvSpPr txBox="1"/>
          <p:nvPr/>
        </p:nvSpPr>
        <p:spPr>
          <a:xfrm>
            <a:off x="7155143" y="4553063"/>
            <a:ext cx="1304011"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use </a:t>
            </a:r>
            <a:r>
              <a:rPr lang="en-US" altLang="zh-TW" sz="1200" dirty="0" err="1">
                <a:solidFill>
                  <a:srgbClr val="000000"/>
                </a:solidFill>
                <a:effectLst/>
                <a:latin typeface="Times New Roman" panose="02020603050405020304" pitchFamily="18" charset="0"/>
                <a:cs typeface="Times New Roman" panose="02020603050405020304" pitchFamily="18" charset="0"/>
              </a:rPr>
              <a:t>qemu</a:t>
            </a:r>
            <a:r>
              <a:rPr lang="en-US" altLang="zh-TW" sz="1200" dirty="0">
                <a:solidFill>
                  <a:srgbClr val="000000"/>
                </a:solidFill>
                <a:effectLst/>
                <a:latin typeface="Times New Roman" panose="02020603050405020304" pitchFamily="18" charset="0"/>
                <a:cs typeface="Times New Roman" panose="02020603050405020304" pitchFamily="18" charset="0"/>
              </a:rPr>
              <a:t> system </a:t>
            </a:r>
          </a:p>
          <a:p>
            <a:r>
              <a:rPr lang="en-US" altLang="zh-TW" sz="1200" dirty="0">
                <a:solidFill>
                  <a:srgbClr val="000000"/>
                </a:solidFill>
                <a:effectLst/>
                <a:latin typeface="Times New Roman" panose="02020603050405020304" pitchFamily="18" charset="0"/>
                <a:cs typeface="Times New Roman" panose="02020603050405020304" pitchFamily="18" charset="0"/>
              </a:rPr>
              <a:t>mode to emulate</a:t>
            </a:r>
            <a:endParaRPr lang="zh-TW" altLang="en-US" sz="1200" dirty="0">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DB6D538E-C27F-4DC9-A607-4931244CF508}"/>
              </a:ext>
            </a:extLst>
          </p:cNvPr>
          <p:cNvSpPr txBox="1"/>
          <p:nvPr/>
        </p:nvSpPr>
        <p:spPr>
          <a:xfrm>
            <a:off x="5272679" y="4763380"/>
            <a:ext cx="1202573"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run.sh</a:t>
            </a:r>
          </a:p>
          <a:p>
            <a:r>
              <a:rPr lang="en-US" altLang="zh-TW" sz="1200" dirty="0">
                <a:solidFill>
                  <a:srgbClr val="000000"/>
                </a:solidFill>
                <a:effectLst/>
                <a:latin typeface="Times New Roman" panose="02020603050405020304" pitchFamily="18" charset="0"/>
                <a:cs typeface="Times New Roman" panose="02020603050405020304" pitchFamily="18" charset="0"/>
              </a:rPr>
              <a:t>(Network, Boot)</a:t>
            </a:r>
            <a:endParaRPr lang="zh-TW" altLang="en-US" sz="1200" dirty="0">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73EDDABE-0459-432E-91F0-036ECD853057}"/>
              </a:ext>
            </a:extLst>
          </p:cNvPr>
          <p:cNvSpPr txBox="1"/>
          <p:nvPr/>
        </p:nvSpPr>
        <p:spPr>
          <a:xfrm>
            <a:off x="6560715" y="5619204"/>
            <a:ext cx="1651414"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firmware image</a:t>
            </a:r>
          </a:p>
          <a:p>
            <a:r>
              <a:rPr lang="en-US" altLang="zh-TW" sz="1200" dirty="0">
                <a:solidFill>
                  <a:srgbClr val="000000"/>
                </a:solidFill>
                <a:effectLst/>
                <a:latin typeface="Times New Roman" panose="02020603050405020304" pitchFamily="18" charset="0"/>
                <a:cs typeface="Times New Roman" panose="02020603050405020304" pitchFamily="18" charset="0"/>
              </a:rPr>
              <a:t>(Kernel, NVRAM)</a:t>
            </a:r>
            <a:endParaRPr lang="zh-TW" altLang="en-US" sz="1200" dirty="0">
              <a:latin typeface="Times New Roman" panose="02020603050405020304" pitchFamily="18" charset="0"/>
              <a:cs typeface="Times New Roman" panose="02020603050405020304" pitchFamily="18" charset="0"/>
            </a:endParaRPr>
          </a:p>
        </p:txBody>
      </p:sp>
      <p:sp>
        <p:nvSpPr>
          <p:cNvPr id="8" name="投影片編號版面配置區 7">
            <a:extLst>
              <a:ext uri="{FF2B5EF4-FFF2-40B4-BE49-F238E27FC236}">
                <a16:creationId xmlns:a16="http://schemas.microsoft.com/office/drawing/2014/main" id="{11988C24-3201-43E8-A4D0-F81755A7FF14}"/>
              </a:ext>
            </a:extLst>
          </p:cNvPr>
          <p:cNvSpPr>
            <a:spLocks noGrp="1"/>
          </p:cNvSpPr>
          <p:nvPr>
            <p:ph type="sldNum" sz="quarter" idx="12"/>
          </p:nvPr>
        </p:nvSpPr>
        <p:spPr/>
        <p:txBody>
          <a:bodyPr/>
          <a:lstStyle/>
          <a:p>
            <a:fld id="{7539D880-7677-4E8F-8D1B-ECF4759392EF}" type="slidenum">
              <a:rPr lang="zh-TW" altLang="en-US" smtClean="0"/>
              <a:t>6</a:t>
            </a:fld>
            <a:endParaRPr lang="zh-TW" altLang="en-US"/>
          </a:p>
        </p:txBody>
      </p:sp>
    </p:spTree>
    <p:extLst>
      <p:ext uri="{BB962C8B-B14F-4D97-AF65-F5344CB8AC3E}">
        <p14:creationId xmlns:p14="http://schemas.microsoft.com/office/powerpoint/2010/main" val="215623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Proposed Approach</a:t>
            </a:r>
            <a:endParaRPr lang="zh-TW" altLang="en-US" dirty="0"/>
          </a:p>
        </p:txBody>
      </p:sp>
      <p:grpSp>
        <p:nvGrpSpPr>
          <p:cNvPr id="3" name="群組 2">
            <a:extLst>
              <a:ext uri="{FF2B5EF4-FFF2-40B4-BE49-F238E27FC236}">
                <a16:creationId xmlns:a16="http://schemas.microsoft.com/office/drawing/2014/main" id="{1C3C0809-1FAB-4A17-A9E4-714AB9C6F77A}"/>
              </a:ext>
            </a:extLst>
          </p:cNvPr>
          <p:cNvGrpSpPr/>
          <p:nvPr/>
        </p:nvGrpSpPr>
        <p:grpSpPr>
          <a:xfrm>
            <a:off x="9481828" y="641621"/>
            <a:ext cx="1673852" cy="964880"/>
            <a:chOff x="9481828" y="641621"/>
            <a:chExt cx="1673852" cy="964880"/>
          </a:xfrm>
        </p:grpSpPr>
        <p:sp>
          <p:nvSpPr>
            <p:cNvPr id="22" name="矩形: 圓角 21">
              <a:extLst>
                <a:ext uri="{FF2B5EF4-FFF2-40B4-BE49-F238E27FC236}">
                  <a16:creationId xmlns:a16="http://schemas.microsoft.com/office/drawing/2014/main" id="{5B7BB268-CCA2-98E2-7893-CD21A77D9B52}"/>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63B9DF2A-9BB5-2DC1-2BEE-B95EDFEF7E43}"/>
                </a:ext>
              </a:extLst>
            </p:cNvPr>
            <p:cNvSpPr txBox="1"/>
            <p:nvPr/>
          </p:nvSpPr>
          <p:spPr>
            <a:xfrm>
              <a:off x="10316947" y="741961"/>
              <a:ext cx="838733"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Original</a:t>
              </a:r>
            </a:p>
          </p:txBody>
        </p:sp>
        <p:sp>
          <p:nvSpPr>
            <p:cNvPr id="24" name="矩形 23">
              <a:extLst>
                <a:ext uri="{FF2B5EF4-FFF2-40B4-BE49-F238E27FC236}">
                  <a16:creationId xmlns:a16="http://schemas.microsoft.com/office/drawing/2014/main" id="{6DE83CB9-642B-DEF8-2532-82C69F36AAFB}"/>
                </a:ext>
              </a:extLst>
            </p:cNvPr>
            <p:cNvSpPr/>
            <p:nvPr/>
          </p:nvSpPr>
          <p:spPr>
            <a:xfrm>
              <a:off x="9695753" y="806418"/>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8E64E208-FB7D-A98D-1F3E-B4A302762281}"/>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4" name="矩形 3">
            <a:extLst>
              <a:ext uri="{FF2B5EF4-FFF2-40B4-BE49-F238E27FC236}">
                <a16:creationId xmlns:a16="http://schemas.microsoft.com/office/drawing/2014/main" id="{7506B631-C75A-45B4-A763-72651D3C0150}"/>
              </a:ext>
            </a:extLst>
          </p:cNvPr>
          <p:cNvSpPr/>
          <p:nvPr/>
        </p:nvSpPr>
        <p:spPr>
          <a:xfrm>
            <a:off x="2099068" y="1876529"/>
            <a:ext cx="7867142" cy="4244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6CD24C50-1A54-46A0-B342-87D1802D0224}"/>
              </a:ext>
            </a:extLst>
          </p:cNvPr>
          <p:cNvSpPr/>
          <p:nvPr/>
        </p:nvSpPr>
        <p:spPr>
          <a:xfrm>
            <a:off x="2363378" y="2282346"/>
            <a:ext cx="2889505" cy="362233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chemeClr val="tx1"/>
                </a:solidFill>
                <a:prstDash val="dash"/>
              </a:ln>
            </a:endParaRPr>
          </a:p>
        </p:txBody>
      </p:sp>
      <p:sp>
        <p:nvSpPr>
          <p:cNvPr id="20" name="矩形 19">
            <a:extLst>
              <a:ext uri="{FF2B5EF4-FFF2-40B4-BE49-F238E27FC236}">
                <a16:creationId xmlns:a16="http://schemas.microsoft.com/office/drawing/2014/main" id="{86CE12FC-EA26-4E2E-8866-A23B311B9653}"/>
              </a:ext>
            </a:extLst>
          </p:cNvPr>
          <p:cNvSpPr/>
          <p:nvPr/>
        </p:nvSpPr>
        <p:spPr>
          <a:xfrm>
            <a:off x="3186252" y="3440564"/>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ImageMaker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23141508-95F3-411C-A278-F1483B808910}"/>
              </a:ext>
            </a:extLst>
          </p:cNvPr>
          <p:cNvSpPr/>
          <p:nvPr/>
        </p:nvSpPr>
        <p:spPr>
          <a:xfrm>
            <a:off x="3191739" y="2668803"/>
            <a:ext cx="1243754"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Extractor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20F3F8D0-3E4A-479B-9143-B7BC8D2118D2}"/>
              </a:ext>
            </a:extLst>
          </p:cNvPr>
          <p:cNvSpPr/>
          <p:nvPr/>
        </p:nvSpPr>
        <p:spPr>
          <a:xfrm>
            <a:off x="3186252" y="4212325"/>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Emulator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DF34AD28-0F13-45FD-BBDE-56F391155199}"/>
              </a:ext>
            </a:extLst>
          </p:cNvPr>
          <p:cNvCxnSpPr>
            <a:cxnSpLocks/>
            <a:stCxn id="21" idx="2"/>
            <a:endCxn id="20" idx="0"/>
          </p:cNvCxnSpPr>
          <p:nvPr/>
        </p:nvCxnSpPr>
        <p:spPr>
          <a:xfrm flipH="1">
            <a:off x="3808130" y="3085546"/>
            <a:ext cx="5486"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C966C9B6-50C1-4054-BDDB-3633CD711C55}"/>
              </a:ext>
            </a:extLst>
          </p:cNvPr>
          <p:cNvCxnSpPr>
            <a:cxnSpLocks/>
            <a:stCxn id="20" idx="2"/>
            <a:endCxn id="26" idx="0"/>
          </p:cNvCxnSpPr>
          <p:nvPr/>
        </p:nvCxnSpPr>
        <p:spPr>
          <a:xfrm>
            <a:off x="3808130" y="3857307"/>
            <a:ext cx="0"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E3D5741F-1B09-4FB1-B89B-7B59B03F1DBC}"/>
              </a:ext>
            </a:extLst>
          </p:cNvPr>
          <p:cNvSpPr/>
          <p:nvPr/>
        </p:nvSpPr>
        <p:spPr>
          <a:xfrm>
            <a:off x="3186252" y="4978374"/>
            <a:ext cx="1243755"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Arbitration</a:t>
            </a:r>
          </a:p>
        </p:txBody>
      </p:sp>
      <p:cxnSp>
        <p:nvCxnSpPr>
          <p:cNvPr id="47" name="直線單箭頭接點 46">
            <a:extLst>
              <a:ext uri="{FF2B5EF4-FFF2-40B4-BE49-F238E27FC236}">
                <a16:creationId xmlns:a16="http://schemas.microsoft.com/office/drawing/2014/main" id="{2BD6F151-8F7E-497C-9E64-469C8C9D368C}"/>
              </a:ext>
            </a:extLst>
          </p:cNvPr>
          <p:cNvCxnSpPr>
            <a:cxnSpLocks/>
            <a:stCxn id="26" idx="2"/>
            <a:endCxn id="45" idx="0"/>
          </p:cNvCxnSpPr>
          <p:nvPr/>
        </p:nvCxnSpPr>
        <p:spPr>
          <a:xfrm>
            <a:off x="3808130" y="4629068"/>
            <a:ext cx="0" cy="3493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文字方塊 41">
            <a:extLst>
              <a:ext uri="{FF2B5EF4-FFF2-40B4-BE49-F238E27FC236}">
                <a16:creationId xmlns:a16="http://schemas.microsoft.com/office/drawing/2014/main" id="{72511417-0113-4A59-84CE-CA0F366B6284}"/>
              </a:ext>
            </a:extLst>
          </p:cNvPr>
          <p:cNvSpPr txBox="1"/>
          <p:nvPr/>
        </p:nvSpPr>
        <p:spPr>
          <a:xfrm>
            <a:off x="3808129" y="310594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27812F9F-298C-4C76-AF83-156F7E3767B6}"/>
              </a:ext>
            </a:extLst>
          </p:cNvPr>
          <p:cNvSpPr txBox="1"/>
          <p:nvPr/>
        </p:nvSpPr>
        <p:spPr>
          <a:xfrm>
            <a:off x="3808129" y="389346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EFD596E7-EA0A-471F-BB1B-1767E43BECE8}"/>
              </a:ext>
            </a:extLst>
          </p:cNvPr>
          <p:cNvSpPr txBox="1"/>
          <p:nvPr/>
        </p:nvSpPr>
        <p:spPr>
          <a:xfrm>
            <a:off x="3463323" y="2337075"/>
            <a:ext cx="689612" cy="276999"/>
          </a:xfrm>
          <a:prstGeom prst="rect">
            <a:avLst/>
          </a:prstGeom>
          <a:noFill/>
        </p:spPr>
        <p:txBody>
          <a:bodyPr wrap="none" rtlCol="0">
            <a:spAutoFit/>
          </a:bodyPr>
          <a:lstStyle/>
          <a:p>
            <a:r>
              <a:rPr lang="en-US" altLang="zh-TW" sz="1200" dirty="0" err="1">
                <a:latin typeface="Times New Roman" panose="02020603050405020304" pitchFamily="18" charset="0"/>
                <a:cs typeface="Times New Roman" panose="02020603050405020304" pitchFamily="18" charset="0"/>
              </a:rPr>
              <a:t>FirmAE</a:t>
            </a:r>
            <a:endParaRPr lang="zh-TW" altLang="en-US" sz="1200" dirty="0">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242DA01A-F27D-4CB7-BE2B-2E352ED021EE}"/>
              </a:ext>
            </a:extLst>
          </p:cNvPr>
          <p:cNvSpPr txBox="1"/>
          <p:nvPr/>
        </p:nvSpPr>
        <p:spPr>
          <a:xfrm>
            <a:off x="2256823" y="1940938"/>
            <a:ext cx="1689886"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VM (running on Linux)</a:t>
            </a:r>
            <a:endParaRPr lang="zh-TW" altLang="en-US" sz="1200" dirty="0">
              <a:latin typeface="Times New Roman" panose="02020603050405020304" pitchFamily="18" charset="0"/>
              <a:cs typeface="Times New Roman" panose="02020603050405020304" pitchFamily="18" charset="0"/>
            </a:endParaRPr>
          </a:p>
        </p:txBody>
      </p:sp>
      <p:sp>
        <p:nvSpPr>
          <p:cNvPr id="54" name="矩形 53">
            <a:extLst>
              <a:ext uri="{FF2B5EF4-FFF2-40B4-BE49-F238E27FC236}">
                <a16:creationId xmlns:a16="http://schemas.microsoft.com/office/drawing/2014/main" id="{C29B2377-93D4-4DD2-B8EA-13D06C6397AC}"/>
              </a:ext>
            </a:extLst>
          </p:cNvPr>
          <p:cNvSpPr/>
          <p:nvPr/>
        </p:nvSpPr>
        <p:spPr>
          <a:xfrm>
            <a:off x="6075758" y="4212325"/>
            <a:ext cx="1243754"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run.sh</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5" name="直線單箭頭接點 54">
            <a:extLst>
              <a:ext uri="{FF2B5EF4-FFF2-40B4-BE49-F238E27FC236}">
                <a16:creationId xmlns:a16="http://schemas.microsoft.com/office/drawing/2014/main" id="{F2D56DBB-5838-4C59-AD35-57801B75D505}"/>
              </a:ext>
            </a:extLst>
          </p:cNvPr>
          <p:cNvCxnSpPr>
            <a:cxnSpLocks/>
            <a:stCxn id="26" idx="3"/>
            <a:endCxn id="54" idx="1"/>
          </p:cNvCxnSpPr>
          <p:nvPr/>
        </p:nvCxnSpPr>
        <p:spPr>
          <a:xfrm>
            <a:off x="4430007" y="4420697"/>
            <a:ext cx="1645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a:extLst>
              <a:ext uri="{FF2B5EF4-FFF2-40B4-BE49-F238E27FC236}">
                <a16:creationId xmlns:a16="http://schemas.microsoft.com/office/drawing/2014/main" id="{CE16D1D1-6DB3-44D5-AB1D-6C5B3A0C0062}"/>
              </a:ext>
            </a:extLst>
          </p:cNvPr>
          <p:cNvCxnSpPr>
            <a:cxnSpLocks/>
            <a:stCxn id="45" idx="3"/>
            <a:endCxn id="54" idx="2"/>
          </p:cNvCxnSpPr>
          <p:nvPr/>
        </p:nvCxnSpPr>
        <p:spPr>
          <a:xfrm flipV="1">
            <a:off x="4430007" y="4629068"/>
            <a:ext cx="2267628" cy="55767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0" name="矩形 59">
            <a:extLst>
              <a:ext uri="{FF2B5EF4-FFF2-40B4-BE49-F238E27FC236}">
                <a16:creationId xmlns:a16="http://schemas.microsoft.com/office/drawing/2014/main" id="{E74E5974-84AC-4D01-90AC-0B95F5C9299A}"/>
              </a:ext>
            </a:extLst>
          </p:cNvPr>
          <p:cNvSpPr/>
          <p:nvPr/>
        </p:nvSpPr>
        <p:spPr>
          <a:xfrm>
            <a:off x="8295581" y="5387104"/>
            <a:ext cx="1243754" cy="517579"/>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firmware image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1" name="直線單箭頭接點 56">
            <a:extLst>
              <a:ext uri="{FF2B5EF4-FFF2-40B4-BE49-F238E27FC236}">
                <a16:creationId xmlns:a16="http://schemas.microsoft.com/office/drawing/2014/main" id="{758D6DDB-EABF-48B4-B9B8-14658C8A6350}"/>
              </a:ext>
            </a:extLst>
          </p:cNvPr>
          <p:cNvCxnSpPr>
            <a:cxnSpLocks/>
            <a:stCxn id="45" idx="2"/>
            <a:endCxn id="60" idx="1"/>
          </p:cNvCxnSpPr>
          <p:nvPr/>
        </p:nvCxnSpPr>
        <p:spPr>
          <a:xfrm rot="16200000" flipH="1">
            <a:off x="5926467" y="3276779"/>
            <a:ext cx="250777" cy="448745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矩形 64">
            <a:extLst>
              <a:ext uri="{FF2B5EF4-FFF2-40B4-BE49-F238E27FC236}">
                <a16:creationId xmlns:a16="http://schemas.microsoft.com/office/drawing/2014/main" id="{C887DEA9-0DE7-451A-9123-8FB5594458D1}"/>
              </a:ext>
            </a:extLst>
          </p:cNvPr>
          <p:cNvSpPr/>
          <p:nvPr/>
        </p:nvSpPr>
        <p:spPr>
          <a:xfrm>
            <a:off x="8031522" y="2646690"/>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target firmware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9FEE233B-29E6-4408-B9C1-4F73E3F660F2}"/>
              </a:ext>
            </a:extLst>
          </p:cNvPr>
          <p:cNvCxnSpPr>
            <a:cxnSpLocks/>
            <a:stCxn id="21" idx="3"/>
            <a:endCxn id="65" idx="1"/>
          </p:cNvCxnSpPr>
          <p:nvPr/>
        </p:nvCxnSpPr>
        <p:spPr>
          <a:xfrm>
            <a:off x="4435493" y="2877175"/>
            <a:ext cx="3596029" cy="3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615CB171-E12D-4E66-ABF3-1DAB5413DB2E}"/>
              </a:ext>
            </a:extLst>
          </p:cNvPr>
          <p:cNvSpPr/>
          <p:nvPr/>
        </p:nvSpPr>
        <p:spPr>
          <a:xfrm>
            <a:off x="8294787" y="4186891"/>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Qemu</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71" name="直線單箭頭接點 56">
            <a:extLst>
              <a:ext uri="{FF2B5EF4-FFF2-40B4-BE49-F238E27FC236}">
                <a16:creationId xmlns:a16="http://schemas.microsoft.com/office/drawing/2014/main" id="{575488B9-E8F1-405D-916E-B5E02D9A5CDC}"/>
              </a:ext>
            </a:extLst>
          </p:cNvPr>
          <p:cNvCxnSpPr>
            <a:cxnSpLocks/>
            <a:stCxn id="69" idx="2"/>
            <a:endCxn id="60" idx="0"/>
          </p:cNvCxnSpPr>
          <p:nvPr/>
        </p:nvCxnSpPr>
        <p:spPr>
          <a:xfrm rot="16200000" flipH="1">
            <a:off x="8550760" y="5020405"/>
            <a:ext cx="732603" cy="7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8" name="文字方塊 77">
            <a:extLst>
              <a:ext uri="{FF2B5EF4-FFF2-40B4-BE49-F238E27FC236}">
                <a16:creationId xmlns:a16="http://schemas.microsoft.com/office/drawing/2014/main" id="{67C345E0-2A93-4157-B046-69E019C557AA}"/>
              </a:ext>
            </a:extLst>
          </p:cNvPr>
          <p:cNvSpPr txBox="1"/>
          <p:nvPr/>
        </p:nvSpPr>
        <p:spPr>
          <a:xfrm>
            <a:off x="10316947" y="1069315"/>
            <a:ext cx="895536"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Modified</a:t>
            </a:r>
          </a:p>
        </p:txBody>
      </p:sp>
      <p:sp>
        <p:nvSpPr>
          <p:cNvPr id="79" name="矩形 78">
            <a:extLst>
              <a:ext uri="{FF2B5EF4-FFF2-40B4-BE49-F238E27FC236}">
                <a16:creationId xmlns:a16="http://schemas.microsoft.com/office/drawing/2014/main" id="{42931875-9988-48B4-AF0C-D2BE88890AF5}"/>
              </a:ext>
            </a:extLst>
          </p:cNvPr>
          <p:cNvSpPr/>
          <p:nvPr/>
        </p:nvSpPr>
        <p:spPr>
          <a:xfrm>
            <a:off x="9695753" y="1133772"/>
            <a:ext cx="540914" cy="170037"/>
          </a:xfrm>
          <a:prstGeom prst="rect">
            <a:avLst/>
          </a:prstGeom>
          <a:solidFill>
            <a:schemeClr val="bg1">
              <a:lumMod val="65000"/>
            </a:schemeClr>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45E7E629-36D6-4727-8CF6-4B39DBA4F43F}"/>
              </a:ext>
            </a:extLst>
          </p:cNvPr>
          <p:cNvSpPr txBox="1"/>
          <p:nvPr/>
        </p:nvSpPr>
        <p:spPr>
          <a:xfrm>
            <a:off x="5392835" y="2577719"/>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extract the tar file and kernel file </a:t>
            </a:r>
            <a:endParaRPr lang="zh-TW" altLang="en-US" sz="1200" dirty="0">
              <a:latin typeface="Times New Roman" panose="02020603050405020304" pitchFamily="18" charset="0"/>
              <a:cs typeface="Times New Roman" panose="02020603050405020304" pitchFamily="18" charset="0"/>
            </a:endParaRPr>
          </a:p>
        </p:txBody>
      </p:sp>
      <p:cxnSp>
        <p:nvCxnSpPr>
          <p:cNvPr id="81" name="直線單箭頭接點 80">
            <a:extLst>
              <a:ext uri="{FF2B5EF4-FFF2-40B4-BE49-F238E27FC236}">
                <a16:creationId xmlns:a16="http://schemas.microsoft.com/office/drawing/2014/main" id="{2AE79517-CB2C-4242-9B26-5E7D7913193F}"/>
              </a:ext>
            </a:extLst>
          </p:cNvPr>
          <p:cNvCxnSpPr>
            <a:cxnSpLocks/>
            <a:stCxn id="20" idx="3"/>
            <a:endCxn id="60" idx="3"/>
          </p:cNvCxnSpPr>
          <p:nvPr/>
        </p:nvCxnSpPr>
        <p:spPr>
          <a:xfrm>
            <a:off x="4430007" y="3648936"/>
            <a:ext cx="5109328" cy="1996958"/>
          </a:xfrm>
          <a:prstGeom prst="bentConnector3">
            <a:avLst>
              <a:gd name="adj1" fmla="val 104474"/>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單箭頭接點 80">
            <a:extLst>
              <a:ext uri="{FF2B5EF4-FFF2-40B4-BE49-F238E27FC236}">
                <a16:creationId xmlns:a16="http://schemas.microsoft.com/office/drawing/2014/main" id="{20866966-9D45-484D-9143-8322BE519FD6}"/>
              </a:ext>
            </a:extLst>
          </p:cNvPr>
          <p:cNvCxnSpPr>
            <a:cxnSpLocks/>
            <a:stCxn id="54" idx="3"/>
            <a:endCxn id="69" idx="1"/>
          </p:cNvCxnSpPr>
          <p:nvPr/>
        </p:nvCxnSpPr>
        <p:spPr>
          <a:xfrm flipV="1">
            <a:off x="7319512" y="4420696"/>
            <a:ext cx="975275"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文字方塊 114">
            <a:extLst>
              <a:ext uri="{FF2B5EF4-FFF2-40B4-BE49-F238E27FC236}">
                <a16:creationId xmlns:a16="http://schemas.microsoft.com/office/drawing/2014/main" id="{16A913D8-E8EA-49FB-BA55-A96F35A25A76}"/>
              </a:ext>
            </a:extLst>
          </p:cNvPr>
          <p:cNvSpPr txBox="1"/>
          <p:nvPr/>
        </p:nvSpPr>
        <p:spPr>
          <a:xfrm>
            <a:off x="5683293" y="3353790"/>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create firmware image (raw file)</a:t>
            </a:r>
            <a:endParaRPr lang="zh-TW" altLang="en-US" sz="1200" dirty="0">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71D5B32C-DD3C-4410-B2D4-1ED69B1B7271}"/>
              </a:ext>
            </a:extLst>
          </p:cNvPr>
          <p:cNvSpPr txBox="1"/>
          <p:nvPr/>
        </p:nvSpPr>
        <p:spPr>
          <a:xfrm>
            <a:off x="7155143" y="4553063"/>
            <a:ext cx="1304011"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use </a:t>
            </a:r>
            <a:r>
              <a:rPr lang="en-US" altLang="zh-TW" sz="1200" dirty="0" err="1">
                <a:solidFill>
                  <a:srgbClr val="000000"/>
                </a:solidFill>
                <a:effectLst/>
                <a:latin typeface="Times New Roman" panose="02020603050405020304" pitchFamily="18" charset="0"/>
                <a:cs typeface="Times New Roman" panose="02020603050405020304" pitchFamily="18" charset="0"/>
              </a:rPr>
              <a:t>qemu</a:t>
            </a:r>
            <a:r>
              <a:rPr lang="en-US" altLang="zh-TW" sz="1200" dirty="0">
                <a:solidFill>
                  <a:srgbClr val="000000"/>
                </a:solidFill>
                <a:effectLst/>
                <a:latin typeface="Times New Roman" panose="02020603050405020304" pitchFamily="18" charset="0"/>
                <a:cs typeface="Times New Roman" panose="02020603050405020304" pitchFamily="18" charset="0"/>
              </a:rPr>
              <a:t> system </a:t>
            </a:r>
          </a:p>
          <a:p>
            <a:r>
              <a:rPr lang="en-US" altLang="zh-TW" sz="1200" dirty="0">
                <a:solidFill>
                  <a:srgbClr val="000000"/>
                </a:solidFill>
                <a:effectLst/>
                <a:latin typeface="Times New Roman" panose="02020603050405020304" pitchFamily="18" charset="0"/>
                <a:cs typeface="Times New Roman" panose="02020603050405020304" pitchFamily="18" charset="0"/>
              </a:rPr>
              <a:t>mode to emulate</a:t>
            </a:r>
            <a:endParaRPr lang="zh-TW" altLang="en-US" sz="1200" dirty="0">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DB6D538E-C27F-4DC9-A607-4931244CF508}"/>
              </a:ext>
            </a:extLst>
          </p:cNvPr>
          <p:cNvSpPr txBox="1"/>
          <p:nvPr/>
        </p:nvSpPr>
        <p:spPr>
          <a:xfrm>
            <a:off x="5272679" y="4763380"/>
            <a:ext cx="1202573"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run.sh</a:t>
            </a:r>
          </a:p>
          <a:p>
            <a:r>
              <a:rPr lang="en-US" altLang="zh-TW" sz="1200" dirty="0">
                <a:solidFill>
                  <a:srgbClr val="000000"/>
                </a:solidFill>
                <a:effectLst/>
                <a:latin typeface="Times New Roman" panose="02020603050405020304" pitchFamily="18" charset="0"/>
                <a:cs typeface="Times New Roman" panose="02020603050405020304" pitchFamily="18" charset="0"/>
              </a:rPr>
              <a:t>(Network, Boot)</a:t>
            </a:r>
            <a:endParaRPr lang="zh-TW" altLang="en-US" sz="1200" dirty="0">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73EDDABE-0459-432E-91F0-036ECD853057}"/>
              </a:ext>
            </a:extLst>
          </p:cNvPr>
          <p:cNvSpPr txBox="1"/>
          <p:nvPr/>
        </p:nvSpPr>
        <p:spPr>
          <a:xfrm>
            <a:off x="6560715" y="5619204"/>
            <a:ext cx="1651414"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firmware image</a:t>
            </a:r>
          </a:p>
          <a:p>
            <a:r>
              <a:rPr lang="en-US" altLang="zh-TW" sz="1200" dirty="0">
                <a:solidFill>
                  <a:srgbClr val="000000"/>
                </a:solidFill>
                <a:effectLst/>
                <a:latin typeface="Times New Roman" panose="02020603050405020304" pitchFamily="18" charset="0"/>
                <a:cs typeface="Times New Roman" panose="02020603050405020304" pitchFamily="18" charset="0"/>
              </a:rPr>
              <a:t>(Kernel, NVRAM)</a:t>
            </a:r>
            <a:endParaRPr lang="zh-TW" altLang="en-US" sz="1200" dirty="0">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2CF22467-8963-4D2A-9D3F-ECFE9C03BC9A}"/>
              </a:ext>
            </a:extLst>
          </p:cNvPr>
          <p:cNvSpPr/>
          <p:nvPr/>
        </p:nvSpPr>
        <p:spPr>
          <a:xfrm>
            <a:off x="2916724" y="2596375"/>
            <a:ext cx="1845776" cy="5490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DBE6CCE5-E4C3-4FEF-B9A8-D5A2DC11C757}"/>
              </a:ext>
            </a:extLst>
          </p:cNvPr>
          <p:cNvSpPr>
            <a:spLocks noGrp="1"/>
          </p:cNvSpPr>
          <p:nvPr>
            <p:ph type="sldNum" sz="quarter" idx="12"/>
          </p:nvPr>
        </p:nvSpPr>
        <p:spPr/>
        <p:txBody>
          <a:bodyPr/>
          <a:lstStyle/>
          <a:p>
            <a:fld id="{7539D880-7677-4E8F-8D1B-ECF4759392EF}" type="slidenum">
              <a:rPr lang="zh-TW" altLang="en-US" smtClean="0"/>
              <a:t>7</a:t>
            </a:fld>
            <a:endParaRPr lang="zh-TW" altLang="en-US"/>
          </a:p>
        </p:txBody>
      </p:sp>
    </p:spTree>
    <p:extLst>
      <p:ext uri="{BB962C8B-B14F-4D97-AF65-F5344CB8AC3E}">
        <p14:creationId xmlns:p14="http://schemas.microsoft.com/office/powerpoint/2010/main" val="4075793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Extractor</a:t>
            </a:r>
          </a:p>
        </p:txBody>
      </p:sp>
      <p:sp>
        <p:nvSpPr>
          <p:cNvPr id="4" name="內容版面配置區 2">
            <a:extLst>
              <a:ext uri="{FF2B5EF4-FFF2-40B4-BE49-F238E27FC236}">
                <a16:creationId xmlns:a16="http://schemas.microsoft.com/office/drawing/2014/main" id="{D62189B7-3143-4608-BEFD-7E6B086CFCD3}"/>
              </a:ext>
            </a:extLst>
          </p:cNvPr>
          <p:cNvSpPr>
            <a:spLocks noGrp="1"/>
          </p:cNvSpPr>
          <p:nvPr>
            <p:ph idx="1"/>
          </p:nvPr>
        </p:nvSpPr>
        <p:spPr>
          <a:xfrm>
            <a:off x="1097280" y="2270013"/>
            <a:ext cx="10058400" cy="1906964"/>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The Extractor module extracts the target firmware to identify the required </a:t>
            </a:r>
            <a:r>
              <a:rPr lang="en-US" altLang="zh-TW" sz="2200" b="1" dirty="0">
                <a:solidFill>
                  <a:srgbClr val="FF0000"/>
                </a:solidFill>
                <a:latin typeface="Times New Roman" panose="02020603050405020304" pitchFamily="18" charset="0"/>
                <a:cs typeface="Times New Roman" panose="02020603050405020304" pitchFamily="18" charset="0"/>
              </a:rPr>
              <a:t>CPU architecture, file structure, and directories </a:t>
            </a:r>
            <a:r>
              <a:rPr lang="en-US" altLang="zh-TW" sz="2200" dirty="0">
                <a:latin typeface="Times New Roman" panose="02020603050405020304" pitchFamily="18" charset="0"/>
                <a:cs typeface="Times New Roman" panose="02020603050405020304" pitchFamily="18" charset="0"/>
              </a:rPr>
              <a:t>needed during execution.</a:t>
            </a:r>
          </a:p>
        </p:txBody>
      </p:sp>
      <p:sp>
        <p:nvSpPr>
          <p:cNvPr id="7" name="投影片編號版面配置區 6">
            <a:extLst>
              <a:ext uri="{FF2B5EF4-FFF2-40B4-BE49-F238E27FC236}">
                <a16:creationId xmlns:a16="http://schemas.microsoft.com/office/drawing/2014/main" id="{41F67E89-0113-4DB9-B78B-0AFDB0CD9D0E}"/>
              </a:ext>
            </a:extLst>
          </p:cNvPr>
          <p:cNvSpPr>
            <a:spLocks noGrp="1"/>
          </p:cNvSpPr>
          <p:nvPr>
            <p:ph type="sldNum" sz="quarter" idx="12"/>
          </p:nvPr>
        </p:nvSpPr>
        <p:spPr/>
        <p:txBody>
          <a:bodyPr/>
          <a:lstStyle/>
          <a:p>
            <a:fld id="{7539D880-7677-4E8F-8D1B-ECF4759392EF}" type="slidenum">
              <a:rPr lang="zh-TW" altLang="en-US" smtClean="0"/>
              <a:t>8</a:t>
            </a:fld>
            <a:endParaRPr lang="zh-TW" altLang="en-US"/>
          </a:p>
        </p:txBody>
      </p:sp>
    </p:spTree>
    <p:extLst>
      <p:ext uri="{BB962C8B-B14F-4D97-AF65-F5344CB8AC3E}">
        <p14:creationId xmlns:p14="http://schemas.microsoft.com/office/powerpoint/2010/main" val="2702357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Proposed Approach</a:t>
            </a:r>
            <a:endParaRPr lang="zh-TW" altLang="en-US" dirty="0"/>
          </a:p>
        </p:txBody>
      </p:sp>
      <p:grpSp>
        <p:nvGrpSpPr>
          <p:cNvPr id="3" name="群組 2">
            <a:extLst>
              <a:ext uri="{FF2B5EF4-FFF2-40B4-BE49-F238E27FC236}">
                <a16:creationId xmlns:a16="http://schemas.microsoft.com/office/drawing/2014/main" id="{1C3C0809-1FAB-4A17-A9E4-714AB9C6F77A}"/>
              </a:ext>
            </a:extLst>
          </p:cNvPr>
          <p:cNvGrpSpPr/>
          <p:nvPr/>
        </p:nvGrpSpPr>
        <p:grpSpPr>
          <a:xfrm>
            <a:off x="9481828" y="641621"/>
            <a:ext cx="1673852" cy="964880"/>
            <a:chOff x="9481828" y="641621"/>
            <a:chExt cx="1673852" cy="964880"/>
          </a:xfrm>
        </p:grpSpPr>
        <p:sp>
          <p:nvSpPr>
            <p:cNvPr id="22" name="矩形: 圓角 21">
              <a:extLst>
                <a:ext uri="{FF2B5EF4-FFF2-40B4-BE49-F238E27FC236}">
                  <a16:creationId xmlns:a16="http://schemas.microsoft.com/office/drawing/2014/main" id="{5B7BB268-CCA2-98E2-7893-CD21A77D9B52}"/>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63B9DF2A-9BB5-2DC1-2BEE-B95EDFEF7E43}"/>
                </a:ext>
              </a:extLst>
            </p:cNvPr>
            <p:cNvSpPr txBox="1"/>
            <p:nvPr/>
          </p:nvSpPr>
          <p:spPr>
            <a:xfrm>
              <a:off x="10316947" y="741961"/>
              <a:ext cx="838733"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Original</a:t>
              </a:r>
            </a:p>
          </p:txBody>
        </p:sp>
        <p:sp>
          <p:nvSpPr>
            <p:cNvPr id="24" name="矩形 23">
              <a:extLst>
                <a:ext uri="{FF2B5EF4-FFF2-40B4-BE49-F238E27FC236}">
                  <a16:creationId xmlns:a16="http://schemas.microsoft.com/office/drawing/2014/main" id="{6DE83CB9-642B-DEF8-2532-82C69F36AAFB}"/>
                </a:ext>
              </a:extLst>
            </p:cNvPr>
            <p:cNvSpPr/>
            <p:nvPr/>
          </p:nvSpPr>
          <p:spPr>
            <a:xfrm>
              <a:off x="9695753" y="806418"/>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8E64E208-FB7D-A98D-1F3E-B4A302762281}"/>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4" name="矩形 3">
            <a:extLst>
              <a:ext uri="{FF2B5EF4-FFF2-40B4-BE49-F238E27FC236}">
                <a16:creationId xmlns:a16="http://schemas.microsoft.com/office/drawing/2014/main" id="{7506B631-C75A-45B4-A763-72651D3C0150}"/>
              </a:ext>
            </a:extLst>
          </p:cNvPr>
          <p:cNvSpPr/>
          <p:nvPr/>
        </p:nvSpPr>
        <p:spPr>
          <a:xfrm>
            <a:off x="2099068" y="1876529"/>
            <a:ext cx="7867142" cy="4244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6CD24C50-1A54-46A0-B342-87D1802D0224}"/>
              </a:ext>
            </a:extLst>
          </p:cNvPr>
          <p:cNvSpPr/>
          <p:nvPr/>
        </p:nvSpPr>
        <p:spPr>
          <a:xfrm>
            <a:off x="2363378" y="2282346"/>
            <a:ext cx="2889505" cy="362233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chemeClr val="tx1"/>
                </a:solidFill>
                <a:prstDash val="dash"/>
              </a:ln>
            </a:endParaRPr>
          </a:p>
        </p:txBody>
      </p:sp>
      <p:sp>
        <p:nvSpPr>
          <p:cNvPr id="20" name="矩形 19">
            <a:extLst>
              <a:ext uri="{FF2B5EF4-FFF2-40B4-BE49-F238E27FC236}">
                <a16:creationId xmlns:a16="http://schemas.microsoft.com/office/drawing/2014/main" id="{86CE12FC-EA26-4E2E-8866-A23B311B9653}"/>
              </a:ext>
            </a:extLst>
          </p:cNvPr>
          <p:cNvSpPr/>
          <p:nvPr/>
        </p:nvSpPr>
        <p:spPr>
          <a:xfrm>
            <a:off x="3186252" y="3440564"/>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ImageMaker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23141508-95F3-411C-A278-F1483B808910}"/>
              </a:ext>
            </a:extLst>
          </p:cNvPr>
          <p:cNvSpPr/>
          <p:nvPr/>
        </p:nvSpPr>
        <p:spPr>
          <a:xfrm>
            <a:off x="3191739" y="2668803"/>
            <a:ext cx="1243754"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Extractor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20F3F8D0-3E4A-479B-9143-B7BC8D2118D2}"/>
              </a:ext>
            </a:extLst>
          </p:cNvPr>
          <p:cNvSpPr/>
          <p:nvPr/>
        </p:nvSpPr>
        <p:spPr>
          <a:xfrm>
            <a:off x="3186252" y="4212325"/>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Emulator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DF34AD28-0F13-45FD-BBDE-56F391155199}"/>
              </a:ext>
            </a:extLst>
          </p:cNvPr>
          <p:cNvCxnSpPr>
            <a:cxnSpLocks/>
            <a:stCxn id="21" idx="2"/>
            <a:endCxn id="20" idx="0"/>
          </p:cNvCxnSpPr>
          <p:nvPr/>
        </p:nvCxnSpPr>
        <p:spPr>
          <a:xfrm flipH="1">
            <a:off x="3808130" y="3085546"/>
            <a:ext cx="5486"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C966C9B6-50C1-4054-BDDB-3633CD711C55}"/>
              </a:ext>
            </a:extLst>
          </p:cNvPr>
          <p:cNvCxnSpPr>
            <a:cxnSpLocks/>
            <a:stCxn id="20" idx="2"/>
            <a:endCxn id="26" idx="0"/>
          </p:cNvCxnSpPr>
          <p:nvPr/>
        </p:nvCxnSpPr>
        <p:spPr>
          <a:xfrm>
            <a:off x="3808130" y="3857307"/>
            <a:ext cx="0"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E3D5741F-1B09-4FB1-B89B-7B59B03F1DBC}"/>
              </a:ext>
            </a:extLst>
          </p:cNvPr>
          <p:cNvSpPr/>
          <p:nvPr/>
        </p:nvSpPr>
        <p:spPr>
          <a:xfrm>
            <a:off x="3186252" y="4978374"/>
            <a:ext cx="1243755"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Arbitration</a:t>
            </a:r>
          </a:p>
        </p:txBody>
      </p:sp>
      <p:cxnSp>
        <p:nvCxnSpPr>
          <p:cNvPr id="47" name="直線單箭頭接點 46">
            <a:extLst>
              <a:ext uri="{FF2B5EF4-FFF2-40B4-BE49-F238E27FC236}">
                <a16:creationId xmlns:a16="http://schemas.microsoft.com/office/drawing/2014/main" id="{2BD6F151-8F7E-497C-9E64-469C8C9D368C}"/>
              </a:ext>
            </a:extLst>
          </p:cNvPr>
          <p:cNvCxnSpPr>
            <a:cxnSpLocks/>
            <a:stCxn id="26" idx="2"/>
            <a:endCxn id="45" idx="0"/>
          </p:cNvCxnSpPr>
          <p:nvPr/>
        </p:nvCxnSpPr>
        <p:spPr>
          <a:xfrm>
            <a:off x="3808130" y="4629068"/>
            <a:ext cx="0" cy="3493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文字方塊 41">
            <a:extLst>
              <a:ext uri="{FF2B5EF4-FFF2-40B4-BE49-F238E27FC236}">
                <a16:creationId xmlns:a16="http://schemas.microsoft.com/office/drawing/2014/main" id="{72511417-0113-4A59-84CE-CA0F366B6284}"/>
              </a:ext>
            </a:extLst>
          </p:cNvPr>
          <p:cNvSpPr txBox="1"/>
          <p:nvPr/>
        </p:nvSpPr>
        <p:spPr>
          <a:xfrm>
            <a:off x="3808129" y="310594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27812F9F-298C-4C76-AF83-156F7E3767B6}"/>
              </a:ext>
            </a:extLst>
          </p:cNvPr>
          <p:cNvSpPr txBox="1"/>
          <p:nvPr/>
        </p:nvSpPr>
        <p:spPr>
          <a:xfrm>
            <a:off x="3808129" y="389346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EFD596E7-EA0A-471F-BB1B-1767E43BECE8}"/>
              </a:ext>
            </a:extLst>
          </p:cNvPr>
          <p:cNvSpPr txBox="1"/>
          <p:nvPr/>
        </p:nvSpPr>
        <p:spPr>
          <a:xfrm>
            <a:off x="3463323" y="2337075"/>
            <a:ext cx="689612" cy="276999"/>
          </a:xfrm>
          <a:prstGeom prst="rect">
            <a:avLst/>
          </a:prstGeom>
          <a:noFill/>
        </p:spPr>
        <p:txBody>
          <a:bodyPr wrap="none" rtlCol="0">
            <a:spAutoFit/>
          </a:bodyPr>
          <a:lstStyle/>
          <a:p>
            <a:r>
              <a:rPr lang="en-US" altLang="zh-TW" sz="1200" dirty="0" err="1">
                <a:latin typeface="Times New Roman" panose="02020603050405020304" pitchFamily="18" charset="0"/>
                <a:cs typeface="Times New Roman" panose="02020603050405020304" pitchFamily="18" charset="0"/>
              </a:rPr>
              <a:t>FirmAE</a:t>
            </a:r>
            <a:endParaRPr lang="zh-TW" altLang="en-US" sz="1200" dirty="0">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242DA01A-F27D-4CB7-BE2B-2E352ED021EE}"/>
              </a:ext>
            </a:extLst>
          </p:cNvPr>
          <p:cNvSpPr txBox="1"/>
          <p:nvPr/>
        </p:nvSpPr>
        <p:spPr>
          <a:xfrm>
            <a:off x="2256823" y="1940938"/>
            <a:ext cx="1689886"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VM (running on Linux)</a:t>
            </a:r>
            <a:endParaRPr lang="zh-TW" altLang="en-US" sz="1200" dirty="0">
              <a:latin typeface="Times New Roman" panose="02020603050405020304" pitchFamily="18" charset="0"/>
              <a:cs typeface="Times New Roman" panose="02020603050405020304" pitchFamily="18" charset="0"/>
            </a:endParaRPr>
          </a:p>
        </p:txBody>
      </p:sp>
      <p:sp>
        <p:nvSpPr>
          <p:cNvPr id="54" name="矩形 53">
            <a:extLst>
              <a:ext uri="{FF2B5EF4-FFF2-40B4-BE49-F238E27FC236}">
                <a16:creationId xmlns:a16="http://schemas.microsoft.com/office/drawing/2014/main" id="{C29B2377-93D4-4DD2-B8EA-13D06C6397AC}"/>
              </a:ext>
            </a:extLst>
          </p:cNvPr>
          <p:cNvSpPr/>
          <p:nvPr/>
        </p:nvSpPr>
        <p:spPr>
          <a:xfrm>
            <a:off x="6075758" y="4212325"/>
            <a:ext cx="1243754"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run.sh</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5" name="直線單箭頭接點 54">
            <a:extLst>
              <a:ext uri="{FF2B5EF4-FFF2-40B4-BE49-F238E27FC236}">
                <a16:creationId xmlns:a16="http://schemas.microsoft.com/office/drawing/2014/main" id="{F2D56DBB-5838-4C59-AD35-57801B75D505}"/>
              </a:ext>
            </a:extLst>
          </p:cNvPr>
          <p:cNvCxnSpPr>
            <a:cxnSpLocks/>
            <a:stCxn id="26" idx="3"/>
            <a:endCxn id="54" idx="1"/>
          </p:cNvCxnSpPr>
          <p:nvPr/>
        </p:nvCxnSpPr>
        <p:spPr>
          <a:xfrm>
            <a:off x="4430007" y="4420697"/>
            <a:ext cx="1645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a:extLst>
              <a:ext uri="{FF2B5EF4-FFF2-40B4-BE49-F238E27FC236}">
                <a16:creationId xmlns:a16="http://schemas.microsoft.com/office/drawing/2014/main" id="{CE16D1D1-6DB3-44D5-AB1D-6C5B3A0C0062}"/>
              </a:ext>
            </a:extLst>
          </p:cNvPr>
          <p:cNvCxnSpPr>
            <a:cxnSpLocks/>
            <a:stCxn id="45" idx="3"/>
            <a:endCxn id="54" idx="2"/>
          </p:cNvCxnSpPr>
          <p:nvPr/>
        </p:nvCxnSpPr>
        <p:spPr>
          <a:xfrm flipV="1">
            <a:off x="4430007" y="4629068"/>
            <a:ext cx="2267628" cy="55767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0" name="矩形 59">
            <a:extLst>
              <a:ext uri="{FF2B5EF4-FFF2-40B4-BE49-F238E27FC236}">
                <a16:creationId xmlns:a16="http://schemas.microsoft.com/office/drawing/2014/main" id="{E74E5974-84AC-4D01-90AC-0B95F5C9299A}"/>
              </a:ext>
            </a:extLst>
          </p:cNvPr>
          <p:cNvSpPr/>
          <p:nvPr/>
        </p:nvSpPr>
        <p:spPr>
          <a:xfrm>
            <a:off x="8295581" y="5387104"/>
            <a:ext cx="1243754" cy="517579"/>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firmware image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1" name="直線單箭頭接點 56">
            <a:extLst>
              <a:ext uri="{FF2B5EF4-FFF2-40B4-BE49-F238E27FC236}">
                <a16:creationId xmlns:a16="http://schemas.microsoft.com/office/drawing/2014/main" id="{758D6DDB-EABF-48B4-B9B8-14658C8A6350}"/>
              </a:ext>
            </a:extLst>
          </p:cNvPr>
          <p:cNvCxnSpPr>
            <a:cxnSpLocks/>
            <a:stCxn id="45" idx="2"/>
            <a:endCxn id="60" idx="1"/>
          </p:cNvCxnSpPr>
          <p:nvPr/>
        </p:nvCxnSpPr>
        <p:spPr>
          <a:xfrm rot="16200000" flipH="1">
            <a:off x="5926467" y="3276779"/>
            <a:ext cx="250777" cy="448745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矩形 64">
            <a:extLst>
              <a:ext uri="{FF2B5EF4-FFF2-40B4-BE49-F238E27FC236}">
                <a16:creationId xmlns:a16="http://schemas.microsoft.com/office/drawing/2014/main" id="{C887DEA9-0DE7-451A-9123-8FB5594458D1}"/>
              </a:ext>
            </a:extLst>
          </p:cNvPr>
          <p:cNvSpPr/>
          <p:nvPr/>
        </p:nvSpPr>
        <p:spPr>
          <a:xfrm>
            <a:off x="8031522" y="2646690"/>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target firmware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9FEE233B-29E6-4408-B9C1-4F73E3F660F2}"/>
              </a:ext>
            </a:extLst>
          </p:cNvPr>
          <p:cNvCxnSpPr>
            <a:cxnSpLocks/>
            <a:stCxn id="21" idx="3"/>
            <a:endCxn id="65" idx="1"/>
          </p:cNvCxnSpPr>
          <p:nvPr/>
        </p:nvCxnSpPr>
        <p:spPr>
          <a:xfrm>
            <a:off x="4435493" y="2877175"/>
            <a:ext cx="3596029" cy="3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615CB171-E12D-4E66-ABF3-1DAB5413DB2E}"/>
              </a:ext>
            </a:extLst>
          </p:cNvPr>
          <p:cNvSpPr/>
          <p:nvPr/>
        </p:nvSpPr>
        <p:spPr>
          <a:xfrm>
            <a:off x="8294787" y="4186891"/>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Qemu</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71" name="直線單箭頭接點 56">
            <a:extLst>
              <a:ext uri="{FF2B5EF4-FFF2-40B4-BE49-F238E27FC236}">
                <a16:creationId xmlns:a16="http://schemas.microsoft.com/office/drawing/2014/main" id="{575488B9-E8F1-405D-916E-B5E02D9A5CDC}"/>
              </a:ext>
            </a:extLst>
          </p:cNvPr>
          <p:cNvCxnSpPr>
            <a:cxnSpLocks/>
            <a:stCxn id="69" idx="2"/>
            <a:endCxn id="60" idx="0"/>
          </p:cNvCxnSpPr>
          <p:nvPr/>
        </p:nvCxnSpPr>
        <p:spPr>
          <a:xfrm rot="16200000" flipH="1">
            <a:off x="8550760" y="5020405"/>
            <a:ext cx="732603" cy="7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8" name="文字方塊 77">
            <a:extLst>
              <a:ext uri="{FF2B5EF4-FFF2-40B4-BE49-F238E27FC236}">
                <a16:creationId xmlns:a16="http://schemas.microsoft.com/office/drawing/2014/main" id="{67C345E0-2A93-4157-B046-69E019C557AA}"/>
              </a:ext>
            </a:extLst>
          </p:cNvPr>
          <p:cNvSpPr txBox="1"/>
          <p:nvPr/>
        </p:nvSpPr>
        <p:spPr>
          <a:xfrm>
            <a:off x="10316947" y="1069315"/>
            <a:ext cx="895536"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Modified</a:t>
            </a:r>
          </a:p>
        </p:txBody>
      </p:sp>
      <p:sp>
        <p:nvSpPr>
          <p:cNvPr id="79" name="矩形 78">
            <a:extLst>
              <a:ext uri="{FF2B5EF4-FFF2-40B4-BE49-F238E27FC236}">
                <a16:creationId xmlns:a16="http://schemas.microsoft.com/office/drawing/2014/main" id="{42931875-9988-48B4-AF0C-D2BE88890AF5}"/>
              </a:ext>
            </a:extLst>
          </p:cNvPr>
          <p:cNvSpPr/>
          <p:nvPr/>
        </p:nvSpPr>
        <p:spPr>
          <a:xfrm>
            <a:off x="9695753" y="1133772"/>
            <a:ext cx="540914" cy="170037"/>
          </a:xfrm>
          <a:prstGeom prst="rect">
            <a:avLst/>
          </a:prstGeom>
          <a:solidFill>
            <a:schemeClr val="bg1">
              <a:lumMod val="65000"/>
            </a:schemeClr>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45E7E629-36D6-4727-8CF6-4B39DBA4F43F}"/>
              </a:ext>
            </a:extLst>
          </p:cNvPr>
          <p:cNvSpPr txBox="1"/>
          <p:nvPr/>
        </p:nvSpPr>
        <p:spPr>
          <a:xfrm>
            <a:off x="5392835" y="2577719"/>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extract the tar file and kernel file </a:t>
            </a:r>
            <a:endParaRPr lang="zh-TW" altLang="en-US" sz="1200" dirty="0">
              <a:latin typeface="Times New Roman" panose="02020603050405020304" pitchFamily="18" charset="0"/>
              <a:cs typeface="Times New Roman" panose="02020603050405020304" pitchFamily="18" charset="0"/>
            </a:endParaRPr>
          </a:p>
        </p:txBody>
      </p:sp>
      <p:cxnSp>
        <p:nvCxnSpPr>
          <p:cNvPr id="81" name="直線單箭頭接點 80">
            <a:extLst>
              <a:ext uri="{FF2B5EF4-FFF2-40B4-BE49-F238E27FC236}">
                <a16:creationId xmlns:a16="http://schemas.microsoft.com/office/drawing/2014/main" id="{2AE79517-CB2C-4242-9B26-5E7D7913193F}"/>
              </a:ext>
            </a:extLst>
          </p:cNvPr>
          <p:cNvCxnSpPr>
            <a:cxnSpLocks/>
            <a:stCxn id="20" idx="3"/>
            <a:endCxn id="60" idx="3"/>
          </p:cNvCxnSpPr>
          <p:nvPr/>
        </p:nvCxnSpPr>
        <p:spPr>
          <a:xfrm>
            <a:off x="4430007" y="3648936"/>
            <a:ext cx="5109328" cy="1996958"/>
          </a:xfrm>
          <a:prstGeom prst="bentConnector3">
            <a:avLst>
              <a:gd name="adj1" fmla="val 104474"/>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單箭頭接點 80">
            <a:extLst>
              <a:ext uri="{FF2B5EF4-FFF2-40B4-BE49-F238E27FC236}">
                <a16:creationId xmlns:a16="http://schemas.microsoft.com/office/drawing/2014/main" id="{20866966-9D45-484D-9143-8322BE519FD6}"/>
              </a:ext>
            </a:extLst>
          </p:cNvPr>
          <p:cNvCxnSpPr>
            <a:cxnSpLocks/>
            <a:stCxn id="54" idx="3"/>
            <a:endCxn id="69" idx="1"/>
          </p:cNvCxnSpPr>
          <p:nvPr/>
        </p:nvCxnSpPr>
        <p:spPr>
          <a:xfrm flipV="1">
            <a:off x="7319512" y="4420696"/>
            <a:ext cx="975275"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文字方塊 114">
            <a:extLst>
              <a:ext uri="{FF2B5EF4-FFF2-40B4-BE49-F238E27FC236}">
                <a16:creationId xmlns:a16="http://schemas.microsoft.com/office/drawing/2014/main" id="{16A913D8-E8EA-49FB-BA55-A96F35A25A76}"/>
              </a:ext>
            </a:extLst>
          </p:cNvPr>
          <p:cNvSpPr txBox="1"/>
          <p:nvPr/>
        </p:nvSpPr>
        <p:spPr>
          <a:xfrm>
            <a:off x="5683293" y="3353790"/>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create firmware image (raw file)</a:t>
            </a:r>
            <a:endParaRPr lang="zh-TW" altLang="en-US" sz="1200" dirty="0">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71D5B32C-DD3C-4410-B2D4-1ED69B1B7271}"/>
              </a:ext>
            </a:extLst>
          </p:cNvPr>
          <p:cNvSpPr txBox="1"/>
          <p:nvPr/>
        </p:nvSpPr>
        <p:spPr>
          <a:xfrm>
            <a:off x="7155143" y="4553063"/>
            <a:ext cx="1304011"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use </a:t>
            </a:r>
            <a:r>
              <a:rPr lang="en-US" altLang="zh-TW" sz="1200" dirty="0" err="1">
                <a:solidFill>
                  <a:srgbClr val="000000"/>
                </a:solidFill>
                <a:effectLst/>
                <a:latin typeface="Times New Roman" panose="02020603050405020304" pitchFamily="18" charset="0"/>
                <a:cs typeface="Times New Roman" panose="02020603050405020304" pitchFamily="18" charset="0"/>
              </a:rPr>
              <a:t>qemu</a:t>
            </a:r>
            <a:r>
              <a:rPr lang="en-US" altLang="zh-TW" sz="1200" dirty="0">
                <a:solidFill>
                  <a:srgbClr val="000000"/>
                </a:solidFill>
                <a:effectLst/>
                <a:latin typeface="Times New Roman" panose="02020603050405020304" pitchFamily="18" charset="0"/>
                <a:cs typeface="Times New Roman" panose="02020603050405020304" pitchFamily="18" charset="0"/>
              </a:rPr>
              <a:t> system </a:t>
            </a:r>
          </a:p>
          <a:p>
            <a:r>
              <a:rPr lang="en-US" altLang="zh-TW" sz="1200" dirty="0">
                <a:solidFill>
                  <a:srgbClr val="000000"/>
                </a:solidFill>
                <a:effectLst/>
                <a:latin typeface="Times New Roman" panose="02020603050405020304" pitchFamily="18" charset="0"/>
                <a:cs typeface="Times New Roman" panose="02020603050405020304" pitchFamily="18" charset="0"/>
              </a:rPr>
              <a:t>mode to emulate</a:t>
            </a:r>
            <a:endParaRPr lang="zh-TW" altLang="en-US" sz="1200" dirty="0">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DB6D538E-C27F-4DC9-A607-4931244CF508}"/>
              </a:ext>
            </a:extLst>
          </p:cNvPr>
          <p:cNvSpPr txBox="1"/>
          <p:nvPr/>
        </p:nvSpPr>
        <p:spPr>
          <a:xfrm>
            <a:off x="5272679" y="4763380"/>
            <a:ext cx="1202573"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run.sh</a:t>
            </a:r>
          </a:p>
          <a:p>
            <a:r>
              <a:rPr lang="en-US" altLang="zh-TW" sz="1200" dirty="0">
                <a:solidFill>
                  <a:srgbClr val="000000"/>
                </a:solidFill>
                <a:effectLst/>
                <a:latin typeface="Times New Roman" panose="02020603050405020304" pitchFamily="18" charset="0"/>
                <a:cs typeface="Times New Roman" panose="02020603050405020304" pitchFamily="18" charset="0"/>
              </a:rPr>
              <a:t>(Network, Boot)</a:t>
            </a:r>
            <a:endParaRPr lang="zh-TW" altLang="en-US" sz="1200" dirty="0">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73EDDABE-0459-432E-91F0-036ECD853057}"/>
              </a:ext>
            </a:extLst>
          </p:cNvPr>
          <p:cNvSpPr txBox="1"/>
          <p:nvPr/>
        </p:nvSpPr>
        <p:spPr>
          <a:xfrm>
            <a:off x="6560715" y="5619204"/>
            <a:ext cx="1651414"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firmware image</a:t>
            </a:r>
          </a:p>
          <a:p>
            <a:r>
              <a:rPr lang="en-US" altLang="zh-TW" sz="1200" dirty="0">
                <a:solidFill>
                  <a:srgbClr val="000000"/>
                </a:solidFill>
                <a:effectLst/>
                <a:latin typeface="Times New Roman" panose="02020603050405020304" pitchFamily="18" charset="0"/>
                <a:cs typeface="Times New Roman" panose="02020603050405020304" pitchFamily="18" charset="0"/>
              </a:rPr>
              <a:t>(Kernel, NVRAM)</a:t>
            </a:r>
            <a:endParaRPr lang="zh-TW" altLang="en-US" sz="1200" dirty="0">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BD0B5F4D-29EE-47D2-8B8B-753A920A36A5}"/>
              </a:ext>
            </a:extLst>
          </p:cNvPr>
          <p:cNvSpPr/>
          <p:nvPr/>
        </p:nvSpPr>
        <p:spPr>
          <a:xfrm>
            <a:off x="3023439" y="3374412"/>
            <a:ext cx="1623543" cy="5490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900113FF-0793-421E-A7DC-7CA115661206}"/>
              </a:ext>
            </a:extLst>
          </p:cNvPr>
          <p:cNvSpPr>
            <a:spLocks noGrp="1"/>
          </p:cNvSpPr>
          <p:nvPr>
            <p:ph type="sldNum" sz="quarter" idx="12"/>
          </p:nvPr>
        </p:nvSpPr>
        <p:spPr/>
        <p:txBody>
          <a:bodyPr/>
          <a:lstStyle/>
          <a:p>
            <a:fld id="{7539D880-7677-4E8F-8D1B-ECF4759392EF}" type="slidenum">
              <a:rPr lang="zh-TW" altLang="en-US" smtClean="0"/>
              <a:t>9</a:t>
            </a:fld>
            <a:endParaRPr lang="zh-TW" altLang="en-US"/>
          </a:p>
        </p:txBody>
      </p:sp>
    </p:spTree>
    <p:extLst>
      <p:ext uri="{BB962C8B-B14F-4D97-AF65-F5344CB8AC3E}">
        <p14:creationId xmlns:p14="http://schemas.microsoft.com/office/powerpoint/2010/main" val="1007679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err="1">
                <a:solidFill>
                  <a:schemeClr val="dk1"/>
                </a:solidFill>
                <a:latin typeface="Times New Roman"/>
                <a:ea typeface="Times New Roman"/>
                <a:cs typeface="Times New Roman"/>
                <a:sym typeface="Times New Roman"/>
              </a:rPr>
              <a:t>ImageMaker</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7E2D6930-8574-40BD-ABA4-8A5F8B7638F5}"/>
              </a:ext>
            </a:extLst>
          </p:cNvPr>
          <p:cNvSpPr>
            <a:spLocks noGrp="1"/>
          </p:cNvSpPr>
          <p:nvPr>
            <p:ph idx="1"/>
          </p:nvPr>
        </p:nvSpPr>
        <p:spPr>
          <a:xfrm>
            <a:off x="1097280" y="2270013"/>
            <a:ext cx="10058400" cy="1906964"/>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The </a:t>
            </a:r>
            <a:r>
              <a:rPr lang="en-US" altLang="zh-TW" sz="2200" dirty="0" err="1">
                <a:latin typeface="Times New Roman" panose="02020603050405020304" pitchFamily="18" charset="0"/>
                <a:cs typeface="Times New Roman" panose="02020603050405020304" pitchFamily="18" charset="0"/>
              </a:rPr>
              <a:t>ImageMaker</a:t>
            </a:r>
            <a:r>
              <a:rPr lang="en-US" altLang="zh-TW" sz="2200" dirty="0">
                <a:latin typeface="Times New Roman" panose="02020603050405020304" pitchFamily="18" charset="0"/>
                <a:cs typeface="Times New Roman" panose="02020603050405020304" pitchFamily="18" charset="0"/>
              </a:rPr>
              <a:t> module processes the file system and data extracted by the Extractor module to generate a firmware image.</a:t>
            </a:r>
          </a:p>
        </p:txBody>
      </p:sp>
      <p:sp>
        <p:nvSpPr>
          <p:cNvPr id="7" name="投影片編號版面配置區 6">
            <a:extLst>
              <a:ext uri="{FF2B5EF4-FFF2-40B4-BE49-F238E27FC236}">
                <a16:creationId xmlns:a16="http://schemas.microsoft.com/office/drawing/2014/main" id="{C4E88EE5-9446-4F1F-897C-9340BDED9D96}"/>
              </a:ext>
            </a:extLst>
          </p:cNvPr>
          <p:cNvSpPr>
            <a:spLocks noGrp="1"/>
          </p:cNvSpPr>
          <p:nvPr>
            <p:ph type="sldNum" sz="quarter" idx="12"/>
          </p:nvPr>
        </p:nvSpPr>
        <p:spPr/>
        <p:txBody>
          <a:bodyPr/>
          <a:lstStyle/>
          <a:p>
            <a:fld id="{7539D880-7677-4E8F-8D1B-ECF4759392EF}" type="slidenum">
              <a:rPr lang="zh-TW" altLang="en-US" smtClean="0"/>
              <a:t>10</a:t>
            </a:fld>
            <a:endParaRPr lang="zh-TW" altLang="en-US"/>
          </a:p>
        </p:txBody>
      </p:sp>
    </p:spTree>
    <p:extLst>
      <p:ext uri="{BB962C8B-B14F-4D97-AF65-F5344CB8AC3E}">
        <p14:creationId xmlns:p14="http://schemas.microsoft.com/office/powerpoint/2010/main" val="2694660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Proposed Approach</a:t>
            </a:r>
            <a:endParaRPr lang="zh-TW" altLang="en-US" dirty="0"/>
          </a:p>
        </p:txBody>
      </p:sp>
      <p:grpSp>
        <p:nvGrpSpPr>
          <p:cNvPr id="3" name="群組 2">
            <a:extLst>
              <a:ext uri="{FF2B5EF4-FFF2-40B4-BE49-F238E27FC236}">
                <a16:creationId xmlns:a16="http://schemas.microsoft.com/office/drawing/2014/main" id="{1C3C0809-1FAB-4A17-A9E4-714AB9C6F77A}"/>
              </a:ext>
            </a:extLst>
          </p:cNvPr>
          <p:cNvGrpSpPr/>
          <p:nvPr/>
        </p:nvGrpSpPr>
        <p:grpSpPr>
          <a:xfrm>
            <a:off x="9481828" y="641621"/>
            <a:ext cx="1673852" cy="964880"/>
            <a:chOff x="9481828" y="641621"/>
            <a:chExt cx="1673852" cy="964880"/>
          </a:xfrm>
        </p:grpSpPr>
        <p:sp>
          <p:nvSpPr>
            <p:cNvPr id="22" name="矩形: 圓角 21">
              <a:extLst>
                <a:ext uri="{FF2B5EF4-FFF2-40B4-BE49-F238E27FC236}">
                  <a16:creationId xmlns:a16="http://schemas.microsoft.com/office/drawing/2014/main" id="{5B7BB268-CCA2-98E2-7893-CD21A77D9B52}"/>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63B9DF2A-9BB5-2DC1-2BEE-B95EDFEF7E43}"/>
                </a:ext>
              </a:extLst>
            </p:cNvPr>
            <p:cNvSpPr txBox="1"/>
            <p:nvPr/>
          </p:nvSpPr>
          <p:spPr>
            <a:xfrm>
              <a:off x="10316947" y="741961"/>
              <a:ext cx="838733"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Original</a:t>
              </a:r>
            </a:p>
          </p:txBody>
        </p:sp>
        <p:sp>
          <p:nvSpPr>
            <p:cNvPr id="24" name="矩形 23">
              <a:extLst>
                <a:ext uri="{FF2B5EF4-FFF2-40B4-BE49-F238E27FC236}">
                  <a16:creationId xmlns:a16="http://schemas.microsoft.com/office/drawing/2014/main" id="{6DE83CB9-642B-DEF8-2532-82C69F36AAFB}"/>
                </a:ext>
              </a:extLst>
            </p:cNvPr>
            <p:cNvSpPr/>
            <p:nvPr/>
          </p:nvSpPr>
          <p:spPr>
            <a:xfrm>
              <a:off x="9695753" y="806418"/>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8E64E208-FB7D-A98D-1F3E-B4A302762281}"/>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4" name="矩形 3">
            <a:extLst>
              <a:ext uri="{FF2B5EF4-FFF2-40B4-BE49-F238E27FC236}">
                <a16:creationId xmlns:a16="http://schemas.microsoft.com/office/drawing/2014/main" id="{7506B631-C75A-45B4-A763-72651D3C0150}"/>
              </a:ext>
            </a:extLst>
          </p:cNvPr>
          <p:cNvSpPr/>
          <p:nvPr/>
        </p:nvSpPr>
        <p:spPr>
          <a:xfrm>
            <a:off x="2099068" y="1876529"/>
            <a:ext cx="7867142" cy="4244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6CD24C50-1A54-46A0-B342-87D1802D0224}"/>
              </a:ext>
            </a:extLst>
          </p:cNvPr>
          <p:cNvSpPr/>
          <p:nvPr/>
        </p:nvSpPr>
        <p:spPr>
          <a:xfrm>
            <a:off x="2363378" y="2282346"/>
            <a:ext cx="2889505" cy="362233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chemeClr val="tx1"/>
                </a:solidFill>
                <a:prstDash val="dash"/>
              </a:ln>
            </a:endParaRPr>
          </a:p>
        </p:txBody>
      </p:sp>
      <p:sp>
        <p:nvSpPr>
          <p:cNvPr id="20" name="矩形 19">
            <a:extLst>
              <a:ext uri="{FF2B5EF4-FFF2-40B4-BE49-F238E27FC236}">
                <a16:creationId xmlns:a16="http://schemas.microsoft.com/office/drawing/2014/main" id="{86CE12FC-EA26-4E2E-8866-A23B311B9653}"/>
              </a:ext>
            </a:extLst>
          </p:cNvPr>
          <p:cNvSpPr/>
          <p:nvPr/>
        </p:nvSpPr>
        <p:spPr>
          <a:xfrm>
            <a:off x="3186252" y="3440564"/>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ImageMaker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23141508-95F3-411C-A278-F1483B808910}"/>
              </a:ext>
            </a:extLst>
          </p:cNvPr>
          <p:cNvSpPr/>
          <p:nvPr/>
        </p:nvSpPr>
        <p:spPr>
          <a:xfrm>
            <a:off x="3191739" y="2668803"/>
            <a:ext cx="1243754"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Extractor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20F3F8D0-3E4A-479B-9143-B7BC8D2118D2}"/>
              </a:ext>
            </a:extLst>
          </p:cNvPr>
          <p:cNvSpPr/>
          <p:nvPr/>
        </p:nvSpPr>
        <p:spPr>
          <a:xfrm>
            <a:off x="3186252" y="4212325"/>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Emulator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DF34AD28-0F13-45FD-BBDE-56F391155199}"/>
              </a:ext>
            </a:extLst>
          </p:cNvPr>
          <p:cNvCxnSpPr>
            <a:cxnSpLocks/>
            <a:stCxn id="21" idx="2"/>
            <a:endCxn id="20" idx="0"/>
          </p:cNvCxnSpPr>
          <p:nvPr/>
        </p:nvCxnSpPr>
        <p:spPr>
          <a:xfrm flipH="1">
            <a:off x="3808130" y="3085546"/>
            <a:ext cx="5486"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C966C9B6-50C1-4054-BDDB-3633CD711C55}"/>
              </a:ext>
            </a:extLst>
          </p:cNvPr>
          <p:cNvCxnSpPr>
            <a:cxnSpLocks/>
            <a:stCxn id="20" idx="2"/>
            <a:endCxn id="26" idx="0"/>
          </p:cNvCxnSpPr>
          <p:nvPr/>
        </p:nvCxnSpPr>
        <p:spPr>
          <a:xfrm>
            <a:off x="3808130" y="3857307"/>
            <a:ext cx="0"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E3D5741F-1B09-4FB1-B89B-7B59B03F1DBC}"/>
              </a:ext>
            </a:extLst>
          </p:cNvPr>
          <p:cNvSpPr/>
          <p:nvPr/>
        </p:nvSpPr>
        <p:spPr>
          <a:xfrm>
            <a:off x="3186252" y="4978374"/>
            <a:ext cx="1243755"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Arbitration</a:t>
            </a:r>
          </a:p>
        </p:txBody>
      </p:sp>
      <p:cxnSp>
        <p:nvCxnSpPr>
          <p:cNvPr id="47" name="直線單箭頭接點 46">
            <a:extLst>
              <a:ext uri="{FF2B5EF4-FFF2-40B4-BE49-F238E27FC236}">
                <a16:creationId xmlns:a16="http://schemas.microsoft.com/office/drawing/2014/main" id="{2BD6F151-8F7E-497C-9E64-469C8C9D368C}"/>
              </a:ext>
            </a:extLst>
          </p:cNvPr>
          <p:cNvCxnSpPr>
            <a:cxnSpLocks/>
            <a:stCxn id="26" idx="2"/>
            <a:endCxn id="45" idx="0"/>
          </p:cNvCxnSpPr>
          <p:nvPr/>
        </p:nvCxnSpPr>
        <p:spPr>
          <a:xfrm>
            <a:off x="3808130" y="4629068"/>
            <a:ext cx="0" cy="3493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文字方塊 41">
            <a:extLst>
              <a:ext uri="{FF2B5EF4-FFF2-40B4-BE49-F238E27FC236}">
                <a16:creationId xmlns:a16="http://schemas.microsoft.com/office/drawing/2014/main" id="{72511417-0113-4A59-84CE-CA0F366B6284}"/>
              </a:ext>
            </a:extLst>
          </p:cNvPr>
          <p:cNvSpPr txBox="1"/>
          <p:nvPr/>
        </p:nvSpPr>
        <p:spPr>
          <a:xfrm>
            <a:off x="3808129" y="310594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27812F9F-298C-4C76-AF83-156F7E3767B6}"/>
              </a:ext>
            </a:extLst>
          </p:cNvPr>
          <p:cNvSpPr txBox="1"/>
          <p:nvPr/>
        </p:nvSpPr>
        <p:spPr>
          <a:xfrm>
            <a:off x="3808129" y="389346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EFD596E7-EA0A-471F-BB1B-1767E43BECE8}"/>
              </a:ext>
            </a:extLst>
          </p:cNvPr>
          <p:cNvSpPr txBox="1"/>
          <p:nvPr/>
        </p:nvSpPr>
        <p:spPr>
          <a:xfrm>
            <a:off x="3463323" y="2337075"/>
            <a:ext cx="689612" cy="276999"/>
          </a:xfrm>
          <a:prstGeom prst="rect">
            <a:avLst/>
          </a:prstGeom>
          <a:noFill/>
        </p:spPr>
        <p:txBody>
          <a:bodyPr wrap="none" rtlCol="0">
            <a:spAutoFit/>
          </a:bodyPr>
          <a:lstStyle/>
          <a:p>
            <a:r>
              <a:rPr lang="en-US" altLang="zh-TW" sz="1200" dirty="0" err="1">
                <a:latin typeface="Times New Roman" panose="02020603050405020304" pitchFamily="18" charset="0"/>
                <a:cs typeface="Times New Roman" panose="02020603050405020304" pitchFamily="18" charset="0"/>
              </a:rPr>
              <a:t>FirmAE</a:t>
            </a:r>
            <a:endParaRPr lang="zh-TW" altLang="en-US" sz="1200" dirty="0">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242DA01A-F27D-4CB7-BE2B-2E352ED021EE}"/>
              </a:ext>
            </a:extLst>
          </p:cNvPr>
          <p:cNvSpPr txBox="1"/>
          <p:nvPr/>
        </p:nvSpPr>
        <p:spPr>
          <a:xfrm>
            <a:off x="2256823" y="1940938"/>
            <a:ext cx="1689886"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VM (running on Linux)</a:t>
            </a:r>
            <a:endParaRPr lang="zh-TW" altLang="en-US" sz="1200" dirty="0">
              <a:latin typeface="Times New Roman" panose="02020603050405020304" pitchFamily="18" charset="0"/>
              <a:cs typeface="Times New Roman" panose="02020603050405020304" pitchFamily="18" charset="0"/>
            </a:endParaRPr>
          </a:p>
        </p:txBody>
      </p:sp>
      <p:sp>
        <p:nvSpPr>
          <p:cNvPr id="54" name="矩形 53">
            <a:extLst>
              <a:ext uri="{FF2B5EF4-FFF2-40B4-BE49-F238E27FC236}">
                <a16:creationId xmlns:a16="http://schemas.microsoft.com/office/drawing/2014/main" id="{C29B2377-93D4-4DD2-B8EA-13D06C6397AC}"/>
              </a:ext>
            </a:extLst>
          </p:cNvPr>
          <p:cNvSpPr/>
          <p:nvPr/>
        </p:nvSpPr>
        <p:spPr>
          <a:xfrm>
            <a:off x="6075758" y="4212325"/>
            <a:ext cx="1243754"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run.sh</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5" name="直線單箭頭接點 54">
            <a:extLst>
              <a:ext uri="{FF2B5EF4-FFF2-40B4-BE49-F238E27FC236}">
                <a16:creationId xmlns:a16="http://schemas.microsoft.com/office/drawing/2014/main" id="{F2D56DBB-5838-4C59-AD35-57801B75D505}"/>
              </a:ext>
            </a:extLst>
          </p:cNvPr>
          <p:cNvCxnSpPr>
            <a:cxnSpLocks/>
            <a:stCxn id="26" idx="3"/>
            <a:endCxn id="54" idx="1"/>
          </p:cNvCxnSpPr>
          <p:nvPr/>
        </p:nvCxnSpPr>
        <p:spPr>
          <a:xfrm>
            <a:off x="4430007" y="4420697"/>
            <a:ext cx="1645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a:extLst>
              <a:ext uri="{FF2B5EF4-FFF2-40B4-BE49-F238E27FC236}">
                <a16:creationId xmlns:a16="http://schemas.microsoft.com/office/drawing/2014/main" id="{CE16D1D1-6DB3-44D5-AB1D-6C5B3A0C0062}"/>
              </a:ext>
            </a:extLst>
          </p:cNvPr>
          <p:cNvCxnSpPr>
            <a:cxnSpLocks/>
            <a:stCxn id="45" idx="3"/>
            <a:endCxn id="54" idx="2"/>
          </p:cNvCxnSpPr>
          <p:nvPr/>
        </p:nvCxnSpPr>
        <p:spPr>
          <a:xfrm flipV="1">
            <a:off x="4430007" y="4629068"/>
            <a:ext cx="2267628" cy="55767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0" name="矩形 59">
            <a:extLst>
              <a:ext uri="{FF2B5EF4-FFF2-40B4-BE49-F238E27FC236}">
                <a16:creationId xmlns:a16="http://schemas.microsoft.com/office/drawing/2014/main" id="{E74E5974-84AC-4D01-90AC-0B95F5C9299A}"/>
              </a:ext>
            </a:extLst>
          </p:cNvPr>
          <p:cNvSpPr/>
          <p:nvPr/>
        </p:nvSpPr>
        <p:spPr>
          <a:xfrm>
            <a:off x="8295581" y="5387104"/>
            <a:ext cx="1243754" cy="517579"/>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firmware image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1" name="直線單箭頭接點 56">
            <a:extLst>
              <a:ext uri="{FF2B5EF4-FFF2-40B4-BE49-F238E27FC236}">
                <a16:creationId xmlns:a16="http://schemas.microsoft.com/office/drawing/2014/main" id="{758D6DDB-EABF-48B4-B9B8-14658C8A6350}"/>
              </a:ext>
            </a:extLst>
          </p:cNvPr>
          <p:cNvCxnSpPr>
            <a:cxnSpLocks/>
            <a:stCxn id="45" idx="2"/>
            <a:endCxn id="60" idx="1"/>
          </p:cNvCxnSpPr>
          <p:nvPr/>
        </p:nvCxnSpPr>
        <p:spPr>
          <a:xfrm rot="16200000" flipH="1">
            <a:off x="5926467" y="3276779"/>
            <a:ext cx="250777" cy="448745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矩形 64">
            <a:extLst>
              <a:ext uri="{FF2B5EF4-FFF2-40B4-BE49-F238E27FC236}">
                <a16:creationId xmlns:a16="http://schemas.microsoft.com/office/drawing/2014/main" id="{C887DEA9-0DE7-451A-9123-8FB5594458D1}"/>
              </a:ext>
            </a:extLst>
          </p:cNvPr>
          <p:cNvSpPr/>
          <p:nvPr/>
        </p:nvSpPr>
        <p:spPr>
          <a:xfrm>
            <a:off x="8031522" y="2646690"/>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target firmware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9FEE233B-29E6-4408-B9C1-4F73E3F660F2}"/>
              </a:ext>
            </a:extLst>
          </p:cNvPr>
          <p:cNvCxnSpPr>
            <a:cxnSpLocks/>
            <a:stCxn id="21" idx="3"/>
            <a:endCxn id="65" idx="1"/>
          </p:cNvCxnSpPr>
          <p:nvPr/>
        </p:nvCxnSpPr>
        <p:spPr>
          <a:xfrm>
            <a:off x="4435493" y="2877175"/>
            <a:ext cx="3596029" cy="3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615CB171-E12D-4E66-ABF3-1DAB5413DB2E}"/>
              </a:ext>
            </a:extLst>
          </p:cNvPr>
          <p:cNvSpPr/>
          <p:nvPr/>
        </p:nvSpPr>
        <p:spPr>
          <a:xfrm>
            <a:off x="8294787" y="4186891"/>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Qemu</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71" name="直線單箭頭接點 56">
            <a:extLst>
              <a:ext uri="{FF2B5EF4-FFF2-40B4-BE49-F238E27FC236}">
                <a16:creationId xmlns:a16="http://schemas.microsoft.com/office/drawing/2014/main" id="{575488B9-E8F1-405D-916E-B5E02D9A5CDC}"/>
              </a:ext>
            </a:extLst>
          </p:cNvPr>
          <p:cNvCxnSpPr>
            <a:cxnSpLocks/>
            <a:stCxn id="69" idx="2"/>
            <a:endCxn id="60" idx="0"/>
          </p:cNvCxnSpPr>
          <p:nvPr/>
        </p:nvCxnSpPr>
        <p:spPr>
          <a:xfrm rot="16200000" flipH="1">
            <a:off x="8550760" y="5020405"/>
            <a:ext cx="732603" cy="7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8" name="文字方塊 77">
            <a:extLst>
              <a:ext uri="{FF2B5EF4-FFF2-40B4-BE49-F238E27FC236}">
                <a16:creationId xmlns:a16="http://schemas.microsoft.com/office/drawing/2014/main" id="{67C345E0-2A93-4157-B046-69E019C557AA}"/>
              </a:ext>
            </a:extLst>
          </p:cNvPr>
          <p:cNvSpPr txBox="1"/>
          <p:nvPr/>
        </p:nvSpPr>
        <p:spPr>
          <a:xfrm>
            <a:off x="10316947" y="1069315"/>
            <a:ext cx="895536"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Modified</a:t>
            </a:r>
          </a:p>
        </p:txBody>
      </p:sp>
      <p:sp>
        <p:nvSpPr>
          <p:cNvPr id="79" name="矩形 78">
            <a:extLst>
              <a:ext uri="{FF2B5EF4-FFF2-40B4-BE49-F238E27FC236}">
                <a16:creationId xmlns:a16="http://schemas.microsoft.com/office/drawing/2014/main" id="{42931875-9988-48B4-AF0C-D2BE88890AF5}"/>
              </a:ext>
            </a:extLst>
          </p:cNvPr>
          <p:cNvSpPr/>
          <p:nvPr/>
        </p:nvSpPr>
        <p:spPr>
          <a:xfrm>
            <a:off x="9695753" y="1133772"/>
            <a:ext cx="540914" cy="170037"/>
          </a:xfrm>
          <a:prstGeom prst="rect">
            <a:avLst/>
          </a:prstGeom>
          <a:solidFill>
            <a:schemeClr val="bg1">
              <a:lumMod val="65000"/>
            </a:schemeClr>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45E7E629-36D6-4727-8CF6-4B39DBA4F43F}"/>
              </a:ext>
            </a:extLst>
          </p:cNvPr>
          <p:cNvSpPr txBox="1"/>
          <p:nvPr/>
        </p:nvSpPr>
        <p:spPr>
          <a:xfrm>
            <a:off x="5392835" y="2577719"/>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extract the tar file and kernel file </a:t>
            </a:r>
            <a:endParaRPr lang="zh-TW" altLang="en-US" sz="1200" dirty="0">
              <a:latin typeface="Times New Roman" panose="02020603050405020304" pitchFamily="18" charset="0"/>
              <a:cs typeface="Times New Roman" panose="02020603050405020304" pitchFamily="18" charset="0"/>
            </a:endParaRPr>
          </a:p>
        </p:txBody>
      </p:sp>
      <p:cxnSp>
        <p:nvCxnSpPr>
          <p:cNvPr id="81" name="直線單箭頭接點 80">
            <a:extLst>
              <a:ext uri="{FF2B5EF4-FFF2-40B4-BE49-F238E27FC236}">
                <a16:creationId xmlns:a16="http://schemas.microsoft.com/office/drawing/2014/main" id="{2AE79517-CB2C-4242-9B26-5E7D7913193F}"/>
              </a:ext>
            </a:extLst>
          </p:cNvPr>
          <p:cNvCxnSpPr>
            <a:cxnSpLocks/>
            <a:stCxn id="20" idx="3"/>
            <a:endCxn id="60" idx="3"/>
          </p:cNvCxnSpPr>
          <p:nvPr/>
        </p:nvCxnSpPr>
        <p:spPr>
          <a:xfrm>
            <a:off x="4430007" y="3648936"/>
            <a:ext cx="5109328" cy="1996958"/>
          </a:xfrm>
          <a:prstGeom prst="bentConnector3">
            <a:avLst>
              <a:gd name="adj1" fmla="val 104474"/>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單箭頭接點 80">
            <a:extLst>
              <a:ext uri="{FF2B5EF4-FFF2-40B4-BE49-F238E27FC236}">
                <a16:creationId xmlns:a16="http://schemas.microsoft.com/office/drawing/2014/main" id="{20866966-9D45-484D-9143-8322BE519FD6}"/>
              </a:ext>
            </a:extLst>
          </p:cNvPr>
          <p:cNvCxnSpPr>
            <a:cxnSpLocks/>
            <a:stCxn id="54" idx="3"/>
            <a:endCxn id="69" idx="1"/>
          </p:cNvCxnSpPr>
          <p:nvPr/>
        </p:nvCxnSpPr>
        <p:spPr>
          <a:xfrm flipV="1">
            <a:off x="7319512" y="4420696"/>
            <a:ext cx="975275"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文字方塊 114">
            <a:extLst>
              <a:ext uri="{FF2B5EF4-FFF2-40B4-BE49-F238E27FC236}">
                <a16:creationId xmlns:a16="http://schemas.microsoft.com/office/drawing/2014/main" id="{16A913D8-E8EA-49FB-BA55-A96F35A25A76}"/>
              </a:ext>
            </a:extLst>
          </p:cNvPr>
          <p:cNvSpPr txBox="1"/>
          <p:nvPr/>
        </p:nvSpPr>
        <p:spPr>
          <a:xfrm>
            <a:off x="5683293" y="3353790"/>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create firmware image (raw file)</a:t>
            </a:r>
            <a:endParaRPr lang="zh-TW" altLang="en-US" sz="1200" dirty="0">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71D5B32C-DD3C-4410-B2D4-1ED69B1B7271}"/>
              </a:ext>
            </a:extLst>
          </p:cNvPr>
          <p:cNvSpPr txBox="1"/>
          <p:nvPr/>
        </p:nvSpPr>
        <p:spPr>
          <a:xfrm>
            <a:off x="7155143" y="4553063"/>
            <a:ext cx="1304011"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use </a:t>
            </a:r>
            <a:r>
              <a:rPr lang="en-US" altLang="zh-TW" sz="1200" dirty="0" err="1">
                <a:solidFill>
                  <a:srgbClr val="000000"/>
                </a:solidFill>
                <a:effectLst/>
                <a:latin typeface="Times New Roman" panose="02020603050405020304" pitchFamily="18" charset="0"/>
                <a:cs typeface="Times New Roman" panose="02020603050405020304" pitchFamily="18" charset="0"/>
              </a:rPr>
              <a:t>qemu</a:t>
            </a:r>
            <a:r>
              <a:rPr lang="en-US" altLang="zh-TW" sz="1200" dirty="0">
                <a:solidFill>
                  <a:srgbClr val="000000"/>
                </a:solidFill>
                <a:effectLst/>
                <a:latin typeface="Times New Roman" panose="02020603050405020304" pitchFamily="18" charset="0"/>
                <a:cs typeface="Times New Roman" panose="02020603050405020304" pitchFamily="18" charset="0"/>
              </a:rPr>
              <a:t> system </a:t>
            </a:r>
          </a:p>
          <a:p>
            <a:r>
              <a:rPr lang="en-US" altLang="zh-TW" sz="1200" dirty="0">
                <a:solidFill>
                  <a:srgbClr val="000000"/>
                </a:solidFill>
                <a:effectLst/>
                <a:latin typeface="Times New Roman" panose="02020603050405020304" pitchFamily="18" charset="0"/>
                <a:cs typeface="Times New Roman" panose="02020603050405020304" pitchFamily="18" charset="0"/>
              </a:rPr>
              <a:t>mode to emulate</a:t>
            </a:r>
            <a:endParaRPr lang="zh-TW" altLang="en-US" sz="1200" dirty="0">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DB6D538E-C27F-4DC9-A607-4931244CF508}"/>
              </a:ext>
            </a:extLst>
          </p:cNvPr>
          <p:cNvSpPr txBox="1"/>
          <p:nvPr/>
        </p:nvSpPr>
        <p:spPr>
          <a:xfrm>
            <a:off x="5272679" y="4763380"/>
            <a:ext cx="1202573"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run.sh</a:t>
            </a:r>
          </a:p>
          <a:p>
            <a:r>
              <a:rPr lang="en-US" altLang="zh-TW" sz="1200" dirty="0">
                <a:solidFill>
                  <a:srgbClr val="000000"/>
                </a:solidFill>
                <a:effectLst/>
                <a:latin typeface="Times New Roman" panose="02020603050405020304" pitchFamily="18" charset="0"/>
                <a:cs typeface="Times New Roman" panose="02020603050405020304" pitchFamily="18" charset="0"/>
              </a:rPr>
              <a:t>(Network, Boot)</a:t>
            </a:r>
            <a:endParaRPr lang="zh-TW" altLang="en-US" sz="1200" dirty="0">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73EDDABE-0459-432E-91F0-036ECD853057}"/>
              </a:ext>
            </a:extLst>
          </p:cNvPr>
          <p:cNvSpPr txBox="1"/>
          <p:nvPr/>
        </p:nvSpPr>
        <p:spPr>
          <a:xfrm>
            <a:off x="6560715" y="5619204"/>
            <a:ext cx="1651414"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firmware image</a:t>
            </a:r>
          </a:p>
          <a:p>
            <a:r>
              <a:rPr lang="en-US" altLang="zh-TW" sz="1200" dirty="0">
                <a:solidFill>
                  <a:srgbClr val="000000"/>
                </a:solidFill>
                <a:effectLst/>
                <a:latin typeface="Times New Roman" panose="02020603050405020304" pitchFamily="18" charset="0"/>
                <a:cs typeface="Times New Roman" panose="02020603050405020304" pitchFamily="18" charset="0"/>
              </a:rPr>
              <a:t>(Kernel, NVRAM)</a:t>
            </a:r>
            <a:endParaRPr lang="zh-TW" altLang="en-US" sz="1200" dirty="0">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2D590936-050D-4057-9793-13DCDE898EC2}"/>
              </a:ext>
            </a:extLst>
          </p:cNvPr>
          <p:cNvSpPr/>
          <p:nvPr/>
        </p:nvSpPr>
        <p:spPr>
          <a:xfrm>
            <a:off x="3056478" y="4145542"/>
            <a:ext cx="1553621" cy="5490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9EC30A96-2D23-44C4-99B1-82570E690816}"/>
              </a:ext>
            </a:extLst>
          </p:cNvPr>
          <p:cNvSpPr>
            <a:spLocks noGrp="1"/>
          </p:cNvSpPr>
          <p:nvPr>
            <p:ph type="sldNum" sz="quarter" idx="12"/>
          </p:nvPr>
        </p:nvSpPr>
        <p:spPr/>
        <p:txBody>
          <a:bodyPr/>
          <a:lstStyle/>
          <a:p>
            <a:fld id="{7539D880-7677-4E8F-8D1B-ECF4759392EF}" type="slidenum">
              <a:rPr lang="zh-TW" altLang="en-US" smtClean="0"/>
              <a:t>11</a:t>
            </a:fld>
            <a:endParaRPr lang="zh-TW" altLang="en-US"/>
          </a:p>
        </p:txBody>
      </p:sp>
    </p:spTree>
    <p:extLst>
      <p:ext uri="{BB962C8B-B14F-4D97-AF65-F5344CB8AC3E}">
        <p14:creationId xmlns:p14="http://schemas.microsoft.com/office/powerpoint/2010/main" val="986567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Emulator</a:t>
            </a:r>
          </a:p>
        </p:txBody>
      </p:sp>
      <p:sp>
        <p:nvSpPr>
          <p:cNvPr id="4" name="內容版面配置區 2">
            <a:extLst>
              <a:ext uri="{FF2B5EF4-FFF2-40B4-BE49-F238E27FC236}">
                <a16:creationId xmlns:a16="http://schemas.microsoft.com/office/drawing/2014/main" id="{F4D67900-FC9A-44E1-A642-DFDF3BA97214}"/>
              </a:ext>
            </a:extLst>
          </p:cNvPr>
          <p:cNvSpPr>
            <a:spLocks noGrp="1"/>
          </p:cNvSpPr>
          <p:nvPr>
            <p:ph idx="1"/>
          </p:nvPr>
        </p:nvSpPr>
        <p:spPr>
          <a:xfrm>
            <a:off x="1097280" y="2270012"/>
            <a:ext cx="10058400" cy="3340745"/>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The Emulator module conducts the </a:t>
            </a:r>
            <a:r>
              <a:rPr lang="en-US" altLang="zh-TW" sz="2200" b="1" dirty="0">
                <a:solidFill>
                  <a:srgbClr val="FF0000"/>
                </a:solidFill>
                <a:latin typeface="Times New Roman" panose="02020603050405020304" pitchFamily="18" charset="0"/>
                <a:cs typeface="Times New Roman" panose="02020603050405020304" pitchFamily="18" charset="0"/>
              </a:rPr>
              <a:t>first emulation </a:t>
            </a:r>
            <a:r>
              <a:rPr lang="en-US" altLang="zh-TW" sz="2200" dirty="0">
                <a:latin typeface="Times New Roman" panose="02020603050405020304" pitchFamily="18" charset="0"/>
                <a:cs typeface="Times New Roman" panose="02020603050405020304" pitchFamily="18" charset="0"/>
              </a:rPr>
              <a:t>through the Arbitration module. During the initial emulation, the Arbitration module collects information related to Boot, Kernel, Network, and NVRAM, incorporating these modifications into run.sh and the firmware image.</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After collecting the relevant information, the Emulator module performs a </a:t>
            </a:r>
            <a:r>
              <a:rPr lang="en-US" altLang="zh-TW" sz="2200" b="1" dirty="0">
                <a:solidFill>
                  <a:srgbClr val="FF0000"/>
                </a:solidFill>
                <a:latin typeface="Times New Roman" panose="02020603050405020304" pitchFamily="18" charset="0"/>
                <a:cs typeface="Times New Roman" panose="02020603050405020304" pitchFamily="18" charset="0"/>
              </a:rPr>
              <a:t>second emulation </a:t>
            </a:r>
            <a:r>
              <a:rPr lang="en-US" altLang="zh-TW" sz="2200" dirty="0">
                <a:latin typeface="Times New Roman" panose="02020603050405020304" pitchFamily="18" charset="0"/>
                <a:cs typeface="Times New Roman" panose="02020603050405020304" pitchFamily="18" charset="0"/>
              </a:rPr>
              <a:t>of the firmware, using the modified </a:t>
            </a:r>
            <a:r>
              <a:rPr lang="en-US" altLang="zh-TW" sz="2200" b="1" dirty="0">
                <a:solidFill>
                  <a:srgbClr val="FF0000"/>
                </a:solidFill>
                <a:latin typeface="Times New Roman" panose="02020603050405020304" pitchFamily="18" charset="0"/>
                <a:cs typeface="Times New Roman" panose="02020603050405020304" pitchFamily="18" charset="0"/>
              </a:rPr>
              <a:t>run.sh </a:t>
            </a:r>
            <a:r>
              <a:rPr lang="en-US" altLang="zh-TW" sz="2200" dirty="0">
                <a:latin typeface="Times New Roman" panose="02020603050405020304" pitchFamily="18" charset="0"/>
                <a:cs typeface="Times New Roman" panose="02020603050405020304" pitchFamily="18" charset="0"/>
              </a:rPr>
              <a:t>and </a:t>
            </a:r>
            <a:r>
              <a:rPr lang="en-US" altLang="zh-TW" sz="2200" b="1" dirty="0">
                <a:solidFill>
                  <a:srgbClr val="FF0000"/>
                </a:solidFill>
                <a:latin typeface="Times New Roman" panose="02020603050405020304" pitchFamily="18" charset="0"/>
                <a:cs typeface="Times New Roman" panose="02020603050405020304" pitchFamily="18" charset="0"/>
              </a:rPr>
              <a:t>firmware image </a:t>
            </a:r>
            <a:r>
              <a:rPr lang="en-US" altLang="zh-TW" sz="2200" dirty="0">
                <a:latin typeface="Times New Roman" panose="02020603050405020304" pitchFamily="18" charset="0"/>
                <a:cs typeface="Times New Roman" panose="02020603050405020304" pitchFamily="18" charset="0"/>
              </a:rPr>
              <a:t>to automatically detect and resolve issues causing firmware emulation failures.</a:t>
            </a:r>
          </a:p>
        </p:txBody>
      </p:sp>
      <p:sp>
        <p:nvSpPr>
          <p:cNvPr id="7" name="投影片編號版面配置區 6">
            <a:extLst>
              <a:ext uri="{FF2B5EF4-FFF2-40B4-BE49-F238E27FC236}">
                <a16:creationId xmlns:a16="http://schemas.microsoft.com/office/drawing/2014/main" id="{78E02E95-F8E9-424D-A1D3-F888C5B2A41D}"/>
              </a:ext>
            </a:extLst>
          </p:cNvPr>
          <p:cNvSpPr>
            <a:spLocks noGrp="1"/>
          </p:cNvSpPr>
          <p:nvPr>
            <p:ph type="sldNum" sz="quarter" idx="12"/>
          </p:nvPr>
        </p:nvSpPr>
        <p:spPr/>
        <p:txBody>
          <a:bodyPr/>
          <a:lstStyle/>
          <a:p>
            <a:fld id="{7539D880-7677-4E8F-8D1B-ECF4759392EF}" type="slidenum">
              <a:rPr lang="zh-TW" altLang="en-US" smtClean="0"/>
              <a:t>12</a:t>
            </a:fld>
            <a:endParaRPr lang="zh-TW" altLang="en-US"/>
          </a:p>
        </p:txBody>
      </p:sp>
    </p:spTree>
    <p:extLst>
      <p:ext uri="{BB962C8B-B14F-4D97-AF65-F5344CB8AC3E}">
        <p14:creationId xmlns:p14="http://schemas.microsoft.com/office/powerpoint/2010/main" val="774810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Proposed Approach</a:t>
            </a:r>
            <a:endParaRPr lang="zh-TW" altLang="en-US" dirty="0"/>
          </a:p>
        </p:txBody>
      </p:sp>
      <p:grpSp>
        <p:nvGrpSpPr>
          <p:cNvPr id="3" name="群組 2">
            <a:extLst>
              <a:ext uri="{FF2B5EF4-FFF2-40B4-BE49-F238E27FC236}">
                <a16:creationId xmlns:a16="http://schemas.microsoft.com/office/drawing/2014/main" id="{1C3C0809-1FAB-4A17-A9E4-714AB9C6F77A}"/>
              </a:ext>
            </a:extLst>
          </p:cNvPr>
          <p:cNvGrpSpPr/>
          <p:nvPr/>
        </p:nvGrpSpPr>
        <p:grpSpPr>
          <a:xfrm>
            <a:off x="9481828" y="641621"/>
            <a:ext cx="1673852" cy="964880"/>
            <a:chOff x="9481828" y="641621"/>
            <a:chExt cx="1673852" cy="964880"/>
          </a:xfrm>
        </p:grpSpPr>
        <p:sp>
          <p:nvSpPr>
            <p:cNvPr id="22" name="矩形: 圓角 21">
              <a:extLst>
                <a:ext uri="{FF2B5EF4-FFF2-40B4-BE49-F238E27FC236}">
                  <a16:creationId xmlns:a16="http://schemas.microsoft.com/office/drawing/2014/main" id="{5B7BB268-CCA2-98E2-7893-CD21A77D9B52}"/>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63B9DF2A-9BB5-2DC1-2BEE-B95EDFEF7E43}"/>
                </a:ext>
              </a:extLst>
            </p:cNvPr>
            <p:cNvSpPr txBox="1"/>
            <p:nvPr/>
          </p:nvSpPr>
          <p:spPr>
            <a:xfrm>
              <a:off x="10316947" y="741961"/>
              <a:ext cx="838733"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Original</a:t>
              </a:r>
            </a:p>
          </p:txBody>
        </p:sp>
        <p:sp>
          <p:nvSpPr>
            <p:cNvPr id="24" name="矩形 23">
              <a:extLst>
                <a:ext uri="{FF2B5EF4-FFF2-40B4-BE49-F238E27FC236}">
                  <a16:creationId xmlns:a16="http://schemas.microsoft.com/office/drawing/2014/main" id="{6DE83CB9-642B-DEF8-2532-82C69F36AAFB}"/>
                </a:ext>
              </a:extLst>
            </p:cNvPr>
            <p:cNvSpPr/>
            <p:nvPr/>
          </p:nvSpPr>
          <p:spPr>
            <a:xfrm>
              <a:off x="9695753" y="806418"/>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8E64E208-FB7D-A98D-1F3E-B4A302762281}"/>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4" name="矩形 3">
            <a:extLst>
              <a:ext uri="{FF2B5EF4-FFF2-40B4-BE49-F238E27FC236}">
                <a16:creationId xmlns:a16="http://schemas.microsoft.com/office/drawing/2014/main" id="{7506B631-C75A-45B4-A763-72651D3C0150}"/>
              </a:ext>
            </a:extLst>
          </p:cNvPr>
          <p:cNvSpPr/>
          <p:nvPr/>
        </p:nvSpPr>
        <p:spPr>
          <a:xfrm>
            <a:off x="2099068" y="1876529"/>
            <a:ext cx="7867142" cy="4244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6CD24C50-1A54-46A0-B342-87D1802D0224}"/>
              </a:ext>
            </a:extLst>
          </p:cNvPr>
          <p:cNvSpPr/>
          <p:nvPr/>
        </p:nvSpPr>
        <p:spPr>
          <a:xfrm>
            <a:off x="2363378" y="2282346"/>
            <a:ext cx="2889505" cy="362233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chemeClr val="tx1"/>
                </a:solidFill>
                <a:prstDash val="dash"/>
              </a:ln>
            </a:endParaRPr>
          </a:p>
        </p:txBody>
      </p:sp>
      <p:sp>
        <p:nvSpPr>
          <p:cNvPr id="20" name="矩形 19">
            <a:extLst>
              <a:ext uri="{FF2B5EF4-FFF2-40B4-BE49-F238E27FC236}">
                <a16:creationId xmlns:a16="http://schemas.microsoft.com/office/drawing/2014/main" id="{86CE12FC-EA26-4E2E-8866-A23B311B9653}"/>
              </a:ext>
            </a:extLst>
          </p:cNvPr>
          <p:cNvSpPr/>
          <p:nvPr/>
        </p:nvSpPr>
        <p:spPr>
          <a:xfrm>
            <a:off x="3186252" y="3440564"/>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ImageMaker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23141508-95F3-411C-A278-F1483B808910}"/>
              </a:ext>
            </a:extLst>
          </p:cNvPr>
          <p:cNvSpPr/>
          <p:nvPr/>
        </p:nvSpPr>
        <p:spPr>
          <a:xfrm>
            <a:off x="3191739" y="2668803"/>
            <a:ext cx="1243754"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Extrator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20F3F8D0-3E4A-479B-9143-B7BC8D2118D2}"/>
              </a:ext>
            </a:extLst>
          </p:cNvPr>
          <p:cNvSpPr/>
          <p:nvPr/>
        </p:nvSpPr>
        <p:spPr>
          <a:xfrm>
            <a:off x="3186252" y="4212325"/>
            <a:ext cx="1243755" cy="416743"/>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Emulator</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DF34AD28-0F13-45FD-BBDE-56F391155199}"/>
              </a:ext>
            </a:extLst>
          </p:cNvPr>
          <p:cNvCxnSpPr>
            <a:cxnSpLocks/>
            <a:stCxn id="21" idx="2"/>
            <a:endCxn id="20" idx="0"/>
          </p:cNvCxnSpPr>
          <p:nvPr/>
        </p:nvCxnSpPr>
        <p:spPr>
          <a:xfrm flipH="1">
            <a:off x="3808130" y="3085546"/>
            <a:ext cx="5486"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C966C9B6-50C1-4054-BDDB-3633CD711C55}"/>
              </a:ext>
            </a:extLst>
          </p:cNvPr>
          <p:cNvCxnSpPr>
            <a:cxnSpLocks/>
            <a:stCxn id="20" idx="2"/>
            <a:endCxn id="26" idx="0"/>
          </p:cNvCxnSpPr>
          <p:nvPr/>
        </p:nvCxnSpPr>
        <p:spPr>
          <a:xfrm>
            <a:off x="3808130" y="3857307"/>
            <a:ext cx="0" cy="355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E3D5741F-1B09-4FB1-B89B-7B59B03F1DBC}"/>
              </a:ext>
            </a:extLst>
          </p:cNvPr>
          <p:cNvSpPr/>
          <p:nvPr/>
        </p:nvSpPr>
        <p:spPr>
          <a:xfrm>
            <a:off x="3186252" y="4978374"/>
            <a:ext cx="1243755"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Arbitration</a:t>
            </a:r>
          </a:p>
        </p:txBody>
      </p:sp>
      <p:cxnSp>
        <p:nvCxnSpPr>
          <p:cNvPr id="47" name="直線單箭頭接點 46">
            <a:extLst>
              <a:ext uri="{FF2B5EF4-FFF2-40B4-BE49-F238E27FC236}">
                <a16:creationId xmlns:a16="http://schemas.microsoft.com/office/drawing/2014/main" id="{2BD6F151-8F7E-497C-9E64-469C8C9D368C}"/>
              </a:ext>
            </a:extLst>
          </p:cNvPr>
          <p:cNvCxnSpPr>
            <a:cxnSpLocks/>
            <a:stCxn id="26" idx="2"/>
            <a:endCxn id="45" idx="0"/>
          </p:cNvCxnSpPr>
          <p:nvPr/>
        </p:nvCxnSpPr>
        <p:spPr>
          <a:xfrm>
            <a:off x="3808130" y="4629068"/>
            <a:ext cx="0" cy="3493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文字方塊 41">
            <a:extLst>
              <a:ext uri="{FF2B5EF4-FFF2-40B4-BE49-F238E27FC236}">
                <a16:creationId xmlns:a16="http://schemas.microsoft.com/office/drawing/2014/main" id="{72511417-0113-4A59-84CE-CA0F366B6284}"/>
              </a:ext>
            </a:extLst>
          </p:cNvPr>
          <p:cNvSpPr txBox="1"/>
          <p:nvPr/>
        </p:nvSpPr>
        <p:spPr>
          <a:xfrm>
            <a:off x="3808129" y="310594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27812F9F-298C-4C76-AF83-156F7E3767B6}"/>
              </a:ext>
            </a:extLst>
          </p:cNvPr>
          <p:cNvSpPr txBox="1"/>
          <p:nvPr/>
        </p:nvSpPr>
        <p:spPr>
          <a:xfrm>
            <a:off x="3808129" y="3893460"/>
            <a:ext cx="133793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pass firmware info</a:t>
            </a:r>
            <a:endParaRPr lang="zh-TW" altLang="en-US" sz="12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EFD596E7-EA0A-471F-BB1B-1767E43BECE8}"/>
              </a:ext>
            </a:extLst>
          </p:cNvPr>
          <p:cNvSpPr txBox="1"/>
          <p:nvPr/>
        </p:nvSpPr>
        <p:spPr>
          <a:xfrm>
            <a:off x="3463323" y="2337075"/>
            <a:ext cx="689612" cy="276999"/>
          </a:xfrm>
          <a:prstGeom prst="rect">
            <a:avLst/>
          </a:prstGeom>
          <a:noFill/>
        </p:spPr>
        <p:txBody>
          <a:bodyPr wrap="none" rtlCol="0">
            <a:spAutoFit/>
          </a:bodyPr>
          <a:lstStyle/>
          <a:p>
            <a:r>
              <a:rPr lang="en-US" altLang="zh-TW" sz="1200" dirty="0" err="1">
                <a:latin typeface="Times New Roman" panose="02020603050405020304" pitchFamily="18" charset="0"/>
                <a:cs typeface="Times New Roman" panose="02020603050405020304" pitchFamily="18" charset="0"/>
              </a:rPr>
              <a:t>FirmAE</a:t>
            </a:r>
            <a:endParaRPr lang="zh-TW" altLang="en-US" sz="1200" dirty="0">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242DA01A-F27D-4CB7-BE2B-2E352ED021EE}"/>
              </a:ext>
            </a:extLst>
          </p:cNvPr>
          <p:cNvSpPr txBox="1"/>
          <p:nvPr/>
        </p:nvSpPr>
        <p:spPr>
          <a:xfrm>
            <a:off x="2256823" y="1940938"/>
            <a:ext cx="1689886"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VM (running on Linux)</a:t>
            </a:r>
            <a:endParaRPr lang="zh-TW" altLang="en-US" sz="1200" dirty="0">
              <a:latin typeface="Times New Roman" panose="02020603050405020304" pitchFamily="18" charset="0"/>
              <a:cs typeface="Times New Roman" panose="02020603050405020304" pitchFamily="18" charset="0"/>
            </a:endParaRPr>
          </a:p>
        </p:txBody>
      </p:sp>
      <p:sp>
        <p:nvSpPr>
          <p:cNvPr id="54" name="矩形 53">
            <a:extLst>
              <a:ext uri="{FF2B5EF4-FFF2-40B4-BE49-F238E27FC236}">
                <a16:creationId xmlns:a16="http://schemas.microsoft.com/office/drawing/2014/main" id="{C29B2377-93D4-4DD2-B8EA-13D06C6397AC}"/>
              </a:ext>
            </a:extLst>
          </p:cNvPr>
          <p:cNvSpPr/>
          <p:nvPr/>
        </p:nvSpPr>
        <p:spPr>
          <a:xfrm>
            <a:off x="6075758" y="4212325"/>
            <a:ext cx="1243754" cy="416743"/>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run.sh</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5" name="直線單箭頭接點 54">
            <a:extLst>
              <a:ext uri="{FF2B5EF4-FFF2-40B4-BE49-F238E27FC236}">
                <a16:creationId xmlns:a16="http://schemas.microsoft.com/office/drawing/2014/main" id="{F2D56DBB-5838-4C59-AD35-57801B75D505}"/>
              </a:ext>
            </a:extLst>
          </p:cNvPr>
          <p:cNvCxnSpPr>
            <a:cxnSpLocks/>
            <a:stCxn id="26" idx="3"/>
            <a:endCxn id="54" idx="1"/>
          </p:cNvCxnSpPr>
          <p:nvPr/>
        </p:nvCxnSpPr>
        <p:spPr>
          <a:xfrm>
            <a:off x="4430007" y="4420697"/>
            <a:ext cx="1645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a:extLst>
              <a:ext uri="{FF2B5EF4-FFF2-40B4-BE49-F238E27FC236}">
                <a16:creationId xmlns:a16="http://schemas.microsoft.com/office/drawing/2014/main" id="{CE16D1D1-6DB3-44D5-AB1D-6C5B3A0C0062}"/>
              </a:ext>
            </a:extLst>
          </p:cNvPr>
          <p:cNvCxnSpPr>
            <a:cxnSpLocks/>
            <a:stCxn id="45" idx="3"/>
            <a:endCxn id="54" idx="2"/>
          </p:cNvCxnSpPr>
          <p:nvPr/>
        </p:nvCxnSpPr>
        <p:spPr>
          <a:xfrm flipV="1">
            <a:off x="4430007" y="4629068"/>
            <a:ext cx="2267628" cy="55767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0" name="矩形 59">
            <a:extLst>
              <a:ext uri="{FF2B5EF4-FFF2-40B4-BE49-F238E27FC236}">
                <a16:creationId xmlns:a16="http://schemas.microsoft.com/office/drawing/2014/main" id="{E74E5974-84AC-4D01-90AC-0B95F5C9299A}"/>
              </a:ext>
            </a:extLst>
          </p:cNvPr>
          <p:cNvSpPr/>
          <p:nvPr/>
        </p:nvSpPr>
        <p:spPr>
          <a:xfrm>
            <a:off x="8295581" y="5387104"/>
            <a:ext cx="1243754" cy="517579"/>
          </a:xfrm>
          <a:prstGeom prst="rect">
            <a:avLst/>
          </a:prstGeom>
          <a:solidFill>
            <a:schemeClr val="bg1">
              <a:lumMod val="65000"/>
            </a:schemeClr>
          </a:solid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firmware image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1" name="直線單箭頭接點 56">
            <a:extLst>
              <a:ext uri="{FF2B5EF4-FFF2-40B4-BE49-F238E27FC236}">
                <a16:creationId xmlns:a16="http://schemas.microsoft.com/office/drawing/2014/main" id="{758D6DDB-EABF-48B4-B9B8-14658C8A6350}"/>
              </a:ext>
            </a:extLst>
          </p:cNvPr>
          <p:cNvCxnSpPr>
            <a:cxnSpLocks/>
            <a:stCxn id="45" idx="2"/>
            <a:endCxn id="60" idx="1"/>
          </p:cNvCxnSpPr>
          <p:nvPr/>
        </p:nvCxnSpPr>
        <p:spPr>
          <a:xfrm rot="16200000" flipH="1">
            <a:off x="5926467" y="3276779"/>
            <a:ext cx="250777" cy="448745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矩形 64">
            <a:extLst>
              <a:ext uri="{FF2B5EF4-FFF2-40B4-BE49-F238E27FC236}">
                <a16:creationId xmlns:a16="http://schemas.microsoft.com/office/drawing/2014/main" id="{C887DEA9-0DE7-451A-9123-8FB5594458D1}"/>
              </a:ext>
            </a:extLst>
          </p:cNvPr>
          <p:cNvSpPr/>
          <p:nvPr/>
        </p:nvSpPr>
        <p:spPr>
          <a:xfrm>
            <a:off x="8031522" y="2646690"/>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a:solidFill>
                  <a:prstClr val="black"/>
                </a:solidFill>
                <a:latin typeface="Times New Roman" panose="02020603050405020304" pitchFamily="18" charset="0"/>
                <a:cs typeface="Times New Roman" panose="02020603050405020304" pitchFamily="18" charset="0"/>
              </a:rPr>
              <a:t>target firmware</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66" name="直線單箭頭接點 65">
            <a:extLst>
              <a:ext uri="{FF2B5EF4-FFF2-40B4-BE49-F238E27FC236}">
                <a16:creationId xmlns:a16="http://schemas.microsoft.com/office/drawing/2014/main" id="{9FEE233B-29E6-4408-B9C1-4F73E3F660F2}"/>
              </a:ext>
            </a:extLst>
          </p:cNvPr>
          <p:cNvCxnSpPr>
            <a:cxnSpLocks/>
            <a:stCxn id="21" idx="3"/>
            <a:endCxn id="65" idx="1"/>
          </p:cNvCxnSpPr>
          <p:nvPr/>
        </p:nvCxnSpPr>
        <p:spPr>
          <a:xfrm>
            <a:off x="4435493" y="2877175"/>
            <a:ext cx="3596029" cy="3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615CB171-E12D-4E66-ABF3-1DAB5413DB2E}"/>
              </a:ext>
            </a:extLst>
          </p:cNvPr>
          <p:cNvSpPr/>
          <p:nvPr/>
        </p:nvSpPr>
        <p:spPr>
          <a:xfrm>
            <a:off x="8294787" y="4186891"/>
            <a:ext cx="1243754" cy="467610"/>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lang="en-US" altLang="zh-TW" sz="1600" kern="0" dirty="0" err="1">
                <a:solidFill>
                  <a:prstClr val="black"/>
                </a:solidFill>
                <a:latin typeface="Times New Roman" panose="02020603050405020304" pitchFamily="18" charset="0"/>
                <a:cs typeface="Times New Roman" panose="02020603050405020304" pitchFamily="18" charset="0"/>
              </a:rPr>
              <a:t>Qemu</a:t>
            </a:r>
            <a:endPar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71" name="直線單箭頭接點 56">
            <a:extLst>
              <a:ext uri="{FF2B5EF4-FFF2-40B4-BE49-F238E27FC236}">
                <a16:creationId xmlns:a16="http://schemas.microsoft.com/office/drawing/2014/main" id="{575488B9-E8F1-405D-916E-B5E02D9A5CDC}"/>
              </a:ext>
            </a:extLst>
          </p:cNvPr>
          <p:cNvCxnSpPr>
            <a:cxnSpLocks/>
            <a:stCxn id="69" idx="2"/>
            <a:endCxn id="60" idx="0"/>
          </p:cNvCxnSpPr>
          <p:nvPr/>
        </p:nvCxnSpPr>
        <p:spPr>
          <a:xfrm rot="16200000" flipH="1">
            <a:off x="8550760" y="5020405"/>
            <a:ext cx="732603" cy="7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8" name="文字方塊 77">
            <a:extLst>
              <a:ext uri="{FF2B5EF4-FFF2-40B4-BE49-F238E27FC236}">
                <a16:creationId xmlns:a16="http://schemas.microsoft.com/office/drawing/2014/main" id="{67C345E0-2A93-4157-B046-69E019C557AA}"/>
              </a:ext>
            </a:extLst>
          </p:cNvPr>
          <p:cNvSpPr txBox="1"/>
          <p:nvPr/>
        </p:nvSpPr>
        <p:spPr>
          <a:xfrm>
            <a:off x="10316947" y="1069315"/>
            <a:ext cx="895536"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Modified</a:t>
            </a:r>
          </a:p>
        </p:txBody>
      </p:sp>
      <p:sp>
        <p:nvSpPr>
          <p:cNvPr id="79" name="矩形 78">
            <a:extLst>
              <a:ext uri="{FF2B5EF4-FFF2-40B4-BE49-F238E27FC236}">
                <a16:creationId xmlns:a16="http://schemas.microsoft.com/office/drawing/2014/main" id="{42931875-9988-48B4-AF0C-D2BE88890AF5}"/>
              </a:ext>
            </a:extLst>
          </p:cNvPr>
          <p:cNvSpPr/>
          <p:nvPr/>
        </p:nvSpPr>
        <p:spPr>
          <a:xfrm>
            <a:off x="9695753" y="1133772"/>
            <a:ext cx="540914" cy="170037"/>
          </a:xfrm>
          <a:prstGeom prst="rect">
            <a:avLst/>
          </a:prstGeom>
          <a:solidFill>
            <a:schemeClr val="bg1">
              <a:lumMod val="65000"/>
            </a:schemeClr>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45E7E629-36D6-4727-8CF6-4B39DBA4F43F}"/>
              </a:ext>
            </a:extLst>
          </p:cNvPr>
          <p:cNvSpPr txBox="1"/>
          <p:nvPr/>
        </p:nvSpPr>
        <p:spPr>
          <a:xfrm>
            <a:off x="5392835" y="2577719"/>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extract the tar file and kernel file </a:t>
            </a:r>
            <a:endParaRPr lang="zh-TW" altLang="en-US" sz="1200" dirty="0">
              <a:latin typeface="Times New Roman" panose="02020603050405020304" pitchFamily="18" charset="0"/>
              <a:cs typeface="Times New Roman" panose="02020603050405020304" pitchFamily="18" charset="0"/>
            </a:endParaRPr>
          </a:p>
        </p:txBody>
      </p:sp>
      <p:cxnSp>
        <p:nvCxnSpPr>
          <p:cNvPr id="81" name="直線單箭頭接點 80">
            <a:extLst>
              <a:ext uri="{FF2B5EF4-FFF2-40B4-BE49-F238E27FC236}">
                <a16:creationId xmlns:a16="http://schemas.microsoft.com/office/drawing/2014/main" id="{2AE79517-CB2C-4242-9B26-5E7D7913193F}"/>
              </a:ext>
            </a:extLst>
          </p:cNvPr>
          <p:cNvCxnSpPr>
            <a:cxnSpLocks/>
            <a:stCxn id="20" idx="3"/>
            <a:endCxn id="60" idx="3"/>
          </p:cNvCxnSpPr>
          <p:nvPr/>
        </p:nvCxnSpPr>
        <p:spPr>
          <a:xfrm>
            <a:off x="4430007" y="3648936"/>
            <a:ext cx="5109328" cy="1996958"/>
          </a:xfrm>
          <a:prstGeom prst="bentConnector3">
            <a:avLst>
              <a:gd name="adj1" fmla="val 104474"/>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單箭頭接點 80">
            <a:extLst>
              <a:ext uri="{FF2B5EF4-FFF2-40B4-BE49-F238E27FC236}">
                <a16:creationId xmlns:a16="http://schemas.microsoft.com/office/drawing/2014/main" id="{20866966-9D45-484D-9143-8322BE519FD6}"/>
              </a:ext>
            </a:extLst>
          </p:cNvPr>
          <p:cNvCxnSpPr>
            <a:cxnSpLocks/>
            <a:stCxn id="54" idx="3"/>
            <a:endCxn id="69" idx="1"/>
          </p:cNvCxnSpPr>
          <p:nvPr/>
        </p:nvCxnSpPr>
        <p:spPr>
          <a:xfrm flipV="1">
            <a:off x="7319512" y="4420696"/>
            <a:ext cx="975275"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文字方塊 114">
            <a:extLst>
              <a:ext uri="{FF2B5EF4-FFF2-40B4-BE49-F238E27FC236}">
                <a16:creationId xmlns:a16="http://schemas.microsoft.com/office/drawing/2014/main" id="{16A913D8-E8EA-49FB-BA55-A96F35A25A76}"/>
              </a:ext>
            </a:extLst>
          </p:cNvPr>
          <p:cNvSpPr txBox="1"/>
          <p:nvPr/>
        </p:nvSpPr>
        <p:spPr>
          <a:xfrm>
            <a:off x="5683293" y="3353790"/>
            <a:ext cx="2250937"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create firmware image (raw file)</a:t>
            </a:r>
            <a:endParaRPr lang="zh-TW" altLang="en-US" sz="1200" dirty="0">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71D5B32C-DD3C-4410-B2D4-1ED69B1B7271}"/>
              </a:ext>
            </a:extLst>
          </p:cNvPr>
          <p:cNvSpPr txBox="1"/>
          <p:nvPr/>
        </p:nvSpPr>
        <p:spPr>
          <a:xfrm>
            <a:off x="7155143" y="4553063"/>
            <a:ext cx="1304011"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use </a:t>
            </a:r>
            <a:r>
              <a:rPr lang="en-US" altLang="zh-TW" sz="1200" dirty="0" err="1">
                <a:solidFill>
                  <a:srgbClr val="000000"/>
                </a:solidFill>
                <a:effectLst/>
                <a:latin typeface="Times New Roman" panose="02020603050405020304" pitchFamily="18" charset="0"/>
                <a:cs typeface="Times New Roman" panose="02020603050405020304" pitchFamily="18" charset="0"/>
              </a:rPr>
              <a:t>qemu</a:t>
            </a:r>
            <a:r>
              <a:rPr lang="en-US" altLang="zh-TW" sz="1200" dirty="0">
                <a:solidFill>
                  <a:srgbClr val="000000"/>
                </a:solidFill>
                <a:effectLst/>
                <a:latin typeface="Times New Roman" panose="02020603050405020304" pitchFamily="18" charset="0"/>
                <a:cs typeface="Times New Roman" panose="02020603050405020304" pitchFamily="18" charset="0"/>
              </a:rPr>
              <a:t> system </a:t>
            </a:r>
          </a:p>
          <a:p>
            <a:r>
              <a:rPr lang="en-US" altLang="zh-TW" sz="1200" dirty="0">
                <a:solidFill>
                  <a:srgbClr val="000000"/>
                </a:solidFill>
                <a:effectLst/>
                <a:latin typeface="Times New Roman" panose="02020603050405020304" pitchFamily="18" charset="0"/>
                <a:cs typeface="Times New Roman" panose="02020603050405020304" pitchFamily="18" charset="0"/>
              </a:rPr>
              <a:t>mode to emulate</a:t>
            </a:r>
            <a:endParaRPr lang="zh-TW" altLang="en-US" sz="1200" dirty="0">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DB6D538E-C27F-4DC9-A607-4931244CF508}"/>
              </a:ext>
            </a:extLst>
          </p:cNvPr>
          <p:cNvSpPr txBox="1"/>
          <p:nvPr/>
        </p:nvSpPr>
        <p:spPr>
          <a:xfrm>
            <a:off x="5272679" y="4763380"/>
            <a:ext cx="1202573"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run.sh</a:t>
            </a:r>
          </a:p>
          <a:p>
            <a:r>
              <a:rPr lang="en-US" altLang="zh-TW" sz="1200" dirty="0">
                <a:solidFill>
                  <a:srgbClr val="000000"/>
                </a:solidFill>
                <a:effectLst/>
                <a:latin typeface="Times New Roman" panose="02020603050405020304" pitchFamily="18" charset="0"/>
                <a:cs typeface="Times New Roman" panose="02020603050405020304" pitchFamily="18" charset="0"/>
              </a:rPr>
              <a:t>(Network, Boot)</a:t>
            </a:r>
            <a:endParaRPr lang="zh-TW" altLang="en-US" sz="1200" dirty="0">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73EDDABE-0459-432E-91F0-036ECD853057}"/>
              </a:ext>
            </a:extLst>
          </p:cNvPr>
          <p:cNvSpPr txBox="1"/>
          <p:nvPr/>
        </p:nvSpPr>
        <p:spPr>
          <a:xfrm>
            <a:off x="6560715" y="5619204"/>
            <a:ext cx="1651414" cy="461665"/>
          </a:xfrm>
          <a:prstGeom prst="rect">
            <a:avLst/>
          </a:prstGeom>
          <a:noFill/>
        </p:spPr>
        <p:txBody>
          <a:bodyPr wrap="none" rtlCol="0">
            <a:spAutoFit/>
          </a:bodyPr>
          <a:lstStyle/>
          <a:p>
            <a:r>
              <a:rPr lang="en-US" altLang="zh-TW" sz="1200" dirty="0">
                <a:solidFill>
                  <a:srgbClr val="000000"/>
                </a:solidFill>
                <a:effectLst/>
                <a:latin typeface="Times New Roman" panose="02020603050405020304" pitchFamily="18" charset="0"/>
                <a:cs typeface="Times New Roman" panose="02020603050405020304" pitchFamily="18" charset="0"/>
              </a:rPr>
              <a:t>modify firmware image</a:t>
            </a:r>
          </a:p>
          <a:p>
            <a:r>
              <a:rPr lang="en-US" altLang="zh-TW" sz="1200" dirty="0">
                <a:solidFill>
                  <a:srgbClr val="000000"/>
                </a:solidFill>
                <a:effectLst/>
                <a:latin typeface="Times New Roman" panose="02020603050405020304" pitchFamily="18" charset="0"/>
                <a:cs typeface="Times New Roman" panose="02020603050405020304" pitchFamily="18" charset="0"/>
              </a:rPr>
              <a:t>(Kernel, NVRAM)</a:t>
            </a:r>
            <a:endParaRPr lang="zh-TW" altLang="en-US" sz="1200" dirty="0">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2D590936-050D-4057-9793-13DCDE898EC2}"/>
              </a:ext>
            </a:extLst>
          </p:cNvPr>
          <p:cNvSpPr/>
          <p:nvPr/>
        </p:nvSpPr>
        <p:spPr>
          <a:xfrm>
            <a:off x="3033643" y="4875094"/>
            <a:ext cx="1553621" cy="6379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E6783C96-2413-4499-8C83-EB4AA0D68E9B}"/>
              </a:ext>
            </a:extLst>
          </p:cNvPr>
          <p:cNvSpPr>
            <a:spLocks noGrp="1"/>
          </p:cNvSpPr>
          <p:nvPr>
            <p:ph type="sldNum" sz="quarter" idx="12"/>
          </p:nvPr>
        </p:nvSpPr>
        <p:spPr/>
        <p:txBody>
          <a:bodyPr/>
          <a:lstStyle/>
          <a:p>
            <a:fld id="{7539D880-7677-4E8F-8D1B-ECF4759392EF}" type="slidenum">
              <a:rPr lang="zh-TW" altLang="en-US" smtClean="0"/>
              <a:t>13</a:t>
            </a:fld>
            <a:endParaRPr lang="zh-TW" altLang="en-US"/>
          </a:p>
        </p:txBody>
      </p:sp>
    </p:spTree>
    <p:extLst>
      <p:ext uri="{BB962C8B-B14F-4D97-AF65-F5344CB8AC3E}">
        <p14:creationId xmlns:p14="http://schemas.microsoft.com/office/powerpoint/2010/main" val="3484944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Arbitration</a:t>
            </a:r>
            <a:r>
              <a:rPr lang="zh-TW" altLang="en-US" sz="4800" kern="0" dirty="0">
                <a:solidFill>
                  <a:prstClr val="black"/>
                </a:solidFill>
                <a:latin typeface="Times New Roman" panose="02020603050405020304" pitchFamily="18" charset="0"/>
                <a:cs typeface="Times New Roman" panose="02020603050405020304" pitchFamily="18" charset="0"/>
              </a:rPr>
              <a:t> </a:t>
            </a:r>
            <a:r>
              <a:rPr lang="en-US" altLang="zh-TW" sz="4800" kern="0" dirty="0">
                <a:solidFill>
                  <a:prstClr val="black"/>
                </a:solidFill>
                <a:latin typeface="Times New Roman" panose="02020603050405020304" pitchFamily="18" charset="0"/>
                <a:cs typeface="Times New Roman" panose="02020603050405020304" pitchFamily="18" charset="0"/>
              </a:rPr>
              <a:t>-</a:t>
            </a:r>
            <a:r>
              <a:rPr lang="zh-TW" altLang="en-US" sz="4800" kern="0" dirty="0">
                <a:solidFill>
                  <a:prstClr val="black"/>
                </a:solidFill>
                <a:latin typeface="Times New Roman" panose="02020603050405020304" pitchFamily="18" charset="0"/>
                <a:cs typeface="Times New Roman" panose="02020603050405020304" pitchFamily="18" charset="0"/>
              </a:rPr>
              <a:t> </a:t>
            </a:r>
            <a:r>
              <a:rPr lang="en-US" altLang="zh-TW" sz="4800" kern="0" dirty="0">
                <a:solidFill>
                  <a:prstClr val="black"/>
                </a:solidFill>
                <a:latin typeface="Times New Roman" panose="02020603050405020304" pitchFamily="18" charset="0"/>
                <a:cs typeface="Times New Roman" panose="02020603050405020304" pitchFamily="18" charset="0"/>
              </a:rPr>
              <a:t>Boot</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68C814C1-6A49-4F37-8C57-07500AA03739}"/>
              </a:ext>
            </a:extLst>
          </p:cNvPr>
          <p:cNvSpPr>
            <a:spLocks noGrp="1"/>
          </p:cNvSpPr>
          <p:nvPr>
            <p:ph idx="1"/>
          </p:nvPr>
        </p:nvSpPr>
        <p:spPr>
          <a:xfrm>
            <a:off x="1097280" y="2270013"/>
            <a:ext cx="10058400" cy="1906964"/>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Correct and identify the execution order of </a:t>
            </a:r>
            <a:r>
              <a:rPr lang="en-US" altLang="zh-TW" sz="2200" b="1" dirty="0" err="1">
                <a:solidFill>
                  <a:srgbClr val="FF0000"/>
                </a:solidFill>
                <a:latin typeface="Times New Roman" panose="02020603050405020304" pitchFamily="18" charset="0"/>
                <a:cs typeface="Times New Roman" panose="02020603050405020304" pitchFamily="18" charset="0"/>
              </a:rPr>
              <a:t>init</a:t>
            </a:r>
            <a:r>
              <a:rPr lang="en-US" altLang="zh-TW" sz="2200" b="1" dirty="0">
                <a:solidFill>
                  <a:srgbClr val="FF0000"/>
                </a:solidFill>
                <a:latin typeface="Times New Roman" panose="02020603050405020304" pitchFamily="18" charset="0"/>
                <a:cs typeface="Times New Roman" panose="02020603050405020304" pitchFamily="18" charset="0"/>
              </a:rPr>
              <a:t> files </a:t>
            </a:r>
            <a:r>
              <a:rPr lang="en-US" altLang="zh-TW" sz="2200" dirty="0">
                <a:latin typeface="Times New Roman" panose="02020603050405020304" pitchFamily="18" charset="0"/>
                <a:cs typeface="Times New Roman" panose="02020603050405020304" pitchFamily="18" charset="0"/>
              </a:rPr>
              <a:t>during the firmware boot process, ensuring the emulation environment aligns with the behavior of the actual device after adjustments.</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Supplement common system directories (e.g., proc, </a:t>
            </a:r>
            <a:r>
              <a:rPr lang="en-US" altLang="zh-TW" sz="2200" dirty="0" err="1">
                <a:latin typeface="Times New Roman" panose="02020603050405020304" pitchFamily="18" charset="0"/>
                <a:cs typeface="Times New Roman" panose="02020603050405020304" pitchFamily="18" charset="0"/>
              </a:rPr>
              <a:t>tmp</a:t>
            </a:r>
            <a:r>
              <a:rPr lang="en-US" altLang="zh-TW" sz="2200" dirty="0">
                <a:latin typeface="Times New Roman" panose="02020603050405020304" pitchFamily="18" charset="0"/>
                <a:cs typeface="Times New Roman" panose="02020603050405020304" pitchFamily="18" charset="0"/>
              </a:rPr>
              <a:t>, var) to ensure the firmware can access them correctly during emulation or execution.</a:t>
            </a:r>
          </a:p>
        </p:txBody>
      </p:sp>
      <p:sp>
        <p:nvSpPr>
          <p:cNvPr id="7" name="投影片編號版面配置區 6">
            <a:extLst>
              <a:ext uri="{FF2B5EF4-FFF2-40B4-BE49-F238E27FC236}">
                <a16:creationId xmlns:a16="http://schemas.microsoft.com/office/drawing/2014/main" id="{665C67FC-6842-4CC0-8210-3986A631930B}"/>
              </a:ext>
            </a:extLst>
          </p:cNvPr>
          <p:cNvSpPr>
            <a:spLocks noGrp="1"/>
          </p:cNvSpPr>
          <p:nvPr>
            <p:ph type="sldNum" sz="quarter" idx="12"/>
          </p:nvPr>
        </p:nvSpPr>
        <p:spPr/>
        <p:txBody>
          <a:bodyPr/>
          <a:lstStyle/>
          <a:p>
            <a:fld id="{7539D880-7677-4E8F-8D1B-ECF4759392EF}" type="slidenum">
              <a:rPr lang="zh-TW" altLang="en-US" smtClean="0"/>
              <a:t>14</a:t>
            </a:fld>
            <a:endParaRPr lang="zh-TW" altLang="en-US"/>
          </a:p>
        </p:txBody>
      </p:sp>
    </p:spTree>
    <p:extLst>
      <p:ext uri="{BB962C8B-B14F-4D97-AF65-F5344CB8AC3E}">
        <p14:creationId xmlns:p14="http://schemas.microsoft.com/office/powerpoint/2010/main" val="3210728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Issue</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A7E23AB7-5A59-44D4-AA14-8333B20BAA46}"/>
              </a:ext>
            </a:extLst>
          </p:cNvPr>
          <p:cNvSpPr>
            <a:spLocks noGrp="1"/>
          </p:cNvSpPr>
          <p:nvPr>
            <p:ph idx="1"/>
          </p:nvPr>
        </p:nvSpPr>
        <p:spPr>
          <a:xfrm>
            <a:off x="1097280" y="2270013"/>
            <a:ext cx="10058400" cy="1906964"/>
          </a:xfrm>
        </p:spPr>
        <p:txBody>
          <a:bodyPr>
            <a:normAutofit/>
          </a:bodyPr>
          <a:lstStyle/>
          <a:p>
            <a:pPr marL="361950" indent="-361950" algn="just">
              <a:buFont typeface="Wingdings" panose="05000000000000000000" pitchFamily="2" charset="2"/>
              <a:buChar char="l"/>
            </a:pP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defaults to using the </a:t>
            </a:r>
            <a:r>
              <a:rPr lang="en-US" altLang="zh-TW" sz="2200" b="1" dirty="0" err="1">
                <a:solidFill>
                  <a:srgbClr val="FF0000"/>
                </a:solidFill>
                <a:latin typeface="Times New Roman" panose="02020603050405020304" pitchFamily="18" charset="0"/>
                <a:cs typeface="Times New Roman" panose="02020603050405020304" pitchFamily="18" charset="0"/>
              </a:rPr>
              <a:t>rdinit</a:t>
            </a:r>
            <a:r>
              <a:rPr lang="en-US" altLang="zh-TW" sz="2200" dirty="0">
                <a:latin typeface="Times New Roman" panose="02020603050405020304" pitchFamily="18" charset="0"/>
                <a:cs typeface="Times New Roman" panose="02020603050405020304" pitchFamily="18" charset="0"/>
              </a:rPr>
              <a:t> parameter to specify the startup script, but some firmware only supports the </a:t>
            </a:r>
            <a:r>
              <a:rPr lang="en-US" altLang="zh-TW" sz="2200" b="1" dirty="0" err="1">
                <a:solidFill>
                  <a:srgbClr val="FF0000"/>
                </a:solidFill>
                <a:latin typeface="Times New Roman" panose="02020603050405020304" pitchFamily="18" charset="0"/>
                <a:cs typeface="Times New Roman" panose="02020603050405020304" pitchFamily="18" charset="0"/>
              </a:rPr>
              <a:t>init</a:t>
            </a:r>
            <a:r>
              <a:rPr lang="en-US" altLang="zh-TW" sz="2200" dirty="0">
                <a:latin typeface="Times New Roman" panose="02020603050405020304" pitchFamily="18" charset="0"/>
                <a:cs typeface="Times New Roman" panose="02020603050405020304" pitchFamily="18" charset="0"/>
              </a:rPr>
              <a:t> parameter and cannot use </a:t>
            </a:r>
            <a:r>
              <a:rPr lang="en-US" altLang="zh-TW" sz="2200" b="1" dirty="0" err="1">
                <a:solidFill>
                  <a:srgbClr val="FF0000"/>
                </a:solidFill>
                <a:latin typeface="Times New Roman" panose="02020603050405020304" pitchFamily="18" charset="0"/>
                <a:cs typeface="Times New Roman" panose="02020603050405020304" pitchFamily="18" charset="0"/>
              </a:rPr>
              <a:t>rdinit</a:t>
            </a:r>
            <a:r>
              <a:rPr lang="en-US" altLang="zh-TW" sz="2200" dirty="0">
                <a:latin typeface="Times New Roman" panose="02020603050405020304" pitchFamily="18" charset="0"/>
                <a:cs typeface="Times New Roman" panose="02020603050405020304" pitchFamily="18" charset="0"/>
              </a:rPr>
              <a:t>.</a:t>
            </a:r>
          </a:p>
        </p:txBody>
      </p:sp>
      <p:sp>
        <p:nvSpPr>
          <p:cNvPr id="7" name="投影片編號版面配置區 6">
            <a:extLst>
              <a:ext uri="{FF2B5EF4-FFF2-40B4-BE49-F238E27FC236}">
                <a16:creationId xmlns:a16="http://schemas.microsoft.com/office/drawing/2014/main" id="{0EB50CCB-5F28-4F32-A5E6-7F63A3BED611}"/>
              </a:ext>
            </a:extLst>
          </p:cNvPr>
          <p:cNvSpPr>
            <a:spLocks noGrp="1"/>
          </p:cNvSpPr>
          <p:nvPr>
            <p:ph type="sldNum" sz="quarter" idx="12"/>
          </p:nvPr>
        </p:nvSpPr>
        <p:spPr/>
        <p:txBody>
          <a:bodyPr/>
          <a:lstStyle/>
          <a:p>
            <a:fld id="{7539D880-7677-4E8F-8D1B-ECF4759392EF}" type="slidenum">
              <a:rPr lang="zh-TW" altLang="en-US" smtClean="0"/>
              <a:t>15</a:t>
            </a:fld>
            <a:endParaRPr lang="zh-TW" altLang="en-US"/>
          </a:p>
        </p:txBody>
      </p:sp>
    </p:spTree>
    <p:extLst>
      <p:ext uri="{BB962C8B-B14F-4D97-AF65-F5344CB8AC3E}">
        <p14:creationId xmlns:p14="http://schemas.microsoft.com/office/powerpoint/2010/main" val="295515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Arbitration – Kernel</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EC2E5B5F-ADED-416C-89E6-8C34A25BF5F2}"/>
              </a:ext>
            </a:extLst>
          </p:cNvPr>
          <p:cNvSpPr>
            <a:spLocks noGrp="1"/>
          </p:cNvSpPr>
          <p:nvPr>
            <p:ph idx="1"/>
          </p:nvPr>
        </p:nvSpPr>
        <p:spPr>
          <a:xfrm>
            <a:off x="1097280" y="1992038"/>
            <a:ext cx="10058400" cy="2031323"/>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Firmware developed on different Linux kernel versions can cause emulation incompatibilities, which can be resolved by providing a </a:t>
            </a:r>
            <a:r>
              <a:rPr lang="en-US" altLang="zh-TW" sz="2200" b="1" dirty="0">
                <a:solidFill>
                  <a:srgbClr val="FF0000"/>
                </a:solidFill>
                <a:latin typeface="Times New Roman" panose="02020603050405020304" pitchFamily="18" charset="0"/>
                <a:cs typeface="Times New Roman" panose="02020603050405020304" pitchFamily="18" charset="0"/>
              </a:rPr>
              <a:t>newly</a:t>
            </a:r>
            <a:r>
              <a:rPr lang="en-US" altLang="zh-TW" sz="2200" dirty="0">
                <a:latin typeface="Times New Roman" panose="02020603050405020304" pitchFamily="18" charset="0"/>
                <a:cs typeface="Times New Roman" panose="02020603050405020304" pitchFamily="18" charset="0"/>
              </a:rPr>
              <a:t> compiled kernel version.</a:t>
            </a:r>
          </a:p>
          <a:p>
            <a:pPr marL="361950" indent="-361950" algn="just">
              <a:buFont typeface="Wingdings" panose="05000000000000000000" pitchFamily="2" charset="2"/>
              <a:buChar char="l"/>
            </a:pP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will include some common modules in the Linux kernel.</a:t>
            </a:r>
          </a:p>
        </p:txBody>
      </p:sp>
      <p:sp>
        <p:nvSpPr>
          <p:cNvPr id="7" name="投影片編號版面配置區 6">
            <a:extLst>
              <a:ext uri="{FF2B5EF4-FFF2-40B4-BE49-F238E27FC236}">
                <a16:creationId xmlns:a16="http://schemas.microsoft.com/office/drawing/2014/main" id="{768D11C3-E5E5-49DA-A2ED-B7789082CFE6}"/>
              </a:ext>
            </a:extLst>
          </p:cNvPr>
          <p:cNvSpPr>
            <a:spLocks noGrp="1"/>
          </p:cNvSpPr>
          <p:nvPr>
            <p:ph type="sldNum" sz="quarter" idx="12"/>
          </p:nvPr>
        </p:nvSpPr>
        <p:spPr/>
        <p:txBody>
          <a:bodyPr/>
          <a:lstStyle/>
          <a:p>
            <a:fld id="{7539D880-7677-4E8F-8D1B-ECF4759392EF}" type="slidenum">
              <a:rPr lang="zh-TW" altLang="en-US" smtClean="0"/>
              <a:t>16</a:t>
            </a:fld>
            <a:endParaRPr lang="zh-TW" altLang="en-US"/>
          </a:p>
        </p:txBody>
      </p:sp>
    </p:spTree>
    <p:extLst>
      <p:ext uri="{BB962C8B-B14F-4D97-AF65-F5344CB8AC3E}">
        <p14:creationId xmlns:p14="http://schemas.microsoft.com/office/powerpoint/2010/main" val="1336327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Issue</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644CA1BF-12E3-4BC4-B16F-0A4B9B09421B}"/>
              </a:ext>
            </a:extLst>
          </p:cNvPr>
          <p:cNvSpPr>
            <a:spLocks noGrp="1"/>
          </p:cNvSpPr>
          <p:nvPr>
            <p:ph idx="1"/>
          </p:nvPr>
        </p:nvSpPr>
        <p:spPr>
          <a:xfrm>
            <a:off x="1097280" y="1992038"/>
            <a:ext cx="10058400" cy="2031323"/>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This study found that while the generic kernel provided by </a:t>
            </a: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meets most requirements, the lack of specific modules prevents some firmware from functioning properly, leading to emulation failure.</a:t>
            </a:r>
          </a:p>
        </p:txBody>
      </p:sp>
      <p:sp>
        <p:nvSpPr>
          <p:cNvPr id="7" name="投影片編號版面配置區 6">
            <a:extLst>
              <a:ext uri="{FF2B5EF4-FFF2-40B4-BE49-F238E27FC236}">
                <a16:creationId xmlns:a16="http://schemas.microsoft.com/office/drawing/2014/main" id="{D92199E9-A0A5-48D7-9C9D-BB7943F59F7D}"/>
              </a:ext>
            </a:extLst>
          </p:cNvPr>
          <p:cNvSpPr>
            <a:spLocks noGrp="1"/>
          </p:cNvSpPr>
          <p:nvPr>
            <p:ph type="sldNum" sz="quarter" idx="12"/>
          </p:nvPr>
        </p:nvSpPr>
        <p:spPr/>
        <p:txBody>
          <a:bodyPr/>
          <a:lstStyle/>
          <a:p>
            <a:fld id="{7539D880-7677-4E8F-8D1B-ECF4759392EF}" type="slidenum">
              <a:rPr lang="zh-TW" altLang="en-US" smtClean="0"/>
              <a:t>17</a:t>
            </a:fld>
            <a:endParaRPr lang="zh-TW" altLang="en-US"/>
          </a:p>
        </p:txBody>
      </p:sp>
    </p:spTree>
    <p:extLst>
      <p:ext uri="{BB962C8B-B14F-4D97-AF65-F5344CB8AC3E}">
        <p14:creationId xmlns:p14="http://schemas.microsoft.com/office/powerpoint/2010/main" val="2937844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Arbitration – Network</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4F5D0FA8-47D1-4531-B886-125D8A2CBA7D}"/>
              </a:ext>
            </a:extLst>
          </p:cNvPr>
          <p:cNvSpPr>
            <a:spLocks noGrp="1"/>
          </p:cNvSpPr>
          <p:nvPr>
            <p:ph idx="1"/>
          </p:nvPr>
        </p:nvSpPr>
        <p:spPr>
          <a:xfrm>
            <a:off x="1097280" y="1992038"/>
            <a:ext cx="10058400" cy="4262458"/>
          </a:xfrm>
        </p:spPr>
        <p:txBody>
          <a:bodyPr>
            <a:normAutofit/>
          </a:bodyPr>
          <a:lstStyle/>
          <a:p>
            <a:pPr marL="361950" indent="-361950" algn="just">
              <a:buFont typeface="Wingdings" panose="05000000000000000000" pitchFamily="2" charset="2"/>
              <a:buChar char="l"/>
            </a:pP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configures only one interface and IP with a default route, avoiding additional settings to address the </a:t>
            </a:r>
            <a:r>
              <a:rPr lang="en-US" altLang="zh-TW" sz="2200" b="1" dirty="0">
                <a:solidFill>
                  <a:srgbClr val="FF0000"/>
                </a:solidFill>
                <a:latin typeface="Times New Roman" panose="02020603050405020304" pitchFamily="18" charset="0"/>
                <a:cs typeface="Times New Roman" panose="02020603050405020304" pitchFamily="18" charset="0"/>
              </a:rPr>
              <a:t>IP alias </a:t>
            </a:r>
            <a:r>
              <a:rPr lang="en-US" altLang="zh-TW" sz="2200" dirty="0">
                <a:latin typeface="Times New Roman" panose="02020603050405020304" pitchFamily="18" charset="0"/>
                <a:cs typeface="Times New Roman" panose="02020603050405020304" pitchFamily="18" charset="0"/>
              </a:rPr>
              <a:t>issue.</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Some firmware relies on DHCP for IP allocation, but the emulation environment may lack such devices, preventing IP acquisition. To address this issue, a network interface can be </a:t>
            </a:r>
            <a:r>
              <a:rPr lang="en-US" altLang="zh-TW" sz="2200" b="1" dirty="0">
                <a:solidFill>
                  <a:srgbClr val="FF0000"/>
                </a:solidFill>
                <a:latin typeface="Times New Roman" panose="02020603050405020304" pitchFamily="18" charset="0"/>
                <a:cs typeface="Times New Roman" panose="02020603050405020304" pitchFamily="18" charset="0"/>
              </a:rPr>
              <a:t>forcibly configured </a:t>
            </a:r>
            <a:r>
              <a:rPr lang="en-US" altLang="zh-TW" sz="2200" dirty="0">
                <a:latin typeface="Times New Roman" panose="02020603050405020304" pitchFamily="18" charset="0"/>
                <a:cs typeface="Times New Roman" panose="02020603050405020304" pitchFamily="18" charset="0"/>
              </a:rPr>
              <a:t>with a manually assigned IP(</a:t>
            </a:r>
            <a:r>
              <a:rPr lang="en-US" altLang="zh-TW" sz="2200" b="1" dirty="0">
                <a:solidFill>
                  <a:srgbClr val="FF0000"/>
                </a:solidFill>
                <a:latin typeface="Times New Roman" panose="02020603050405020304" pitchFamily="18" charset="0"/>
                <a:cs typeface="Times New Roman" panose="02020603050405020304" pitchFamily="18" charset="0"/>
              </a:rPr>
              <a:t>192.168.0.1</a:t>
            </a:r>
            <a:r>
              <a:rPr lang="en-US" altLang="zh-TW" sz="2200" dirty="0">
                <a:latin typeface="Times New Roman" panose="02020603050405020304" pitchFamily="18" charset="0"/>
                <a:cs typeface="Times New Roman" panose="02020603050405020304" pitchFamily="18" charset="0"/>
              </a:rPr>
              <a:t>).</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Some firmware uses VLANs to isolate subnets and prevent interference, but </a:t>
            </a: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found that </a:t>
            </a:r>
            <a:r>
              <a:rPr lang="en-US" altLang="zh-TW" sz="2200" dirty="0" err="1">
                <a:latin typeface="Times New Roman" panose="02020603050405020304" pitchFamily="18" charset="0"/>
                <a:cs typeface="Times New Roman" panose="02020603050405020304" pitchFamily="18" charset="0"/>
              </a:rPr>
              <a:t>Firmadyne</a:t>
            </a:r>
            <a:r>
              <a:rPr lang="en-US" altLang="zh-TW" sz="2200" dirty="0">
                <a:latin typeface="Times New Roman" panose="02020603050405020304" pitchFamily="18" charset="0"/>
                <a:cs typeface="Times New Roman" panose="02020603050405020304" pitchFamily="18" charset="0"/>
              </a:rPr>
              <a:t> does not handle them correctly. Therefore, it properly configures VLANs to emulate a realistic network environment.</a:t>
            </a:r>
          </a:p>
          <a:p>
            <a:pPr marL="361950" indent="-361950" algn="just">
              <a:buFont typeface="Wingdings" panose="05000000000000000000" pitchFamily="2" charset="2"/>
              <a:buChar char="l"/>
            </a:pP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checks and removes firewall rules during the emulation process to ensure proper access.</a:t>
            </a:r>
          </a:p>
        </p:txBody>
      </p:sp>
      <p:sp>
        <p:nvSpPr>
          <p:cNvPr id="7" name="投影片編號版面配置區 6">
            <a:extLst>
              <a:ext uri="{FF2B5EF4-FFF2-40B4-BE49-F238E27FC236}">
                <a16:creationId xmlns:a16="http://schemas.microsoft.com/office/drawing/2014/main" id="{B7C7B49E-9D21-468B-A295-4A699E7556B2}"/>
              </a:ext>
            </a:extLst>
          </p:cNvPr>
          <p:cNvSpPr>
            <a:spLocks noGrp="1"/>
          </p:cNvSpPr>
          <p:nvPr>
            <p:ph type="sldNum" sz="quarter" idx="12"/>
          </p:nvPr>
        </p:nvSpPr>
        <p:spPr/>
        <p:txBody>
          <a:bodyPr/>
          <a:lstStyle/>
          <a:p>
            <a:fld id="{7539D880-7677-4E8F-8D1B-ECF4759392EF}" type="slidenum">
              <a:rPr lang="zh-TW" altLang="en-US" smtClean="0"/>
              <a:t>18</a:t>
            </a:fld>
            <a:endParaRPr lang="zh-TW" altLang="en-US"/>
          </a:p>
        </p:txBody>
      </p:sp>
    </p:spTree>
    <p:extLst>
      <p:ext uri="{BB962C8B-B14F-4D97-AF65-F5344CB8AC3E}">
        <p14:creationId xmlns:p14="http://schemas.microsoft.com/office/powerpoint/2010/main" val="28152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Issue</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1BA88CBA-9304-4473-B3C6-495C06649894}"/>
              </a:ext>
            </a:extLst>
          </p:cNvPr>
          <p:cNvSpPr>
            <a:spLocks noGrp="1"/>
          </p:cNvSpPr>
          <p:nvPr>
            <p:ph idx="1"/>
          </p:nvPr>
        </p:nvSpPr>
        <p:spPr>
          <a:xfrm>
            <a:off x="1097280" y="1992038"/>
            <a:ext cx="10058400" cy="4262458"/>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This study found that </a:t>
            </a: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uniformly configures network interfaces with the default IP address </a:t>
            </a:r>
            <a:r>
              <a:rPr lang="en-US" altLang="zh-TW" sz="2200" b="1" dirty="0">
                <a:solidFill>
                  <a:srgbClr val="FF0000"/>
                </a:solidFill>
                <a:latin typeface="Times New Roman" panose="02020603050405020304" pitchFamily="18" charset="0"/>
                <a:cs typeface="Times New Roman" panose="02020603050405020304" pitchFamily="18" charset="0"/>
              </a:rPr>
              <a:t>192.168.0.1</a:t>
            </a:r>
            <a:r>
              <a:rPr lang="en-US" altLang="zh-TW" sz="2200" dirty="0">
                <a:latin typeface="Times New Roman" panose="02020603050405020304" pitchFamily="18" charset="0"/>
                <a:cs typeface="Times New Roman" panose="02020603050405020304" pitchFamily="18" charset="0"/>
              </a:rPr>
              <a:t>. However, some firmware requires specific IP addresses and cannot match the default configuration.</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This study also found that some firmware creates network interfaces and configures IP addresses independently during the startup process, </a:t>
            </a:r>
            <a:r>
              <a:rPr lang="en-US" altLang="zh-TW" sz="2200" b="1" dirty="0">
                <a:solidFill>
                  <a:srgbClr val="FF0000"/>
                </a:solidFill>
                <a:latin typeface="Times New Roman" panose="02020603050405020304" pitchFamily="18" charset="0"/>
                <a:cs typeface="Times New Roman" panose="02020603050405020304" pitchFamily="18" charset="0"/>
              </a:rPr>
              <a:t>without</a:t>
            </a:r>
            <a:r>
              <a:rPr lang="en-US" altLang="zh-TW" sz="2200" dirty="0">
                <a:latin typeface="Times New Roman" panose="02020603050405020304" pitchFamily="18" charset="0"/>
                <a:cs typeface="Times New Roman" panose="02020603050405020304" pitchFamily="18" charset="0"/>
              </a:rPr>
              <a:t> relying on external network configuration tools or scripts.</a:t>
            </a:r>
          </a:p>
        </p:txBody>
      </p:sp>
      <p:sp>
        <p:nvSpPr>
          <p:cNvPr id="7" name="投影片編號版面配置區 6">
            <a:extLst>
              <a:ext uri="{FF2B5EF4-FFF2-40B4-BE49-F238E27FC236}">
                <a16:creationId xmlns:a16="http://schemas.microsoft.com/office/drawing/2014/main" id="{B9551688-D2E8-45D2-BA9C-07A0970C5544}"/>
              </a:ext>
            </a:extLst>
          </p:cNvPr>
          <p:cNvSpPr>
            <a:spLocks noGrp="1"/>
          </p:cNvSpPr>
          <p:nvPr>
            <p:ph type="sldNum" sz="quarter" idx="12"/>
          </p:nvPr>
        </p:nvSpPr>
        <p:spPr/>
        <p:txBody>
          <a:bodyPr/>
          <a:lstStyle/>
          <a:p>
            <a:fld id="{7539D880-7677-4E8F-8D1B-ECF4759392EF}" type="slidenum">
              <a:rPr lang="zh-TW" altLang="en-US" smtClean="0"/>
              <a:t>19</a:t>
            </a:fld>
            <a:endParaRPr lang="zh-TW" altLang="en-US"/>
          </a:p>
        </p:txBody>
      </p:sp>
    </p:spTree>
    <p:extLst>
      <p:ext uri="{BB962C8B-B14F-4D97-AF65-F5344CB8AC3E}">
        <p14:creationId xmlns:p14="http://schemas.microsoft.com/office/powerpoint/2010/main" val="2452336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Arbitration - NVRAM</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E06E36EC-7EBC-40F8-BF3C-2EE7E4E2AF72}"/>
              </a:ext>
            </a:extLst>
          </p:cNvPr>
          <p:cNvSpPr>
            <a:spLocks noGrp="1"/>
          </p:cNvSpPr>
          <p:nvPr>
            <p:ph idx="1"/>
          </p:nvPr>
        </p:nvSpPr>
        <p:spPr>
          <a:xfrm>
            <a:off x="1097280" y="1992038"/>
            <a:ext cx="10058400" cy="2031323"/>
          </a:xfrm>
        </p:spPr>
        <p:txBody>
          <a:bodyPr>
            <a:normAutofit/>
          </a:bodyPr>
          <a:lstStyle/>
          <a:p>
            <a:pPr marL="361950" indent="-361950" algn="just">
              <a:buFont typeface="Wingdings" panose="05000000000000000000" pitchFamily="2" charset="2"/>
              <a:buChar char="l"/>
            </a:pP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configures the NVRAM values required by firmware, ensuring proper settings </a:t>
            </a:r>
            <a:r>
              <a:rPr lang="en-US" altLang="zh-TW" sz="2200">
                <a:latin typeface="Times New Roman" panose="02020603050405020304" pitchFamily="18" charset="0"/>
                <a:cs typeface="Times New Roman" panose="02020603050405020304" pitchFamily="18" charset="0"/>
              </a:rPr>
              <a:t>during emulation </a:t>
            </a:r>
            <a:r>
              <a:rPr lang="en-US" altLang="zh-TW" sz="2200" dirty="0">
                <a:latin typeface="Times New Roman" panose="02020603050405020304" pitchFamily="18" charset="0"/>
                <a:cs typeface="Times New Roman" panose="02020603050405020304" pitchFamily="18" charset="0"/>
              </a:rPr>
              <a:t>to prevent system crashes and emulation failure.</a:t>
            </a:r>
          </a:p>
        </p:txBody>
      </p:sp>
      <p:sp>
        <p:nvSpPr>
          <p:cNvPr id="7" name="投影片編號版面配置區 6">
            <a:extLst>
              <a:ext uri="{FF2B5EF4-FFF2-40B4-BE49-F238E27FC236}">
                <a16:creationId xmlns:a16="http://schemas.microsoft.com/office/drawing/2014/main" id="{02653526-E4A1-49BD-8BCE-F96ADFA3D6F8}"/>
              </a:ext>
            </a:extLst>
          </p:cNvPr>
          <p:cNvSpPr>
            <a:spLocks noGrp="1"/>
          </p:cNvSpPr>
          <p:nvPr>
            <p:ph type="sldNum" sz="quarter" idx="12"/>
          </p:nvPr>
        </p:nvSpPr>
        <p:spPr/>
        <p:txBody>
          <a:bodyPr/>
          <a:lstStyle/>
          <a:p>
            <a:fld id="{7539D880-7677-4E8F-8D1B-ECF4759392EF}" type="slidenum">
              <a:rPr lang="zh-TW" altLang="en-US" smtClean="0"/>
              <a:t>20</a:t>
            </a:fld>
            <a:endParaRPr lang="zh-TW" altLang="en-US"/>
          </a:p>
        </p:txBody>
      </p:sp>
    </p:spTree>
    <p:extLst>
      <p:ext uri="{BB962C8B-B14F-4D97-AF65-F5344CB8AC3E}">
        <p14:creationId xmlns:p14="http://schemas.microsoft.com/office/powerpoint/2010/main" val="3473993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sz="4800" kern="0" dirty="0">
                <a:solidFill>
                  <a:prstClr val="black"/>
                </a:solidFill>
                <a:latin typeface="Times New Roman" panose="02020603050405020304" pitchFamily="18" charset="0"/>
                <a:cs typeface="Times New Roman" panose="02020603050405020304" pitchFamily="18" charset="0"/>
              </a:rPr>
              <a:t>Issue</a:t>
            </a:r>
            <a:endParaRPr lang="en-US" altLang="zh-TW" dirty="0">
              <a:solidFill>
                <a:schemeClr val="dk1"/>
              </a:solidFill>
              <a:latin typeface="Times New Roman"/>
              <a:ea typeface="Times New Roman"/>
              <a:cs typeface="Times New Roman"/>
              <a:sym typeface="Times New Roman"/>
            </a:endParaRPr>
          </a:p>
        </p:txBody>
      </p:sp>
      <p:sp>
        <p:nvSpPr>
          <p:cNvPr id="4" name="內容版面配置區 2">
            <a:extLst>
              <a:ext uri="{FF2B5EF4-FFF2-40B4-BE49-F238E27FC236}">
                <a16:creationId xmlns:a16="http://schemas.microsoft.com/office/drawing/2014/main" id="{B60F51FE-E4F2-402F-92AA-C797FA449709}"/>
              </a:ext>
            </a:extLst>
          </p:cNvPr>
          <p:cNvSpPr>
            <a:spLocks noGrp="1"/>
          </p:cNvSpPr>
          <p:nvPr>
            <p:ph idx="1"/>
          </p:nvPr>
        </p:nvSpPr>
        <p:spPr>
          <a:xfrm>
            <a:off x="1097280" y="1992038"/>
            <a:ext cx="10058400" cy="2031323"/>
          </a:xfrm>
        </p:spPr>
        <p:txBody>
          <a:bodyPr>
            <a:normAutofit/>
          </a:bodyPr>
          <a:lstStyle/>
          <a:p>
            <a:pPr marL="361950" indent="-361950" algn="just">
              <a:buFont typeface="Wingdings" panose="05000000000000000000" pitchFamily="2" charset="2"/>
              <a:buChar char="l"/>
            </a:pPr>
            <a:r>
              <a:rPr lang="en-US" altLang="zh-TW" sz="2200" dirty="0" err="1">
                <a:latin typeface="Times New Roman" panose="02020603050405020304" pitchFamily="18" charset="0"/>
                <a:cs typeface="Times New Roman" panose="02020603050405020304" pitchFamily="18" charset="0"/>
              </a:rPr>
              <a:t>FirmAE</a:t>
            </a:r>
            <a:r>
              <a:rPr lang="en-US" altLang="zh-TW" sz="2200" dirty="0">
                <a:latin typeface="Times New Roman" panose="02020603050405020304" pitchFamily="18" charset="0"/>
                <a:cs typeface="Times New Roman" panose="02020603050405020304" pitchFamily="18" charset="0"/>
              </a:rPr>
              <a:t> provides basic NVRAM operations for firmware execution, but some firmware requires </a:t>
            </a:r>
            <a:r>
              <a:rPr lang="en-US" altLang="zh-TW" sz="2200" b="1" dirty="0">
                <a:solidFill>
                  <a:srgbClr val="FF0000"/>
                </a:solidFill>
                <a:latin typeface="Times New Roman" panose="02020603050405020304" pitchFamily="18" charset="0"/>
                <a:cs typeface="Times New Roman" panose="02020603050405020304" pitchFamily="18" charset="0"/>
              </a:rPr>
              <a:t>additional operations </a:t>
            </a:r>
            <a:r>
              <a:rPr lang="en-US" altLang="zh-TW" sz="2200" dirty="0">
                <a:latin typeface="Times New Roman" panose="02020603050405020304" pitchFamily="18" charset="0"/>
                <a:cs typeface="Times New Roman" panose="02020603050405020304" pitchFamily="18" charset="0"/>
              </a:rPr>
              <a:t>that are overridden by </a:t>
            </a:r>
            <a:r>
              <a:rPr lang="en-US" altLang="zh-TW" sz="2200" dirty="0" err="1">
                <a:latin typeface="Times New Roman" panose="02020603050405020304" pitchFamily="18" charset="0"/>
                <a:cs typeface="Times New Roman" panose="02020603050405020304" pitchFamily="18" charset="0"/>
              </a:rPr>
              <a:t>FirmAE's</a:t>
            </a:r>
            <a:r>
              <a:rPr lang="en-US" altLang="zh-TW" sz="2200" dirty="0">
                <a:latin typeface="Times New Roman" panose="02020603050405020304" pitchFamily="18" charset="0"/>
                <a:cs typeface="Times New Roman" panose="02020603050405020304" pitchFamily="18" charset="0"/>
              </a:rPr>
              <a:t> NVRAM Arbitrations, leading to emulation failure.</a:t>
            </a:r>
          </a:p>
        </p:txBody>
      </p:sp>
      <p:sp>
        <p:nvSpPr>
          <p:cNvPr id="7" name="投影片編號版面配置區 6">
            <a:extLst>
              <a:ext uri="{FF2B5EF4-FFF2-40B4-BE49-F238E27FC236}">
                <a16:creationId xmlns:a16="http://schemas.microsoft.com/office/drawing/2014/main" id="{7A1DC4CC-AD33-4E51-A275-263016BB8243}"/>
              </a:ext>
            </a:extLst>
          </p:cNvPr>
          <p:cNvSpPr>
            <a:spLocks noGrp="1"/>
          </p:cNvSpPr>
          <p:nvPr>
            <p:ph type="sldNum" sz="quarter" idx="12"/>
          </p:nvPr>
        </p:nvSpPr>
        <p:spPr/>
        <p:txBody>
          <a:bodyPr/>
          <a:lstStyle/>
          <a:p>
            <a:fld id="{7539D880-7677-4E8F-8D1B-ECF4759392EF}" type="slidenum">
              <a:rPr lang="zh-TW" altLang="en-US" smtClean="0"/>
              <a:t>21</a:t>
            </a:fld>
            <a:endParaRPr lang="zh-TW" altLang="en-US"/>
          </a:p>
        </p:txBody>
      </p:sp>
    </p:spTree>
    <p:extLst>
      <p:ext uri="{BB962C8B-B14F-4D97-AF65-F5344CB8AC3E}">
        <p14:creationId xmlns:p14="http://schemas.microsoft.com/office/powerpoint/2010/main" val="2632446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Repair Process</a:t>
            </a:r>
            <a:endParaRPr lang="zh-TW" altLang="en-US" dirty="0"/>
          </a:p>
        </p:txBody>
      </p:sp>
      <p:grpSp>
        <p:nvGrpSpPr>
          <p:cNvPr id="41" name="群組 40">
            <a:extLst>
              <a:ext uri="{FF2B5EF4-FFF2-40B4-BE49-F238E27FC236}">
                <a16:creationId xmlns:a16="http://schemas.microsoft.com/office/drawing/2014/main" id="{1EC25812-C073-46C7-8927-E1ECCBC19B1E}"/>
              </a:ext>
            </a:extLst>
          </p:cNvPr>
          <p:cNvGrpSpPr/>
          <p:nvPr/>
        </p:nvGrpSpPr>
        <p:grpSpPr>
          <a:xfrm>
            <a:off x="9481828" y="641621"/>
            <a:ext cx="1673852" cy="964880"/>
            <a:chOff x="9481828" y="641621"/>
            <a:chExt cx="1673852" cy="964880"/>
          </a:xfrm>
        </p:grpSpPr>
        <p:sp>
          <p:nvSpPr>
            <p:cNvPr id="43" name="矩形: 圓角 42">
              <a:extLst>
                <a:ext uri="{FF2B5EF4-FFF2-40B4-BE49-F238E27FC236}">
                  <a16:creationId xmlns:a16="http://schemas.microsoft.com/office/drawing/2014/main" id="{D3AEDCF3-48E4-4DED-9C68-B0AEFA54818E}"/>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C860D326-9DB0-49EF-854D-187C27466E85}"/>
                </a:ext>
              </a:extLst>
            </p:cNvPr>
            <p:cNvSpPr txBox="1"/>
            <p:nvPr/>
          </p:nvSpPr>
          <p:spPr>
            <a:xfrm>
              <a:off x="10316947" y="917527"/>
              <a:ext cx="838733" cy="223318"/>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Process</a:t>
              </a:r>
            </a:p>
          </p:txBody>
        </p:sp>
        <p:sp>
          <p:nvSpPr>
            <p:cNvPr id="48" name="矩形 47">
              <a:extLst>
                <a:ext uri="{FF2B5EF4-FFF2-40B4-BE49-F238E27FC236}">
                  <a16:creationId xmlns:a16="http://schemas.microsoft.com/office/drawing/2014/main" id="{947561C5-7F06-4D2F-800B-71D562C45719}"/>
                </a:ext>
              </a:extLst>
            </p:cNvPr>
            <p:cNvSpPr/>
            <p:nvPr/>
          </p:nvSpPr>
          <p:spPr>
            <a:xfrm>
              <a:off x="9695753" y="981984"/>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F325370D-31B9-4591-8F66-DC7C7AC03464}"/>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grpSp>
        <p:nvGrpSpPr>
          <p:cNvPr id="22" name="群組 21">
            <a:extLst>
              <a:ext uri="{FF2B5EF4-FFF2-40B4-BE49-F238E27FC236}">
                <a16:creationId xmlns:a16="http://schemas.microsoft.com/office/drawing/2014/main" id="{7E5664B3-E7CC-45CD-9691-29D1B16E7D75}"/>
              </a:ext>
            </a:extLst>
          </p:cNvPr>
          <p:cNvGrpSpPr/>
          <p:nvPr/>
        </p:nvGrpSpPr>
        <p:grpSpPr>
          <a:xfrm>
            <a:off x="5322962" y="2045768"/>
            <a:ext cx="1607035" cy="3881958"/>
            <a:chOff x="4596254" y="2009192"/>
            <a:chExt cx="1607035" cy="3881958"/>
          </a:xfrm>
        </p:grpSpPr>
        <p:sp>
          <p:nvSpPr>
            <p:cNvPr id="9" name="矩形 8">
              <a:extLst>
                <a:ext uri="{FF2B5EF4-FFF2-40B4-BE49-F238E27FC236}">
                  <a16:creationId xmlns:a16="http://schemas.microsoft.com/office/drawing/2014/main" id="{3C7DEF48-D070-4D1F-8472-4A5A9161FED1}"/>
                </a:ext>
              </a:extLst>
            </p:cNvPr>
            <p:cNvSpPr/>
            <p:nvPr/>
          </p:nvSpPr>
          <p:spPr>
            <a:xfrm>
              <a:off x="4596256" y="2873629"/>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Redirect Output</a:t>
              </a:r>
            </a:p>
          </p:txBody>
        </p:sp>
        <p:sp>
          <p:nvSpPr>
            <p:cNvPr id="14" name="矩形 13">
              <a:extLst>
                <a:ext uri="{FF2B5EF4-FFF2-40B4-BE49-F238E27FC236}">
                  <a16:creationId xmlns:a16="http://schemas.microsoft.com/office/drawing/2014/main" id="{B3B01F6D-2912-42A6-B5AA-062385B3A39F}"/>
                </a:ext>
              </a:extLst>
            </p:cNvPr>
            <p:cNvSpPr/>
            <p:nvPr/>
          </p:nvSpPr>
          <p:spPr>
            <a:xfrm>
              <a:off x="4596255" y="3669767"/>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Induce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15" name="矩形 14">
              <a:extLst>
                <a:ext uri="{FF2B5EF4-FFF2-40B4-BE49-F238E27FC236}">
                  <a16:creationId xmlns:a16="http://schemas.microsoft.com/office/drawing/2014/main" id="{37622FE1-EB89-453E-B753-247A755E1C58}"/>
                </a:ext>
              </a:extLst>
            </p:cNvPr>
            <p:cNvSpPr/>
            <p:nvPr/>
          </p:nvSpPr>
          <p:spPr>
            <a:xfrm>
              <a:off x="4596255" y="4465905"/>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Validate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5" name="橢圓 4">
              <a:extLst>
                <a:ext uri="{FF2B5EF4-FFF2-40B4-BE49-F238E27FC236}">
                  <a16:creationId xmlns:a16="http://schemas.microsoft.com/office/drawing/2014/main" id="{BD8B1572-B157-4273-A782-AC6CBB199374}"/>
                </a:ext>
              </a:extLst>
            </p:cNvPr>
            <p:cNvSpPr/>
            <p:nvPr/>
          </p:nvSpPr>
          <p:spPr>
            <a:xfrm>
              <a:off x="4596254" y="2009192"/>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Start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17" name="橢圓 16">
              <a:extLst>
                <a:ext uri="{FF2B5EF4-FFF2-40B4-BE49-F238E27FC236}">
                  <a16:creationId xmlns:a16="http://schemas.microsoft.com/office/drawing/2014/main" id="{2E9D7693-D983-49FA-9F19-78A49A910D9C}"/>
                </a:ext>
              </a:extLst>
            </p:cNvPr>
            <p:cNvSpPr/>
            <p:nvPr/>
          </p:nvSpPr>
          <p:spPr>
            <a:xfrm>
              <a:off x="4596254" y="5262043"/>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End</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18" name="直線單箭頭接點 17">
              <a:extLst>
                <a:ext uri="{FF2B5EF4-FFF2-40B4-BE49-F238E27FC236}">
                  <a16:creationId xmlns:a16="http://schemas.microsoft.com/office/drawing/2014/main" id="{C432A3AB-5059-4A21-90F4-9D0F3612F93B}"/>
                </a:ext>
              </a:extLst>
            </p:cNvPr>
            <p:cNvCxnSpPr>
              <a:cxnSpLocks/>
              <a:stCxn id="5" idx="4"/>
              <a:endCxn id="9" idx="0"/>
            </p:cNvCxnSpPr>
            <p:nvPr/>
          </p:nvCxnSpPr>
          <p:spPr>
            <a:xfrm>
              <a:off x="5399771" y="2638299"/>
              <a:ext cx="2" cy="2353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線單箭頭接點 20">
              <a:extLst>
                <a:ext uri="{FF2B5EF4-FFF2-40B4-BE49-F238E27FC236}">
                  <a16:creationId xmlns:a16="http://schemas.microsoft.com/office/drawing/2014/main" id="{3666AB88-2ED2-44D0-AF13-73D30350ADC7}"/>
                </a:ext>
              </a:extLst>
            </p:cNvPr>
            <p:cNvCxnSpPr>
              <a:cxnSpLocks/>
              <a:stCxn id="9" idx="2"/>
              <a:endCxn id="14" idx="0"/>
            </p:cNvCxnSpPr>
            <p:nvPr/>
          </p:nvCxnSpPr>
          <p:spPr>
            <a:xfrm flipH="1">
              <a:off x="5399772" y="3372307"/>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單箭頭接點 23">
              <a:extLst>
                <a:ext uri="{FF2B5EF4-FFF2-40B4-BE49-F238E27FC236}">
                  <a16:creationId xmlns:a16="http://schemas.microsoft.com/office/drawing/2014/main" id="{DDDDA5B3-3A95-4533-9F6D-4EC138B6DA71}"/>
                </a:ext>
              </a:extLst>
            </p:cNvPr>
            <p:cNvCxnSpPr>
              <a:cxnSpLocks/>
              <a:stCxn id="14" idx="2"/>
              <a:endCxn id="15" idx="0"/>
            </p:cNvCxnSpPr>
            <p:nvPr/>
          </p:nvCxnSpPr>
          <p:spPr>
            <a:xfrm>
              <a:off x="5399772" y="4168445"/>
              <a:ext cx="0"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單箭頭接點 26">
              <a:extLst>
                <a:ext uri="{FF2B5EF4-FFF2-40B4-BE49-F238E27FC236}">
                  <a16:creationId xmlns:a16="http://schemas.microsoft.com/office/drawing/2014/main" id="{F9443EE6-D615-4BA3-8AF0-4FCE6E19CDF0}"/>
                </a:ext>
              </a:extLst>
            </p:cNvPr>
            <p:cNvCxnSpPr>
              <a:cxnSpLocks/>
              <a:stCxn id="15" idx="2"/>
              <a:endCxn id="17" idx="0"/>
            </p:cNvCxnSpPr>
            <p:nvPr/>
          </p:nvCxnSpPr>
          <p:spPr>
            <a:xfrm flipH="1">
              <a:off x="5399771" y="4964583"/>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7" name="投影片編號版面配置區 6">
            <a:extLst>
              <a:ext uri="{FF2B5EF4-FFF2-40B4-BE49-F238E27FC236}">
                <a16:creationId xmlns:a16="http://schemas.microsoft.com/office/drawing/2014/main" id="{A92B3E16-D8A5-4A38-B6D5-C73974904CA8}"/>
              </a:ext>
            </a:extLst>
          </p:cNvPr>
          <p:cNvSpPr>
            <a:spLocks noGrp="1"/>
          </p:cNvSpPr>
          <p:nvPr>
            <p:ph type="sldNum" sz="quarter" idx="12"/>
          </p:nvPr>
        </p:nvSpPr>
        <p:spPr/>
        <p:txBody>
          <a:bodyPr/>
          <a:lstStyle/>
          <a:p>
            <a:fld id="{7539D880-7677-4E8F-8D1B-ECF4759392EF}" type="slidenum">
              <a:rPr lang="zh-TW" altLang="en-US" smtClean="0"/>
              <a:t>22</a:t>
            </a:fld>
            <a:endParaRPr lang="zh-TW" altLang="en-US"/>
          </a:p>
        </p:txBody>
      </p:sp>
    </p:spTree>
    <p:extLst>
      <p:ext uri="{BB962C8B-B14F-4D97-AF65-F5344CB8AC3E}">
        <p14:creationId xmlns:p14="http://schemas.microsoft.com/office/powerpoint/2010/main" val="3326734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Repair Process</a:t>
            </a:r>
            <a:endParaRPr lang="zh-TW" altLang="en-US" dirty="0"/>
          </a:p>
        </p:txBody>
      </p:sp>
      <p:grpSp>
        <p:nvGrpSpPr>
          <p:cNvPr id="41" name="群組 40">
            <a:extLst>
              <a:ext uri="{FF2B5EF4-FFF2-40B4-BE49-F238E27FC236}">
                <a16:creationId xmlns:a16="http://schemas.microsoft.com/office/drawing/2014/main" id="{1EC25812-C073-46C7-8927-E1ECCBC19B1E}"/>
              </a:ext>
            </a:extLst>
          </p:cNvPr>
          <p:cNvGrpSpPr/>
          <p:nvPr/>
        </p:nvGrpSpPr>
        <p:grpSpPr>
          <a:xfrm>
            <a:off x="9481828" y="641621"/>
            <a:ext cx="1673852" cy="964880"/>
            <a:chOff x="9481828" y="641621"/>
            <a:chExt cx="1673852" cy="964880"/>
          </a:xfrm>
        </p:grpSpPr>
        <p:sp>
          <p:nvSpPr>
            <p:cNvPr id="43" name="矩形: 圓角 42">
              <a:extLst>
                <a:ext uri="{FF2B5EF4-FFF2-40B4-BE49-F238E27FC236}">
                  <a16:creationId xmlns:a16="http://schemas.microsoft.com/office/drawing/2014/main" id="{D3AEDCF3-48E4-4DED-9C68-B0AEFA54818E}"/>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C860D326-9DB0-49EF-854D-187C27466E85}"/>
                </a:ext>
              </a:extLst>
            </p:cNvPr>
            <p:cNvSpPr txBox="1"/>
            <p:nvPr/>
          </p:nvSpPr>
          <p:spPr>
            <a:xfrm>
              <a:off x="10316947" y="917527"/>
              <a:ext cx="838733" cy="223318"/>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Process</a:t>
              </a:r>
            </a:p>
          </p:txBody>
        </p:sp>
        <p:sp>
          <p:nvSpPr>
            <p:cNvPr id="48" name="矩形 47">
              <a:extLst>
                <a:ext uri="{FF2B5EF4-FFF2-40B4-BE49-F238E27FC236}">
                  <a16:creationId xmlns:a16="http://schemas.microsoft.com/office/drawing/2014/main" id="{947561C5-7F06-4D2F-800B-71D562C45719}"/>
                </a:ext>
              </a:extLst>
            </p:cNvPr>
            <p:cNvSpPr/>
            <p:nvPr/>
          </p:nvSpPr>
          <p:spPr>
            <a:xfrm>
              <a:off x="9695753" y="981984"/>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F325370D-31B9-4591-8F66-DC7C7AC03464}"/>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grpSp>
        <p:nvGrpSpPr>
          <p:cNvPr id="20" name="群組 19">
            <a:extLst>
              <a:ext uri="{FF2B5EF4-FFF2-40B4-BE49-F238E27FC236}">
                <a16:creationId xmlns:a16="http://schemas.microsoft.com/office/drawing/2014/main" id="{52C3BB97-8B3A-4D7C-88E6-BCC80965A118}"/>
              </a:ext>
            </a:extLst>
          </p:cNvPr>
          <p:cNvGrpSpPr/>
          <p:nvPr/>
        </p:nvGrpSpPr>
        <p:grpSpPr>
          <a:xfrm>
            <a:off x="5322962" y="2045768"/>
            <a:ext cx="1607035" cy="3881958"/>
            <a:chOff x="4596254" y="2009192"/>
            <a:chExt cx="1607035" cy="3881958"/>
          </a:xfrm>
        </p:grpSpPr>
        <p:sp>
          <p:nvSpPr>
            <p:cNvPr id="21" name="矩形 20">
              <a:extLst>
                <a:ext uri="{FF2B5EF4-FFF2-40B4-BE49-F238E27FC236}">
                  <a16:creationId xmlns:a16="http://schemas.microsoft.com/office/drawing/2014/main" id="{9C42256A-8D42-4AFA-B9E0-AB24EC894CCF}"/>
                </a:ext>
              </a:extLst>
            </p:cNvPr>
            <p:cNvSpPr/>
            <p:nvPr/>
          </p:nvSpPr>
          <p:spPr>
            <a:xfrm>
              <a:off x="4596256" y="2873629"/>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Redirect Output</a:t>
              </a:r>
            </a:p>
          </p:txBody>
        </p:sp>
        <p:sp>
          <p:nvSpPr>
            <p:cNvPr id="22" name="矩形 21">
              <a:extLst>
                <a:ext uri="{FF2B5EF4-FFF2-40B4-BE49-F238E27FC236}">
                  <a16:creationId xmlns:a16="http://schemas.microsoft.com/office/drawing/2014/main" id="{CB5DAD0C-213B-4B89-816F-44E0257E1770}"/>
                </a:ext>
              </a:extLst>
            </p:cNvPr>
            <p:cNvSpPr/>
            <p:nvPr/>
          </p:nvSpPr>
          <p:spPr>
            <a:xfrm>
              <a:off x="4596255" y="3669767"/>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Induce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23" name="矩形 22">
              <a:extLst>
                <a:ext uri="{FF2B5EF4-FFF2-40B4-BE49-F238E27FC236}">
                  <a16:creationId xmlns:a16="http://schemas.microsoft.com/office/drawing/2014/main" id="{1EC726BE-7FD8-42CD-B1DB-9D02E66B737D}"/>
                </a:ext>
              </a:extLst>
            </p:cNvPr>
            <p:cNvSpPr/>
            <p:nvPr/>
          </p:nvSpPr>
          <p:spPr>
            <a:xfrm>
              <a:off x="4596255" y="4465905"/>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Validate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24" name="橢圓 23">
              <a:extLst>
                <a:ext uri="{FF2B5EF4-FFF2-40B4-BE49-F238E27FC236}">
                  <a16:creationId xmlns:a16="http://schemas.microsoft.com/office/drawing/2014/main" id="{C884A4F0-8C1D-434E-B793-2F06122C1096}"/>
                </a:ext>
              </a:extLst>
            </p:cNvPr>
            <p:cNvSpPr/>
            <p:nvPr/>
          </p:nvSpPr>
          <p:spPr>
            <a:xfrm>
              <a:off x="4596254" y="2009192"/>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Start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5" name="橢圓 24">
              <a:extLst>
                <a:ext uri="{FF2B5EF4-FFF2-40B4-BE49-F238E27FC236}">
                  <a16:creationId xmlns:a16="http://schemas.microsoft.com/office/drawing/2014/main" id="{1E5D1055-00F3-40A5-A798-826B017FB72E}"/>
                </a:ext>
              </a:extLst>
            </p:cNvPr>
            <p:cNvSpPr/>
            <p:nvPr/>
          </p:nvSpPr>
          <p:spPr>
            <a:xfrm>
              <a:off x="4596254" y="5262043"/>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End</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6" name="直線單箭頭接點 25">
              <a:extLst>
                <a:ext uri="{FF2B5EF4-FFF2-40B4-BE49-F238E27FC236}">
                  <a16:creationId xmlns:a16="http://schemas.microsoft.com/office/drawing/2014/main" id="{E47C6634-231C-4468-9132-200189F93333}"/>
                </a:ext>
              </a:extLst>
            </p:cNvPr>
            <p:cNvCxnSpPr>
              <a:cxnSpLocks/>
              <a:stCxn id="24" idx="4"/>
              <a:endCxn id="21" idx="0"/>
            </p:cNvCxnSpPr>
            <p:nvPr/>
          </p:nvCxnSpPr>
          <p:spPr>
            <a:xfrm>
              <a:off x="5399771" y="2638299"/>
              <a:ext cx="2" cy="2353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單箭頭接點 26">
              <a:extLst>
                <a:ext uri="{FF2B5EF4-FFF2-40B4-BE49-F238E27FC236}">
                  <a16:creationId xmlns:a16="http://schemas.microsoft.com/office/drawing/2014/main" id="{3E91E655-BD87-40F2-8256-84784621E57A}"/>
                </a:ext>
              </a:extLst>
            </p:cNvPr>
            <p:cNvCxnSpPr>
              <a:cxnSpLocks/>
              <a:stCxn id="21" idx="2"/>
              <a:endCxn id="22" idx="0"/>
            </p:cNvCxnSpPr>
            <p:nvPr/>
          </p:nvCxnSpPr>
          <p:spPr>
            <a:xfrm flipH="1">
              <a:off x="5399772" y="3372307"/>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FA45ACBB-8103-48AF-B708-C5D1D40C96AE}"/>
                </a:ext>
              </a:extLst>
            </p:cNvPr>
            <p:cNvCxnSpPr>
              <a:cxnSpLocks/>
              <a:stCxn id="22" idx="2"/>
              <a:endCxn id="23" idx="0"/>
            </p:cNvCxnSpPr>
            <p:nvPr/>
          </p:nvCxnSpPr>
          <p:spPr>
            <a:xfrm>
              <a:off x="5399772" y="4168445"/>
              <a:ext cx="0"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線單箭頭接點 28">
              <a:extLst>
                <a:ext uri="{FF2B5EF4-FFF2-40B4-BE49-F238E27FC236}">
                  <a16:creationId xmlns:a16="http://schemas.microsoft.com/office/drawing/2014/main" id="{6B06036E-1244-4BAB-B7EE-AA24C3FD2012}"/>
                </a:ext>
              </a:extLst>
            </p:cNvPr>
            <p:cNvCxnSpPr>
              <a:cxnSpLocks/>
              <a:stCxn id="23" idx="2"/>
              <a:endCxn id="25" idx="0"/>
            </p:cNvCxnSpPr>
            <p:nvPr/>
          </p:nvCxnSpPr>
          <p:spPr>
            <a:xfrm flipH="1">
              <a:off x="5399771" y="4964583"/>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0" name="矩形 29">
            <a:extLst>
              <a:ext uri="{FF2B5EF4-FFF2-40B4-BE49-F238E27FC236}">
                <a16:creationId xmlns:a16="http://schemas.microsoft.com/office/drawing/2014/main" id="{1E39A2DE-F959-44C3-BCDF-E6BD5E95F02C}"/>
              </a:ext>
            </a:extLst>
          </p:cNvPr>
          <p:cNvSpPr/>
          <p:nvPr/>
        </p:nvSpPr>
        <p:spPr>
          <a:xfrm>
            <a:off x="5087724" y="2784310"/>
            <a:ext cx="2077507" cy="7339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B606FE2E-6C78-42F4-BC6C-3F2E5F96707A}"/>
              </a:ext>
            </a:extLst>
          </p:cNvPr>
          <p:cNvSpPr>
            <a:spLocks noGrp="1"/>
          </p:cNvSpPr>
          <p:nvPr>
            <p:ph type="sldNum" sz="quarter" idx="12"/>
          </p:nvPr>
        </p:nvSpPr>
        <p:spPr/>
        <p:txBody>
          <a:bodyPr/>
          <a:lstStyle/>
          <a:p>
            <a:fld id="{7539D880-7677-4E8F-8D1B-ECF4759392EF}" type="slidenum">
              <a:rPr lang="zh-TW" altLang="en-US" smtClean="0"/>
              <a:t>23</a:t>
            </a:fld>
            <a:endParaRPr lang="zh-TW" altLang="en-US"/>
          </a:p>
        </p:txBody>
      </p:sp>
    </p:spTree>
    <p:extLst>
      <p:ext uri="{BB962C8B-B14F-4D97-AF65-F5344CB8AC3E}">
        <p14:creationId xmlns:p14="http://schemas.microsoft.com/office/powerpoint/2010/main" val="487522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effectLst/>
                <a:latin typeface="Times New Roman" panose="02020603050405020304" pitchFamily="18" charset="0"/>
                <a:cs typeface="Times New Roman" panose="02020603050405020304" pitchFamily="18" charset="0"/>
              </a:rPr>
              <a:t>Redirect </a:t>
            </a:r>
            <a:r>
              <a:rPr lang="en-US" altLang="zh-TW" dirty="0">
                <a:latin typeface="Times New Roman" panose="02020603050405020304" pitchFamily="18" charset="0"/>
                <a:cs typeface="Times New Roman" panose="02020603050405020304" pitchFamily="18" charset="0"/>
              </a:rPr>
              <a:t>O</a:t>
            </a:r>
            <a:r>
              <a:rPr lang="en-US" altLang="zh-TW" dirty="0">
                <a:effectLst/>
                <a:latin typeface="Times New Roman" panose="02020603050405020304" pitchFamily="18" charset="0"/>
                <a:cs typeface="Times New Roman" panose="02020603050405020304" pitchFamily="18" charset="0"/>
              </a:rPr>
              <a:t>utput</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8FB48955-0E79-4BA5-9A4C-4442FE3557AB}"/>
              </a:ext>
            </a:extLst>
          </p:cNvPr>
          <p:cNvPicPr>
            <a:picLocks noChangeAspect="1"/>
          </p:cNvPicPr>
          <p:nvPr/>
        </p:nvPicPr>
        <p:blipFill>
          <a:blip r:embed="rId3"/>
          <a:stretch>
            <a:fillRect/>
          </a:stretch>
        </p:blipFill>
        <p:spPr>
          <a:xfrm>
            <a:off x="518160" y="2478032"/>
            <a:ext cx="11155680" cy="848555"/>
          </a:xfrm>
          <a:prstGeom prst="rect">
            <a:avLst/>
          </a:prstGeom>
          <a:ln>
            <a:solidFill>
              <a:schemeClr val="tx1"/>
            </a:solidFill>
          </a:ln>
        </p:spPr>
      </p:pic>
      <p:pic>
        <p:nvPicPr>
          <p:cNvPr id="6" name="圖片 5">
            <a:extLst>
              <a:ext uri="{FF2B5EF4-FFF2-40B4-BE49-F238E27FC236}">
                <a16:creationId xmlns:a16="http://schemas.microsoft.com/office/drawing/2014/main" id="{7A0F715A-2586-4C13-A01B-A60EA09E77D6}"/>
              </a:ext>
            </a:extLst>
          </p:cNvPr>
          <p:cNvPicPr>
            <a:picLocks noChangeAspect="1"/>
          </p:cNvPicPr>
          <p:nvPr/>
        </p:nvPicPr>
        <p:blipFill>
          <a:blip r:embed="rId4"/>
          <a:stretch>
            <a:fillRect/>
          </a:stretch>
        </p:blipFill>
        <p:spPr>
          <a:xfrm>
            <a:off x="518160" y="4594343"/>
            <a:ext cx="11155680" cy="753358"/>
          </a:xfrm>
          <a:prstGeom prst="rect">
            <a:avLst/>
          </a:prstGeom>
          <a:ln>
            <a:solidFill>
              <a:schemeClr val="tx1"/>
            </a:solidFill>
          </a:ln>
        </p:spPr>
      </p:pic>
      <p:sp>
        <p:nvSpPr>
          <p:cNvPr id="7" name="箭號: 向下 6">
            <a:extLst>
              <a:ext uri="{FF2B5EF4-FFF2-40B4-BE49-F238E27FC236}">
                <a16:creationId xmlns:a16="http://schemas.microsoft.com/office/drawing/2014/main" id="{13EA39E8-2DE4-4149-B7BF-49A2622C9DDE}"/>
              </a:ext>
            </a:extLst>
          </p:cNvPr>
          <p:cNvSpPr/>
          <p:nvPr/>
        </p:nvSpPr>
        <p:spPr>
          <a:xfrm>
            <a:off x="5839968" y="3591762"/>
            <a:ext cx="512064" cy="8485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FC7704A0-BBAC-4AFB-9449-06DD55593EC1}"/>
              </a:ext>
            </a:extLst>
          </p:cNvPr>
          <p:cNvSpPr/>
          <p:nvPr/>
        </p:nvSpPr>
        <p:spPr>
          <a:xfrm>
            <a:off x="9129370" y="3062009"/>
            <a:ext cx="555955" cy="2645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F69F3585-287C-431B-B77F-8EAAC87FCFB9}"/>
              </a:ext>
            </a:extLst>
          </p:cNvPr>
          <p:cNvSpPr/>
          <p:nvPr/>
        </p:nvSpPr>
        <p:spPr>
          <a:xfrm>
            <a:off x="8138163" y="5073967"/>
            <a:ext cx="3535677" cy="2737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投影片編號版面配置區 10">
            <a:extLst>
              <a:ext uri="{FF2B5EF4-FFF2-40B4-BE49-F238E27FC236}">
                <a16:creationId xmlns:a16="http://schemas.microsoft.com/office/drawing/2014/main" id="{12720C71-3309-4725-A8C2-6BDBD7F622D6}"/>
              </a:ext>
            </a:extLst>
          </p:cNvPr>
          <p:cNvSpPr>
            <a:spLocks noGrp="1"/>
          </p:cNvSpPr>
          <p:nvPr>
            <p:ph type="sldNum" sz="quarter" idx="12"/>
          </p:nvPr>
        </p:nvSpPr>
        <p:spPr/>
        <p:txBody>
          <a:bodyPr/>
          <a:lstStyle/>
          <a:p>
            <a:fld id="{7539D880-7677-4E8F-8D1B-ECF4759392EF}" type="slidenum">
              <a:rPr lang="zh-TW" altLang="en-US" smtClean="0"/>
              <a:t>24</a:t>
            </a:fld>
            <a:endParaRPr lang="zh-TW" altLang="en-US"/>
          </a:p>
        </p:txBody>
      </p:sp>
    </p:spTree>
    <p:extLst>
      <p:ext uri="{BB962C8B-B14F-4D97-AF65-F5344CB8AC3E}">
        <p14:creationId xmlns:p14="http://schemas.microsoft.com/office/powerpoint/2010/main" val="1634775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Repair Process</a:t>
            </a:r>
            <a:endParaRPr lang="zh-TW" altLang="en-US" dirty="0"/>
          </a:p>
        </p:txBody>
      </p:sp>
      <p:grpSp>
        <p:nvGrpSpPr>
          <p:cNvPr id="41" name="群組 40">
            <a:extLst>
              <a:ext uri="{FF2B5EF4-FFF2-40B4-BE49-F238E27FC236}">
                <a16:creationId xmlns:a16="http://schemas.microsoft.com/office/drawing/2014/main" id="{1EC25812-C073-46C7-8927-E1ECCBC19B1E}"/>
              </a:ext>
            </a:extLst>
          </p:cNvPr>
          <p:cNvGrpSpPr/>
          <p:nvPr/>
        </p:nvGrpSpPr>
        <p:grpSpPr>
          <a:xfrm>
            <a:off x="9481828" y="641621"/>
            <a:ext cx="1673852" cy="964880"/>
            <a:chOff x="9481828" y="641621"/>
            <a:chExt cx="1673852" cy="964880"/>
          </a:xfrm>
        </p:grpSpPr>
        <p:sp>
          <p:nvSpPr>
            <p:cNvPr id="43" name="矩形: 圓角 42">
              <a:extLst>
                <a:ext uri="{FF2B5EF4-FFF2-40B4-BE49-F238E27FC236}">
                  <a16:creationId xmlns:a16="http://schemas.microsoft.com/office/drawing/2014/main" id="{D3AEDCF3-48E4-4DED-9C68-B0AEFA54818E}"/>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C860D326-9DB0-49EF-854D-187C27466E85}"/>
                </a:ext>
              </a:extLst>
            </p:cNvPr>
            <p:cNvSpPr txBox="1"/>
            <p:nvPr/>
          </p:nvSpPr>
          <p:spPr>
            <a:xfrm>
              <a:off x="10316947" y="917527"/>
              <a:ext cx="838733" cy="223318"/>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Process</a:t>
              </a:r>
            </a:p>
          </p:txBody>
        </p:sp>
        <p:sp>
          <p:nvSpPr>
            <p:cNvPr id="48" name="矩形 47">
              <a:extLst>
                <a:ext uri="{FF2B5EF4-FFF2-40B4-BE49-F238E27FC236}">
                  <a16:creationId xmlns:a16="http://schemas.microsoft.com/office/drawing/2014/main" id="{947561C5-7F06-4D2F-800B-71D562C45719}"/>
                </a:ext>
              </a:extLst>
            </p:cNvPr>
            <p:cNvSpPr/>
            <p:nvPr/>
          </p:nvSpPr>
          <p:spPr>
            <a:xfrm>
              <a:off x="9695753" y="981984"/>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F325370D-31B9-4591-8F66-DC7C7AC03464}"/>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grpSp>
        <p:nvGrpSpPr>
          <p:cNvPr id="21" name="群組 20">
            <a:extLst>
              <a:ext uri="{FF2B5EF4-FFF2-40B4-BE49-F238E27FC236}">
                <a16:creationId xmlns:a16="http://schemas.microsoft.com/office/drawing/2014/main" id="{D5873054-3511-4BE5-B037-4FACA968CEF9}"/>
              </a:ext>
            </a:extLst>
          </p:cNvPr>
          <p:cNvGrpSpPr/>
          <p:nvPr/>
        </p:nvGrpSpPr>
        <p:grpSpPr>
          <a:xfrm>
            <a:off x="5322962" y="2045768"/>
            <a:ext cx="1607035" cy="3881958"/>
            <a:chOff x="4596254" y="2009192"/>
            <a:chExt cx="1607035" cy="3881958"/>
          </a:xfrm>
        </p:grpSpPr>
        <p:sp>
          <p:nvSpPr>
            <p:cNvPr id="22" name="矩形 21">
              <a:extLst>
                <a:ext uri="{FF2B5EF4-FFF2-40B4-BE49-F238E27FC236}">
                  <a16:creationId xmlns:a16="http://schemas.microsoft.com/office/drawing/2014/main" id="{80B84E42-0A04-422A-A80A-888F8B02E672}"/>
                </a:ext>
              </a:extLst>
            </p:cNvPr>
            <p:cNvSpPr/>
            <p:nvPr/>
          </p:nvSpPr>
          <p:spPr>
            <a:xfrm>
              <a:off x="4596256" y="2873629"/>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Redirect Output</a:t>
              </a:r>
            </a:p>
          </p:txBody>
        </p:sp>
        <p:sp>
          <p:nvSpPr>
            <p:cNvPr id="23" name="矩形 22">
              <a:extLst>
                <a:ext uri="{FF2B5EF4-FFF2-40B4-BE49-F238E27FC236}">
                  <a16:creationId xmlns:a16="http://schemas.microsoft.com/office/drawing/2014/main" id="{323EBA3E-F10C-4C7D-A829-F496DC40FDD2}"/>
                </a:ext>
              </a:extLst>
            </p:cNvPr>
            <p:cNvSpPr/>
            <p:nvPr/>
          </p:nvSpPr>
          <p:spPr>
            <a:xfrm>
              <a:off x="4596255" y="3669767"/>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Induce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24" name="矩形 23">
              <a:extLst>
                <a:ext uri="{FF2B5EF4-FFF2-40B4-BE49-F238E27FC236}">
                  <a16:creationId xmlns:a16="http://schemas.microsoft.com/office/drawing/2014/main" id="{D85E56EA-C294-4AE2-8C92-C83FC978FA4C}"/>
                </a:ext>
              </a:extLst>
            </p:cNvPr>
            <p:cNvSpPr/>
            <p:nvPr/>
          </p:nvSpPr>
          <p:spPr>
            <a:xfrm>
              <a:off x="4596255" y="4465905"/>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Validate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25" name="橢圓 24">
              <a:extLst>
                <a:ext uri="{FF2B5EF4-FFF2-40B4-BE49-F238E27FC236}">
                  <a16:creationId xmlns:a16="http://schemas.microsoft.com/office/drawing/2014/main" id="{4B6195A3-2DBC-4001-AD28-3B7D0D882516}"/>
                </a:ext>
              </a:extLst>
            </p:cNvPr>
            <p:cNvSpPr/>
            <p:nvPr/>
          </p:nvSpPr>
          <p:spPr>
            <a:xfrm>
              <a:off x="4596254" y="2009192"/>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Start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6" name="橢圓 25">
              <a:extLst>
                <a:ext uri="{FF2B5EF4-FFF2-40B4-BE49-F238E27FC236}">
                  <a16:creationId xmlns:a16="http://schemas.microsoft.com/office/drawing/2014/main" id="{FAD7E9E3-4618-4DF2-B019-223237FDD281}"/>
                </a:ext>
              </a:extLst>
            </p:cNvPr>
            <p:cNvSpPr/>
            <p:nvPr/>
          </p:nvSpPr>
          <p:spPr>
            <a:xfrm>
              <a:off x="4596254" y="5262043"/>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End</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9CD10225-BF9C-4704-8C5F-7E5F5D27AF34}"/>
                </a:ext>
              </a:extLst>
            </p:cNvPr>
            <p:cNvCxnSpPr>
              <a:cxnSpLocks/>
              <a:stCxn id="25" idx="4"/>
              <a:endCxn id="22" idx="0"/>
            </p:cNvCxnSpPr>
            <p:nvPr/>
          </p:nvCxnSpPr>
          <p:spPr>
            <a:xfrm>
              <a:off x="5399771" y="2638299"/>
              <a:ext cx="2" cy="2353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E6B2B6E2-E819-4022-9FB5-293D863034ED}"/>
                </a:ext>
              </a:extLst>
            </p:cNvPr>
            <p:cNvCxnSpPr>
              <a:cxnSpLocks/>
              <a:stCxn id="22" idx="2"/>
              <a:endCxn id="23" idx="0"/>
            </p:cNvCxnSpPr>
            <p:nvPr/>
          </p:nvCxnSpPr>
          <p:spPr>
            <a:xfrm flipH="1">
              <a:off x="5399772" y="3372307"/>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線單箭頭接點 28">
              <a:extLst>
                <a:ext uri="{FF2B5EF4-FFF2-40B4-BE49-F238E27FC236}">
                  <a16:creationId xmlns:a16="http://schemas.microsoft.com/office/drawing/2014/main" id="{1B5E3D48-192F-4A54-844D-B9224BC2F3BB}"/>
                </a:ext>
              </a:extLst>
            </p:cNvPr>
            <p:cNvCxnSpPr>
              <a:cxnSpLocks/>
              <a:stCxn id="23" idx="2"/>
              <a:endCxn id="24" idx="0"/>
            </p:cNvCxnSpPr>
            <p:nvPr/>
          </p:nvCxnSpPr>
          <p:spPr>
            <a:xfrm>
              <a:off x="5399772" y="4168445"/>
              <a:ext cx="0"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單箭頭接點 29">
              <a:extLst>
                <a:ext uri="{FF2B5EF4-FFF2-40B4-BE49-F238E27FC236}">
                  <a16:creationId xmlns:a16="http://schemas.microsoft.com/office/drawing/2014/main" id="{F52CCE7D-CFBC-40EE-960C-82248006400F}"/>
                </a:ext>
              </a:extLst>
            </p:cNvPr>
            <p:cNvCxnSpPr>
              <a:cxnSpLocks/>
              <a:stCxn id="24" idx="2"/>
              <a:endCxn id="26" idx="0"/>
            </p:cNvCxnSpPr>
            <p:nvPr/>
          </p:nvCxnSpPr>
          <p:spPr>
            <a:xfrm flipH="1">
              <a:off x="5399771" y="4964583"/>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1" name="矩形 30">
            <a:extLst>
              <a:ext uri="{FF2B5EF4-FFF2-40B4-BE49-F238E27FC236}">
                <a16:creationId xmlns:a16="http://schemas.microsoft.com/office/drawing/2014/main" id="{8448C521-13BD-43A9-828F-C019EB9E741B}"/>
              </a:ext>
            </a:extLst>
          </p:cNvPr>
          <p:cNvSpPr/>
          <p:nvPr/>
        </p:nvSpPr>
        <p:spPr>
          <a:xfrm>
            <a:off x="5087724" y="3583097"/>
            <a:ext cx="2077507" cy="7339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2E3F0590-AE34-49B7-8E55-96B4A9D90425}"/>
              </a:ext>
            </a:extLst>
          </p:cNvPr>
          <p:cNvSpPr>
            <a:spLocks noGrp="1"/>
          </p:cNvSpPr>
          <p:nvPr>
            <p:ph type="sldNum" sz="quarter" idx="12"/>
          </p:nvPr>
        </p:nvSpPr>
        <p:spPr/>
        <p:txBody>
          <a:bodyPr/>
          <a:lstStyle/>
          <a:p>
            <a:fld id="{7539D880-7677-4E8F-8D1B-ECF4759392EF}" type="slidenum">
              <a:rPr lang="zh-TW" altLang="en-US" smtClean="0"/>
              <a:t>25</a:t>
            </a:fld>
            <a:endParaRPr lang="zh-TW" altLang="en-US"/>
          </a:p>
        </p:txBody>
      </p:sp>
    </p:spTree>
    <p:extLst>
      <p:ext uri="{BB962C8B-B14F-4D97-AF65-F5344CB8AC3E}">
        <p14:creationId xmlns:p14="http://schemas.microsoft.com/office/powerpoint/2010/main" val="1339110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Induce Rules</a:t>
            </a:r>
          </a:p>
        </p:txBody>
      </p:sp>
      <p:grpSp>
        <p:nvGrpSpPr>
          <p:cNvPr id="41" name="群組 40">
            <a:extLst>
              <a:ext uri="{FF2B5EF4-FFF2-40B4-BE49-F238E27FC236}">
                <a16:creationId xmlns:a16="http://schemas.microsoft.com/office/drawing/2014/main" id="{1EC25812-C073-46C7-8927-E1ECCBC19B1E}"/>
              </a:ext>
            </a:extLst>
          </p:cNvPr>
          <p:cNvGrpSpPr/>
          <p:nvPr/>
        </p:nvGrpSpPr>
        <p:grpSpPr>
          <a:xfrm>
            <a:off x="9481828" y="641621"/>
            <a:ext cx="1673852" cy="964880"/>
            <a:chOff x="9481828" y="641621"/>
            <a:chExt cx="1673852" cy="964880"/>
          </a:xfrm>
        </p:grpSpPr>
        <p:sp>
          <p:nvSpPr>
            <p:cNvPr id="43" name="矩形: 圓角 42">
              <a:extLst>
                <a:ext uri="{FF2B5EF4-FFF2-40B4-BE49-F238E27FC236}">
                  <a16:creationId xmlns:a16="http://schemas.microsoft.com/office/drawing/2014/main" id="{D3AEDCF3-48E4-4DED-9C68-B0AEFA54818E}"/>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C860D326-9DB0-49EF-854D-187C27466E85}"/>
                </a:ext>
              </a:extLst>
            </p:cNvPr>
            <p:cNvSpPr txBox="1"/>
            <p:nvPr/>
          </p:nvSpPr>
          <p:spPr>
            <a:xfrm>
              <a:off x="10316947" y="917527"/>
              <a:ext cx="838733" cy="223318"/>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Process</a:t>
              </a:r>
            </a:p>
          </p:txBody>
        </p:sp>
        <p:sp>
          <p:nvSpPr>
            <p:cNvPr id="48" name="矩形 47">
              <a:extLst>
                <a:ext uri="{FF2B5EF4-FFF2-40B4-BE49-F238E27FC236}">
                  <a16:creationId xmlns:a16="http://schemas.microsoft.com/office/drawing/2014/main" id="{947561C5-7F06-4D2F-800B-71D562C45719}"/>
                </a:ext>
              </a:extLst>
            </p:cNvPr>
            <p:cNvSpPr/>
            <p:nvPr/>
          </p:nvSpPr>
          <p:spPr>
            <a:xfrm>
              <a:off x="9695753" y="981984"/>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F325370D-31B9-4591-8F66-DC7C7AC03464}"/>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9" name="內容版面配置區 2">
            <a:extLst>
              <a:ext uri="{FF2B5EF4-FFF2-40B4-BE49-F238E27FC236}">
                <a16:creationId xmlns:a16="http://schemas.microsoft.com/office/drawing/2014/main" id="{4A0BA22A-BFC1-41D7-9102-26215B0288CF}"/>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In the second phase of this study, the problems in </a:t>
            </a:r>
            <a:r>
              <a:rPr lang="en-US" altLang="zh-TW" sz="2200" dirty="0" err="1">
                <a:latin typeface="Times New Roman" panose="02020603050405020304" pitchFamily="18" charset="0"/>
                <a:cs typeface="Times New Roman" panose="02020603050405020304" pitchFamily="18" charset="0"/>
              </a:rPr>
              <a:t>FirmAE's</a:t>
            </a:r>
            <a:r>
              <a:rPr lang="en-US" altLang="zh-TW" sz="2200" dirty="0">
                <a:latin typeface="Times New Roman" panose="02020603050405020304" pitchFamily="18" charset="0"/>
                <a:cs typeface="Times New Roman" panose="02020603050405020304" pitchFamily="18" charset="0"/>
              </a:rPr>
              <a:t> Arbitrations implementation are analyzed, and factors affecting emulation success rates are explored. Targeted remediation methods are formulated and applied. Finally, remediation rules are summarized to address common emulation issues and improve success rates and stability.</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Emulation Success Criteria</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The host can perform </a:t>
            </a:r>
            <a:r>
              <a:rPr lang="en-US" altLang="zh-TW" sz="2000" b="1" dirty="0">
                <a:solidFill>
                  <a:srgbClr val="FF0000"/>
                </a:solidFill>
                <a:latin typeface="Times New Roman" panose="02020603050405020304" pitchFamily="18" charset="0"/>
                <a:cs typeface="Times New Roman" panose="02020603050405020304" pitchFamily="18" charset="0"/>
              </a:rPr>
              <a:t>ping tests </a:t>
            </a:r>
            <a:r>
              <a:rPr lang="en-US" altLang="zh-TW" sz="2000" dirty="0">
                <a:latin typeface="Times New Roman" panose="02020603050405020304" pitchFamily="18" charset="0"/>
                <a:cs typeface="Times New Roman" panose="02020603050405020304" pitchFamily="18" charset="0"/>
              </a:rPr>
              <a:t>to the firmware and successfully receive responses.</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The host can also access the firmware's </a:t>
            </a:r>
            <a:r>
              <a:rPr lang="en-US" altLang="zh-TW" sz="2000" b="1" dirty="0">
                <a:solidFill>
                  <a:srgbClr val="FF0000"/>
                </a:solidFill>
                <a:latin typeface="Times New Roman" panose="02020603050405020304" pitchFamily="18" charset="0"/>
                <a:cs typeface="Times New Roman" panose="02020603050405020304" pitchFamily="18" charset="0"/>
              </a:rPr>
              <a:t>web service</a:t>
            </a:r>
            <a:r>
              <a:rPr lang="en-US" altLang="zh-TW" sz="2000" dirty="0">
                <a:latin typeface="Times New Roman" panose="02020603050405020304" pitchFamily="18" charset="0"/>
                <a:cs typeface="Times New Roman" panose="02020603050405020304" pitchFamily="18" charset="0"/>
              </a:rPr>
              <a:t> through a browser.</a:t>
            </a:r>
          </a:p>
        </p:txBody>
      </p:sp>
      <p:sp>
        <p:nvSpPr>
          <p:cNvPr id="6" name="投影片編號版面配置區 5">
            <a:extLst>
              <a:ext uri="{FF2B5EF4-FFF2-40B4-BE49-F238E27FC236}">
                <a16:creationId xmlns:a16="http://schemas.microsoft.com/office/drawing/2014/main" id="{BDFFC742-A520-41CF-A270-4027426717E8}"/>
              </a:ext>
            </a:extLst>
          </p:cNvPr>
          <p:cNvSpPr>
            <a:spLocks noGrp="1"/>
          </p:cNvSpPr>
          <p:nvPr>
            <p:ph type="sldNum" sz="quarter" idx="12"/>
          </p:nvPr>
        </p:nvSpPr>
        <p:spPr/>
        <p:txBody>
          <a:bodyPr/>
          <a:lstStyle/>
          <a:p>
            <a:fld id="{7539D880-7677-4E8F-8D1B-ECF4759392EF}" type="slidenum">
              <a:rPr lang="zh-TW" altLang="en-US" smtClean="0"/>
              <a:t>26</a:t>
            </a:fld>
            <a:endParaRPr lang="zh-TW" altLang="en-US"/>
          </a:p>
        </p:txBody>
      </p:sp>
    </p:spTree>
    <p:extLst>
      <p:ext uri="{BB962C8B-B14F-4D97-AF65-F5344CB8AC3E}">
        <p14:creationId xmlns:p14="http://schemas.microsoft.com/office/powerpoint/2010/main" val="184611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The Repair Process</a:t>
            </a:r>
            <a:endParaRPr lang="zh-TW" altLang="en-US" dirty="0"/>
          </a:p>
        </p:txBody>
      </p:sp>
      <p:grpSp>
        <p:nvGrpSpPr>
          <p:cNvPr id="41" name="群組 40">
            <a:extLst>
              <a:ext uri="{FF2B5EF4-FFF2-40B4-BE49-F238E27FC236}">
                <a16:creationId xmlns:a16="http://schemas.microsoft.com/office/drawing/2014/main" id="{1EC25812-C073-46C7-8927-E1ECCBC19B1E}"/>
              </a:ext>
            </a:extLst>
          </p:cNvPr>
          <p:cNvGrpSpPr/>
          <p:nvPr/>
        </p:nvGrpSpPr>
        <p:grpSpPr>
          <a:xfrm>
            <a:off x="9481828" y="641621"/>
            <a:ext cx="1673852" cy="964880"/>
            <a:chOff x="9481828" y="641621"/>
            <a:chExt cx="1673852" cy="964880"/>
          </a:xfrm>
        </p:grpSpPr>
        <p:sp>
          <p:nvSpPr>
            <p:cNvPr id="43" name="矩形: 圓角 42">
              <a:extLst>
                <a:ext uri="{FF2B5EF4-FFF2-40B4-BE49-F238E27FC236}">
                  <a16:creationId xmlns:a16="http://schemas.microsoft.com/office/drawing/2014/main" id="{D3AEDCF3-48E4-4DED-9C68-B0AEFA54818E}"/>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C860D326-9DB0-49EF-854D-187C27466E85}"/>
                </a:ext>
              </a:extLst>
            </p:cNvPr>
            <p:cNvSpPr txBox="1"/>
            <p:nvPr/>
          </p:nvSpPr>
          <p:spPr>
            <a:xfrm>
              <a:off x="10316947" y="917527"/>
              <a:ext cx="838733" cy="223318"/>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Process</a:t>
              </a:r>
            </a:p>
          </p:txBody>
        </p:sp>
        <p:sp>
          <p:nvSpPr>
            <p:cNvPr id="48" name="矩形 47">
              <a:extLst>
                <a:ext uri="{FF2B5EF4-FFF2-40B4-BE49-F238E27FC236}">
                  <a16:creationId xmlns:a16="http://schemas.microsoft.com/office/drawing/2014/main" id="{947561C5-7F06-4D2F-800B-71D562C45719}"/>
                </a:ext>
              </a:extLst>
            </p:cNvPr>
            <p:cNvSpPr/>
            <p:nvPr/>
          </p:nvSpPr>
          <p:spPr>
            <a:xfrm>
              <a:off x="9695753" y="981984"/>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F325370D-31B9-4591-8F66-DC7C7AC03464}"/>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grpSp>
        <p:nvGrpSpPr>
          <p:cNvPr id="21" name="群組 20">
            <a:extLst>
              <a:ext uri="{FF2B5EF4-FFF2-40B4-BE49-F238E27FC236}">
                <a16:creationId xmlns:a16="http://schemas.microsoft.com/office/drawing/2014/main" id="{B52B7735-160C-4FB1-A890-95E54184C1FD}"/>
              </a:ext>
            </a:extLst>
          </p:cNvPr>
          <p:cNvGrpSpPr/>
          <p:nvPr/>
        </p:nvGrpSpPr>
        <p:grpSpPr>
          <a:xfrm>
            <a:off x="5322962" y="2045768"/>
            <a:ext cx="1607035" cy="3881958"/>
            <a:chOff x="4596254" y="2009192"/>
            <a:chExt cx="1607035" cy="3881958"/>
          </a:xfrm>
        </p:grpSpPr>
        <p:sp>
          <p:nvSpPr>
            <p:cNvPr id="22" name="矩形 21">
              <a:extLst>
                <a:ext uri="{FF2B5EF4-FFF2-40B4-BE49-F238E27FC236}">
                  <a16:creationId xmlns:a16="http://schemas.microsoft.com/office/drawing/2014/main" id="{7D749866-9517-477C-B903-268C80050874}"/>
                </a:ext>
              </a:extLst>
            </p:cNvPr>
            <p:cNvSpPr/>
            <p:nvPr/>
          </p:nvSpPr>
          <p:spPr>
            <a:xfrm>
              <a:off x="4596256" y="2873629"/>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Redirect Output</a:t>
              </a:r>
            </a:p>
          </p:txBody>
        </p:sp>
        <p:sp>
          <p:nvSpPr>
            <p:cNvPr id="23" name="矩形 22">
              <a:extLst>
                <a:ext uri="{FF2B5EF4-FFF2-40B4-BE49-F238E27FC236}">
                  <a16:creationId xmlns:a16="http://schemas.microsoft.com/office/drawing/2014/main" id="{D39FCD51-C42E-4FE7-B0EC-901FA1A7B4F6}"/>
                </a:ext>
              </a:extLst>
            </p:cNvPr>
            <p:cNvSpPr/>
            <p:nvPr/>
          </p:nvSpPr>
          <p:spPr>
            <a:xfrm>
              <a:off x="4596255" y="3669767"/>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Induce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24" name="矩形 23">
              <a:extLst>
                <a:ext uri="{FF2B5EF4-FFF2-40B4-BE49-F238E27FC236}">
                  <a16:creationId xmlns:a16="http://schemas.microsoft.com/office/drawing/2014/main" id="{CEEC0370-CFFE-4123-AD0D-098976A75F51}"/>
                </a:ext>
              </a:extLst>
            </p:cNvPr>
            <p:cNvSpPr/>
            <p:nvPr/>
          </p:nvSpPr>
          <p:spPr>
            <a:xfrm>
              <a:off x="4596255" y="4465905"/>
              <a:ext cx="1607033" cy="498678"/>
            </a:xfrm>
            <a:prstGeom prst="rect">
              <a:avLst/>
            </a:prstGeom>
            <a:noFill/>
            <a:ln w="19050" cap="flat" cmpd="sng" algn="ctr">
              <a:solidFill>
                <a:sysClr val="windowText" lastClr="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123158" eaLnBrk="1" fontAlgn="auto" latinLnBrk="0" hangingPunct="1">
                <a:lnSpc>
                  <a:spcPct val="100000"/>
                </a:lnSpc>
                <a:spcBef>
                  <a:spcPts val="0"/>
                </a:spcBef>
                <a:spcAft>
                  <a:spcPts val="0"/>
                </a:spcAft>
                <a:buClrTx/>
                <a:buSzTx/>
                <a:buFontTx/>
                <a:buNone/>
                <a:tabLst/>
                <a:defRPr/>
              </a:pP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Validate</a:t>
              </a:r>
              <a:r>
                <a:rPr kumimoji="0" lang="zh-TW" altLang="en-US"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Rules</a:t>
              </a:r>
            </a:p>
          </p:txBody>
        </p:sp>
        <p:sp>
          <p:nvSpPr>
            <p:cNvPr id="25" name="橢圓 24">
              <a:extLst>
                <a:ext uri="{FF2B5EF4-FFF2-40B4-BE49-F238E27FC236}">
                  <a16:creationId xmlns:a16="http://schemas.microsoft.com/office/drawing/2014/main" id="{17EE5389-06E3-49C4-9495-CA4A35969110}"/>
                </a:ext>
              </a:extLst>
            </p:cNvPr>
            <p:cNvSpPr/>
            <p:nvPr/>
          </p:nvSpPr>
          <p:spPr>
            <a:xfrm>
              <a:off x="4596254" y="2009192"/>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Start</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6" name="橢圓 25">
              <a:extLst>
                <a:ext uri="{FF2B5EF4-FFF2-40B4-BE49-F238E27FC236}">
                  <a16:creationId xmlns:a16="http://schemas.microsoft.com/office/drawing/2014/main" id="{0C84CBAA-FDDA-4603-81E4-73456EFB89B0}"/>
                </a:ext>
              </a:extLst>
            </p:cNvPr>
            <p:cNvSpPr/>
            <p:nvPr/>
          </p:nvSpPr>
          <p:spPr>
            <a:xfrm>
              <a:off x="4596254" y="5262043"/>
              <a:ext cx="1607033" cy="6291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End</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C44A6F64-FF48-41A4-BB3D-DAB4DA5D015E}"/>
                </a:ext>
              </a:extLst>
            </p:cNvPr>
            <p:cNvCxnSpPr>
              <a:cxnSpLocks/>
              <a:stCxn id="25" idx="4"/>
              <a:endCxn id="22" idx="0"/>
            </p:cNvCxnSpPr>
            <p:nvPr/>
          </p:nvCxnSpPr>
          <p:spPr>
            <a:xfrm>
              <a:off x="5399771" y="2638299"/>
              <a:ext cx="2" cy="2353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id="{70D72375-1704-4906-8523-8D8BAEAE0363}"/>
                </a:ext>
              </a:extLst>
            </p:cNvPr>
            <p:cNvCxnSpPr>
              <a:cxnSpLocks/>
              <a:stCxn id="22" idx="2"/>
              <a:endCxn id="23" idx="0"/>
            </p:cNvCxnSpPr>
            <p:nvPr/>
          </p:nvCxnSpPr>
          <p:spPr>
            <a:xfrm flipH="1">
              <a:off x="5399772" y="3372307"/>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線單箭頭接點 28">
              <a:extLst>
                <a:ext uri="{FF2B5EF4-FFF2-40B4-BE49-F238E27FC236}">
                  <a16:creationId xmlns:a16="http://schemas.microsoft.com/office/drawing/2014/main" id="{161978F7-DE88-450B-8C3B-FCE6F68036EC}"/>
                </a:ext>
              </a:extLst>
            </p:cNvPr>
            <p:cNvCxnSpPr>
              <a:cxnSpLocks/>
              <a:stCxn id="23" idx="2"/>
              <a:endCxn id="24" idx="0"/>
            </p:cNvCxnSpPr>
            <p:nvPr/>
          </p:nvCxnSpPr>
          <p:spPr>
            <a:xfrm>
              <a:off x="5399772" y="4168445"/>
              <a:ext cx="0"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單箭頭接點 29">
              <a:extLst>
                <a:ext uri="{FF2B5EF4-FFF2-40B4-BE49-F238E27FC236}">
                  <a16:creationId xmlns:a16="http://schemas.microsoft.com/office/drawing/2014/main" id="{2A6F1FF4-0B1C-45F3-9252-4C57C7DCBE43}"/>
                </a:ext>
              </a:extLst>
            </p:cNvPr>
            <p:cNvCxnSpPr>
              <a:cxnSpLocks/>
              <a:stCxn id="24" idx="2"/>
              <a:endCxn id="26" idx="0"/>
            </p:cNvCxnSpPr>
            <p:nvPr/>
          </p:nvCxnSpPr>
          <p:spPr>
            <a:xfrm flipH="1">
              <a:off x="5399771" y="4964583"/>
              <a:ext cx="1" cy="297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1" name="矩形 30">
            <a:extLst>
              <a:ext uri="{FF2B5EF4-FFF2-40B4-BE49-F238E27FC236}">
                <a16:creationId xmlns:a16="http://schemas.microsoft.com/office/drawing/2014/main" id="{CF138D8C-57D0-49A8-A0E2-460EDA8EE422}"/>
              </a:ext>
            </a:extLst>
          </p:cNvPr>
          <p:cNvSpPr/>
          <p:nvPr/>
        </p:nvSpPr>
        <p:spPr>
          <a:xfrm>
            <a:off x="5087724" y="4371371"/>
            <a:ext cx="2077507" cy="7339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FFC2D937-E13F-4B6D-8545-4D6CECDA05B7}"/>
              </a:ext>
            </a:extLst>
          </p:cNvPr>
          <p:cNvSpPr>
            <a:spLocks noGrp="1"/>
          </p:cNvSpPr>
          <p:nvPr>
            <p:ph type="sldNum" sz="quarter" idx="12"/>
          </p:nvPr>
        </p:nvSpPr>
        <p:spPr/>
        <p:txBody>
          <a:bodyPr/>
          <a:lstStyle/>
          <a:p>
            <a:fld id="{7539D880-7677-4E8F-8D1B-ECF4759392EF}" type="slidenum">
              <a:rPr lang="zh-TW" altLang="en-US" smtClean="0"/>
              <a:t>27</a:t>
            </a:fld>
            <a:endParaRPr lang="zh-TW" altLang="en-US"/>
          </a:p>
        </p:txBody>
      </p:sp>
    </p:spTree>
    <p:extLst>
      <p:ext uri="{BB962C8B-B14F-4D97-AF65-F5344CB8AC3E}">
        <p14:creationId xmlns:p14="http://schemas.microsoft.com/office/powerpoint/2010/main" val="3339073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Validate Rules</a:t>
            </a:r>
          </a:p>
        </p:txBody>
      </p:sp>
      <p:grpSp>
        <p:nvGrpSpPr>
          <p:cNvPr id="41" name="群組 40">
            <a:extLst>
              <a:ext uri="{FF2B5EF4-FFF2-40B4-BE49-F238E27FC236}">
                <a16:creationId xmlns:a16="http://schemas.microsoft.com/office/drawing/2014/main" id="{1EC25812-C073-46C7-8927-E1ECCBC19B1E}"/>
              </a:ext>
            </a:extLst>
          </p:cNvPr>
          <p:cNvGrpSpPr/>
          <p:nvPr/>
        </p:nvGrpSpPr>
        <p:grpSpPr>
          <a:xfrm>
            <a:off x="9481828" y="641621"/>
            <a:ext cx="1673852" cy="964880"/>
            <a:chOff x="9481828" y="641621"/>
            <a:chExt cx="1673852" cy="964880"/>
          </a:xfrm>
        </p:grpSpPr>
        <p:sp>
          <p:nvSpPr>
            <p:cNvPr id="43" name="矩形: 圓角 42">
              <a:extLst>
                <a:ext uri="{FF2B5EF4-FFF2-40B4-BE49-F238E27FC236}">
                  <a16:creationId xmlns:a16="http://schemas.microsoft.com/office/drawing/2014/main" id="{D3AEDCF3-48E4-4DED-9C68-B0AEFA54818E}"/>
                </a:ext>
              </a:extLst>
            </p:cNvPr>
            <p:cNvSpPr/>
            <p:nvPr/>
          </p:nvSpPr>
          <p:spPr>
            <a:xfrm>
              <a:off x="9481828" y="641621"/>
              <a:ext cx="1673852" cy="964880"/>
            </a:xfrm>
            <a:prstGeom prst="roundRect">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C860D326-9DB0-49EF-854D-187C27466E85}"/>
                </a:ext>
              </a:extLst>
            </p:cNvPr>
            <p:cNvSpPr txBox="1"/>
            <p:nvPr/>
          </p:nvSpPr>
          <p:spPr>
            <a:xfrm>
              <a:off x="10316947" y="917527"/>
              <a:ext cx="838733" cy="223318"/>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Process</a:t>
              </a:r>
            </a:p>
          </p:txBody>
        </p:sp>
        <p:sp>
          <p:nvSpPr>
            <p:cNvPr id="48" name="矩形 47">
              <a:extLst>
                <a:ext uri="{FF2B5EF4-FFF2-40B4-BE49-F238E27FC236}">
                  <a16:creationId xmlns:a16="http://schemas.microsoft.com/office/drawing/2014/main" id="{947561C5-7F06-4D2F-800B-71D562C45719}"/>
                </a:ext>
              </a:extLst>
            </p:cNvPr>
            <p:cNvSpPr/>
            <p:nvPr/>
          </p:nvSpPr>
          <p:spPr>
            <a:xfrm>
              <a:off x="9695753" y="981984"/>
              <a:ext cx="540914" cy="170037"/>
            </a:xfrm>
            <a:prstGeom prst="rect">
              <a:avLst/>
            </a:prstGeom>
            <a:solidFill>
              <a:schemeClr val="bg1"/>
            </a:solidFill>
            <a:ln w="12700">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TW" sz="1600" kern="100" dirty="0">
                <a:effectLst/>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F325370D-31B9-4591-8F66-DC7C7AC03464}"/>
                </a:ext>
              </a:extLst>
            </p:cNvPr>
            <p:cNvSpPr txBox="1"/>
            <p:nvPr/>
          </p:nvSpPr>
          <p:spPr>
            <a:xfrm>
              <a:off x="9966210" y="1286978"/>
              <a:ext cx="729254" cy="205406"/>
            </a:xfrm>
            <a:prstGeom prst="rect">
              <a:avLst/>
            </a:prstGeom>
            <a:noFill/>
          </p:spPr>
          <p:txBody>
            <a:bodyPr wrap="square" rtlCol="0">
              <a:spAutoFit/>
            </a:bodyPr>
            <a:lstStyle/>
            <a:p>
              <a:r>
                <a:rPr lang="en-US" altLang="zh-TW" sz="1400" dirty="0">
                  <a:latin typeface="Times New Roman" panose="02020603050405020304" pitchFamily="18" charset="0"/>
                  <a:cs typeface="Times New Roman" panose="02020603050405020304" pitchFamily="18" charset="0"/>
                </a:rPr>
                <a:t>Legend              </a:t>
              </a:r>
            </a:p>
          </p:txBody>
        </p:sp>
      </p:grpSp>
      <p:sp>
        <p:nvSpPr>
          <p:cNvPr id="9" name="內容版面配置區 2">
            <a:extLst>
              <a:ext uri="{FF2B5EF4-FFF2-40B4-BE49-F238E27FC236}">
                <a16:creationId xmlns:a16="http://schemas.microsoft.com/office/drawing/2014/main" id="{E7A7BAE2-EAC4-4E5F-A7C8-AEDA90E278C8}"/>
              </a:ext>
            </a:extLst>
          </p:cNvPr>
          <p:cNvSpPr>
            <a:spLocks noGrp="1"/>
          </p:cNvSpPr>
          <p:nvPr>
            <p:ph idx="1"/>
          </p:nvPr>
        </p:nvSpPr>
        <p:spPr>
          <a:xfrm>
            <a:off x="1097280" y="2457907"/>
            <a:ext cx="10058400" cy="2735886"/>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In the third phase of this study, the effectiveness of the remediation rules from the second phase will be validated by selecting </a:t>
            </a:r>
            <a:r>
              <a:rPr lang="en-US" altLang="zh-TW" sz="2200" b="1" dirty="0">
                <a:solidFill>
                  <a:srgbClr val="FF0000"/>
                </a:solidFill>
                <a:latin typeface="Times New Roman" panose="02020603050405020304" pitchFamily="18" charset="0"/>
                <a:cs typeface="Times New Roman" panose="02020603050405020304" pitchFamily="18" charset="0"/>
              </a:rPr>
              <a:t>additional firmware </a:t>
            </a:r>
            <a:r>
              <a:rPr lang="en-US" altLang="zh-TW" sz="2200" dirty="0">
                <a:latin typeface="Times New Roman" panose="02020603050405020304" pitchFamily="18" charset="0"/>
                <a:cs typeface="Times New Roman" panose="02020603050405020304" pitchFamily="18" charset="0"/>
              </a:rPr>
              <a:t>for emulation to verify whether these rules are applicable to </a:t>
            </a:r>
            <a:r>
              <a:rPr lang="en-US" altLang="zh-TW" sz="2200" b="1" dirty="0">
                <a:solidFill>
                  <a:srgbClr val="FF0000"/>
                </a:solidFill>
                <a:latin typeface="Times New Roman" panose="02020603050405020304" pitchFamily="18" charset="0"/>
                <a:cs typeface="Times New Roman" panose="02020603050405020304" pitchFamily="18" charset="0"/>
              </a:rPr>
              <a:t>different</a:t>
            </a:r>
            <a:r>
              <a:rPr lang="en-US" altLang="zh-TW" sz="2200" dirty="0">
                <a:latin typeface="Times New Roman" panose="02020603050405020304" pitchFamily="18" charset="0"/>
                <a:cs typeface="Times New Roman" panose="02020603050405020304" pitchFamily="18" charset="0"/>
              </a:rPr>
              <a:t> firmware.</a:t>
            </a:r>
          </a:p>
        </p:txBody>
      </p:sp>
      <p:sp>
        <p:nvSpPr>
          <p:cNvPr id="6" name="投影片編號版面配置區 5">
            <a:extLst>
              <a:ext uri="{FF2B5EF4-FFF2-40B4-BE49-F238E27FC236}">
                <a16:creationId xmlns:a16="http://schemas.microsoft.com/office/drawing/2014/main" id="{762814C9-4F5D-4DDA-807E-ADCAD7AAC220}"/>
              </a:ext>
            </a:extLst>
          </p:cNvPr>
          <p:cNvSpPr>
            <a:spLocks noGrp="1"/>
          </p:cNvSpPr>
          <p:nvPr>
            <p:ph type="sldNum" sz="quarter" idx="12"/>
          </p:nvPr>
        </p:nvSpPr>
        <p:spPr/>
        <p:txBody>
          <a:bodyPr/>
          <a:lstStyle/>
          <a:p>
            <a:fld id="{7539D880-7677-4E8F-8D1B-ECF4759392EF}" type="slidenum">
              <a:rPr lang="zh-TW" altLang="en-US" smtClean="0"/>
              <a:t>28</a:t>
            </a:fld>
            <a:endParaRPr lang="zh-TW" altLang="en-US"/>
          </a:p>
        </p:txBody>
      </p:sp>
    </p:spTree>
    <p:extLst>
      <p:ext uri="{BB962C8B-B14F-4D97-AF65-F5344CB8AC3E}">
        <p14:creationId xmlns:p14="http://schemas.microsoft.com/office/powerpoint/2010/main" val="2375260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Outline</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6963" y="1846263"/>
            <a:ext cx="10058400" cy="4022725"/>
          </a:xfrm>
          <a:prstGeom prst="rect">
            <a:avLst/>
          </a:prstGeom>
          <a:noFill/>
          <a:ln>
            <a:noFill/>
          </a:ln>
        </p:spPr>
        <p:txBody>
          <a:bodyPr spcFirstLastPara="1" wrap="square" lIns="0" tIns="45700" rIns="0" bIns="45700" anchor="t" anchorCtr="0">
            <a:normAutofit/>
          </a:bodyPr>
          <a:lstStyle/>
          <a:p>
            <a:pPr marL="91440" lvl="0" indent="-209550" algn="l" rtl="0">
              <a:lnSpc>
                <a:spcPct val="90000"/>
              </a:lnSpc>
              <a:spcBef>
                <a:spcPts val="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Motivation</a:t>
            </a:r>
            <a:endParaRPr sz="3300" dirty="0">
              <a:solidFill>
                <a:schemeClr val="bg2">
                  <a:lumMod val="90000"/>
                </a:schemeClr>
              </a:solidFill>
              <a:latin typeface="Times New Roman"/>
              <a:cs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ea typeface="Times New Roman"/>
                <a:cs typeface="Times New Roman"/>
                <a:sym typeface="Times New Roman"/>
              </a:rPr>
              <a:t>The proposed approach</a:t>
            </a:r>
            <a:endParaRPr lang="en-US" sz="3300" dirty="0">
              <a:solidFill>
                <a:schemeClr val="bg2">
                  <a:lumMod val="90000"/>
                </a:schemeClr>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zh-TW" altLang="en-US" sz="3300" dirty="0">
                <a:solidFill>
                  <a:schemeClr val="bg2">
                    <a:lumMod val="90000"/>
                  </a:schemeClr>
                </a:solidFill>
                <a:latin typeface="Times New Roman"/>
                <a:cs typeface="Times New Roman"/>
                <a:sym typeface="Times New Roman"/>
              </a:rPr>
              <a:t> </a:t>
            </a:r>
            <a:r>
              <a:rPr lang="en-US" altLang="zh-TW" sz="3300" dirty="0">
                <a:solidFill>
                  <a:schemeClr val="tx1"/>
                </a:solidFill>
                <a:latin typeface="Times New Roman"/>
                <a:cs typeface="Times New Roman"/>
                <a:sym typeface="Times New Roman"/>
              </a:rPr>
              <a:t>Experiment</a:t>
            </a:r>
            <a:endParaRPr sz="3300" dirty="0">
              <a:solidFill>
                <a:schemeClr val="tx1"/>
              </a:solidFill>
              <a:latin typeface="Times New Roman"/>
              <a:cs typeface="Times New Roman"/>
            </a:endParaRPr>
          </a:p>
          <a:p>
            <a:pPr marL="91440" indent="-209550">
              <a:spcBef>
                <a:spcPts val="1400"/>
              </a:spcBef>
              <a:buClr>
                <a:schemeClr val="dk1"/>
              </a:buClr>
              <a:buSzPts val="3300"/>
              <a:buFont typeface="Arial"/>
              <a:buChar char="•"/>
            </a:pPr>
            <a:r>
              <a:rPr lang="en-US" altLang="zh-TW" sz="3300" dirty="0">
                <a:solidFill>
                  <a:schemeClr val="bg2">
                    <a:lumMod val="90000"/>
                  </a:schemeClr>
                </a:solidFill>
                <a:latin typeface="Times New Roman"/>
                <a:cs typeface="Times New Roman"/>
                <a:sym typeface="Times New Roman"/>
              </a:rPr>
              <a:t> Discussion</a:t>
            </a:r>
            <a:endParaRPr sz="3300" dirty="0">
              <a:solidFill>
                <a:schemeClr val="bg2">
                  <a:lumMod val="90000"/>
                </a:schemeClr>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bg2">
                    <a:lumMod val="90000"/>
                  </a:schemeClr>
                </a:solidFill>
                <a:latin typeface="Times New Roman"/>
                <a:cs typeface="Times New Roman"/>
                <a:sym typeface="Times New Roman"/>
              </a:rPr>
              <a:t> Conclusion &amp; Future</a:t>
            </a:r>
            <a:endParaRPr sz="3300" dirty="0">
              <a:solidFill>
                <a:schemeClr val="bg2">
                  <a:lumMod val="90000"/>
                </a:schemeClr>
              </a:solidFill>
              <a:latin typeface="Times New Roman"/>
              <a:cs typeface="Times New Roman"/>
            </a:endParaRPr>
          </a:p>
          <a:p>
            <a:pPr marL="91440" lvl="0" indent="0" algn="l" rtl="0">
              <a:lnSpc>
                <a:spcPct val="90000"/>
              </a:lnSpc>
              <a:spcBef>
                <a:spcPts val="1400"/>
              </a:spcBef>
              <a:spcAft>
                <a:spcPts val="0"/>
              </a:spcAft>
              <a:buClr>
                <a:srgbClr val="3F3F3F"/>
              </a:buClr>
              <a:buSzPts val="3200"/>
              <a:buFont typeface="Arial"/>
              <a:buNone/>
            </a:pPr>
            <a:endParaRPr sz="3200" dirty="0">
              <a:solidFill>
                <a:schemeClr val="dk1"/>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solidFill>
                <a:schemeClr val="dk1"/>
              </a:solidFill>
              <a:latin typeface="Times New Roman"/>
              <a:ea typeface="Times New Roman"/>
              <a:cs typeface="Times New Roman"/>
              <a:sym typeface="Times New Roman"/>
            </a:endParaRPr>
          </a:p>
        </p:txBody>
      </p:sp>
      <p:sp>
        <p:nvSpPr>
          <p:cNvPr id="8" name="投影片編號版面配置區 7">
            <a:extLst>
              <a:ext uri="{FF2B5EF4-FFF2-40B4-BE49-F238E27FC236}">
                <a16:creationId xmlns:a16="http://schemas.microsoft.com/office/drawing/2014/main" id="{F2B8C63E-4AC1-4706-BDE5-267A0E5A1CE4}"/>
              </a:ext>
            </a:extLst>
          </p:cNvPr>
          <p:cNvSpPr>
            <a:spLocks noGrp="1"/>
          </p:cNvSpPr>
          <p:nvPr>
            <p:ph type="sldNum" sz="quarter" idx="12"/>
          </p:nvPr>
        </p:nvSpPr>
        <p:spPr/>
        <p:txBody>
          <a:bodyPr/>
          <a:lstStyle/>
          <a:p>
            <a:fld id="{7539D880-7677-4E8F-8D1B-ECF4759392EF}" type="slidenum">
              <a:rPr lang="zh-TW" altLang="en-US" smtClean="0"/>
              <a:t>29</a:t>
            </a:fld>
            <a:endParaRPr lang="zh-TW" altLang="en-US"/>
          </a:p>
        </p:txBody>
      </p:sp>
    </p:spTree>
    <p:extLst>
      <p:ext uri="{BB962C8B-B14F-4D97-AF65-F5344CB8AC3E}">
        <p14:creationId xmlns:p14="http://schemas.microsoft.com/office/powerpoint/2010/main" val="3412855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Experiment</a:t>
            </a:r>
            <a:endParaRPr lang="zh-TW" altLang="en-US" dirty="0"/>
          </a:p>
        </p:txBody>
      </p:sp>
      <p:graphicFrame>
        <p:nvGraphicFramePr>
          <p:cNvPr id="3" name="表格 2">
            <a:extLst>
              <a:ext uri="{FF2B5EF4-FFF2-40B4-BE49-F238E27FC236}">
                <a16:creationId xmlns:a16="http://schemas.microsoft.com/office/drawing/2014/main" id="{E9761379-B695-73E9-F34D-50C5DC5FF72F}"/>
              </a:ext>
            </a:extLst>
          </p:cNvPr>
          <p:cNvGraphicFramePr>
            <a:graphicFrameLocks noGrp="1"/>
          </p:cNvGraphicFramePr>
          <p:nvPr>
            <p:extLst>
              <p:ext uri="{D42A27DB-BD31-4B8C-83A1-F6EECF244321}">
                <p14:modId xmlns:p14="http://schemas.microsoft.com/office/powerpoint/2010/main" val="515155023"/>
              </p:ext>
            </p:extLst>
          </p:nvPr>
        </p:nvGraphicFramePr>
        <p:xfrm>
          <a:off x="2684049" y="2426080"/>
          <a:ext cx="6823901" cy="2005840"/>
        </p:xfrm>
        <a:graphic>
          <a:graphicData uri="http://schemas.openxmlformats.org/drawingml/2006/table">
            <a:tbl>
              <a:tblPr firstRow="1" bandRow="1">
                <a:tableStyleId>{5C22544A-7EE6-4342-B048-85BDC9FD1C3A}</a:tableStyleId>
              </a:tblPr>
              <a:tblGrid>
                <a:gridCol w="1575496">
                  <a:extLst>
                    <a:ext uri="{9D8B030D-6E8A-4147-A177-3AD203B41FA5}">
                      <a16:colId xmlns:a16="http://schemas.microsoft.com/office/drawing/2014/main" val="2927200865"/>
                    </a:ext>
                  </a:extLst>
                </a:gridCol>
                <a:gridCol w="5248405">
                  <a:extLst>
                    <a:ext uri="{9D8B030D-6E8A-4147-A177-3AD203B41FA5}">
                      <a16:colId xmlns:a16="http://schemas.microsoft.com/office/drawing/2014/main" val="385517250"/>
                    </a:ext>
                  </a:extLst>
                </a:gridCol>
              </a:tblGrid>
              <a:tr h="370840">
                <a:tc>
                  <a:txBody>
                    <a:bodyPr/>
                    <a:lstStyle/>
                    <a:p>
                      <a:pPr algn="ct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Item</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Details</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26177070"/>
                  </a:ext>
                </a:extLst>
              </a:tr>
              <a:tr h="370840">
                <a:tc>
                  <a:txBody>
                    <a:bodyPr/>
                    <a:lstStyle/>
                    <a:p>
                      <a:pPr marL="0" algn="ctr" defTabSz="914400" rtl="0" eaLnBrk="1" latinLnBrk="0" hangingPunct="1">
                        <a:lnSpc>
                          <a:spcPct val="150000"/>
                        </a:lnSpc>
                        <a:spcAft>
                          <a:spcPts val="0"/>
                        </a:spcAft>
                      </a:pPr>
                      <a:r>
                        <a:rPr lang="en-US" alt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OS</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spcAft>
                          <a:spcPts val="0"/>
                        </a:spcAft>
                      </a:pPr>
                      <a:r>
                        <a:rPr lang="en-US"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Ubuntu 18.04 LTS</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445921"/>
                  </a:ext>
                </a:extLst>
              </a:tr>
              <a:tr h="370840">
                <a:tc>
                  <a:txBody>
                    <a:bodyPr/>
                    <a:lstStyle/>
                    <a:p>
                      <a:pPr marL="0" algn="ctr" defTabSz="914400" rtl="0" eaLnBrk="1" latinLnBrk="0" hangingPunct="1">
                        <a:lnSpc>
                          <a:spcPct val="150000"/>
                        </a:lnSpc>
                        <a:spcAft>
                          <a:spcPts val="0"/>
                        </a:spcAft>
                      </a:pPr>
                      <a:r>
                        <a:rPr lang="en-US"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CPU</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spcAft>
                          <a:spcPts val="0"/>
                        </a:spcAft>
                      </a:pPr>
                      <a:r>
                        <a:rPr lang="pt-BR" alt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Intel(R) Core(TM) i5-12500 CPU @ 3.00GHZ</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068014"/>
                  </a:ext>
                </a:extLst>
              </a:tr>
              <a:tr h="370840">
                <a:tc>
                  <a:txBody>
                    <a:bodyPr/>
                    <a:lstStyle/>
                    <a:p>
                      <a:pPr algn="ctr">
                        <a:lnSpc>
                          <a:spcPct val="150000"/>
                        </a:lnSpc>
                        <a:spcAft>
                          <a:spcPts val="0"/>
                        </a:spcAft>
                      </a:pPr>
                      <a:r>
                        <a:rPr lang="en-US"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RAM</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spcAft>
                          <a:spcPts val="0"/>
                        </a:spcAft>
                      </a:pPr>
                      <a:r>
                        <a:rPr lang="en-US" sz="2000" kern="100" baseline="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8 </a:t>
                      </a:r>
                      <a:r>
                        <a:rPr lang="en-US"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GB</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4736732"/>
                  </a:ext>
                </a:extLst>
              </a:tr>
              <a:tr h="370840">
                <a:tc>
                  <a:txBody>
                    <a:bodyPr/>
                    <a:lstStyle/>
                    <a:p>
                      <a:pPr algn="ctr">
                        <a:lnSpc>
                          <a:spcPct val="150000"/>
                        </a:lnSpc>
                        <a:spcAft>
                          <a:spcPts val="0"/>
                        </a:spcAft>
                      </a:pPr>
                      <a:r>
                        <a:rPr lang="en-US" alt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Disk</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spcAft>
                          <a:spcPts val="0"/>
                        </a:spcAft>
                      </a:pPr>
                      <a:r>
                        <a:rPr lang="en-US" alt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100GB HDD</a:t>
                      </a:r>
                      <a:endParaRPr lang="zh-TW" sz="20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3749016"/>
                  </a:ext>
                </a:extLst>
              </a:tr>
            </a:tbl>
          </a:graphicData>
        </a:graphic>
      </p:graphicFrame>
      <p:sp>
        <p:nvSpPr>
          <p:cNvPr id="7" name="投影片編號版面配置區 6">
            <a:extLst>
              <a:ext uri="{FF2B5EF4-FFF2-40B4-BE49-F238E27FC236}">
                <a16:creationId xmlns:a16="http://schemas.microsoft.com/office/drawing/2014/main" id="{1E48C69F-4016-41A5-842C-002F616975AC}"/>
              </a:ext>
            </a:extLst>
          </p:cNvPr>
          <p:cNvSpPr>
            <a:spLocks noGrp="1"/>
          </p:cNvSpPr>
          <p:nvPr>
            <p:ph type="sldNum" sz="quarter" idx="12"/>
          </p:nvPr>
        </p:nvSpPr>
        <p:spPr/>
        <p:txBody>
          <a:bodyPr/>
          <a:lstStyle/>
          <a:p>
            <a:fld id="{7539D880-7677-4E8F-8D1B-ECF4759392EF}" type="slidenum">
              <a:rPr lang="zh-TW" altLang="en-US" smtClean="0"/>
              <a:t>30</a:t>
            </a:fld>
            <a:endParaRPr lang="zh-TW" altLang="en-US"/>
          </a:p>
        </p:txBody>
      </p:sp>
    </p:spTree>
    <p:extLst>
      <p:ext uri="{BB962C8B-B14F-4D97-AF65-F5344CB8AC3E}">
        <p14:creationId xmlns:p14="http://schemas.microsoft.com/office/powerpoint/2010/main" val="3003688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Experiment Dataset</a:t>
            </a:r>
            <a:endParaRPr lang="zh-TW" altLang="en-US" dirty="0"/>
          </a:p>
        </p:txBody>
      </p:sp>
      <p:graphicFrame>
        <p:nvGraphicFramePr>
          <p:cNvPr id="3" name="表格 2">
            <a:extLst>
              <a:ext uri="{FF2B5EF4-FFF2-40B4-BE49-F238E27FC236}">
                <a16:creationId xmlns:a16="http://schemas.microsoft.com/office/drawing/2014/main" id="{E9761379-B695-73E9-F34D-50C5DC5FF72F}"/>
              </a:ext>
            </a:extLst>
          </p:cNvPr>
          <p:cNvGraphicFramePr>
            <a:graphicFrameLocks noGrp="1"/>
          </p:cNvGraphicFramePr>
          <p:nvPr>
            <p:extLst>
              <p:ext uri="{D42A27DB-BD31-4B8C-83A1-F6EECF244321}">
                <p14:modId xmlns:p14="http://schemas.microsoft.com/office/powerpoint/2010/main" val="2927704582"/>
              </p:ext>
            </p:extLst>
          </p:nvPr>
        </p:nvGraphicFramePr>
        <p:xfrm>
          <a:off x="2684049" y="2481580"/>
          <a:ext cx="6823901" cy="2595880"/>
        </p:xfrm>
        <a:graphic>
          <a:graphicData uri="http://schemas.openxmlformats.org/drawingml/2006/table">
            <a:tbl>
              <a:tblPr firstRow="1" bandRow="1">
                <a:tableStyleId>{5C22544A-7EE6-4342-B048-85BDC9FD1C3A}</a:tableStyleId>
              </a:tblPr>
              <a:tblGrid>
                <a:gridCol w="1449039">
                  <a:extLst>
                    <a:ext uri="{9D8B030D-6E8A-4147-A177-3AD203B41FA5}">
                      <a16:colId xmlns:a16="http://schemas.microsoft.com/office/drawing/2014/main" val="2927200865"/>
                    </a:ext>
                  </a:extLst>
                </a:gridCol>
                <a:gridCol w="2408188">
                  <a:extLst>
                    <a:ext uri="{9D8B030D-6E8A-4147-A177-3AD203B41FA5}">
                      <a16:colId xmlns:a16="http://schemas.microsoft.com/office/drawing/2014/main" val="385517250"/>
                    </a:ext>
                  </a:extLst>
                </a:gridCol>
                <a:gridCol w="2966674">
                  <a:extLst>
                    <a:ext uri="{9D8B030D-6E8A-4147-A177-3AD203B41FA5}">
                      <a16:colId xmlns:a16="http://schemas.microsoft.com/office/drawing/2014/main" val="1370502826"/>
                    </a:ext>
                  </a:extLst>
                </a:gridCol>
              </a:tblGrid>
              <a:tr h="370840">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Name</a:t>
                      </a:r>
                      <a:endParaRPr lang="zh-TW" sz="2000" b="1"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Architecture</a:t>
                      </a:r>
                      <a:endParaRPr lang="zh-TW" sz="2000" b="1"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Type</a:t>
                      </a:r>
                      <a:endParaRPr lang="zh-TW" sz="2000" b="1"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26177070"/>
                  </a:ext>
                </a:extLst>
              </a:tr>
              <a:tr h="370840">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CD8371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Network Camera</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347425"/>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DX3001H9</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068014"/>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DIR513A</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mipsel</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4736732"/>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TEW692GR</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mipsel</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298494"/>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RAX120</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3670308"/>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NBG418N</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mipsel</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6002400"/>
                  </a:ext>
                </a:extLst>
              </a:tr>
            </a:tbl>
          </a:graphicData>
        </a:graphic>
      </p:graphicFrame>
      <p:sp>
        <p:nvSpPr>
          <p:cNvPr id="7" name="投影片編號版面配置區 6">
            <a:extLst>
              <a:ext uri="{FF2B5EF4-FFF2-40B4-BE49-F238E27FC236}">
                <a16:creationId xmlns:a16="http://schemas.microsoft.com/office/drawing/2014/main" id="{72E88F95-7DC8-4506-853D-C45FB19EEB01}"/>
              </a:ext>
            </a:extLst>
          </p:cNvPr>
          <p:cNvSpPr>
            <a:spLocks noGrp="1"/>
          </p:cNvSpPr>
          <p:nvPr>
            <p:ph type="sldNum" sz="quarter" idx="12"/>
          </p:nvPr>
        </p:nvSpPr>
        <p:spPr/>
        <p:txBody>
          <a:bodyPr/>
          <a:lstStyle/>
          <a:p>
            <a:fld id="{7539D880-7677-4E8F-8D1B-ECF4759392EF}" type="slidenum">
              <a:rPr lang="zh-TW" altLang="en-US" smtClean="0"/>
              <a:t>31</a:t>
            </a:fld>
            <a:endParaRPr lang="zh-TW" altLang="en-US"/>
          </a:p>
        </p:txBody>
      </p:sp>
    </p:spTree>
    <p:extLst>
      <p:ext uri="{BB962C8B-B14F-4D97-AF65-F5344CB8AC3E}">
        <p14:creationId xmlns:p14="http://schemas.microsoft.com/office/powerpoint/2010/main" val="3995242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Experiment Result</a:t>
            </a:r>
            <a:endParaRPr lang="zh-TW" altLang="en-US" dirty="0"/>
          </a:p>
        </p:txBody>
      </p:sp>
      <p:graphicFrame>
        <p:nvGraphicFramePr>
          <p:cNvPr id="3" name="表格 2">
            <a:extLst>
              <a:ext uri="{FF2B5EF4-FFF2-40B4-BE49-F238E27FC236}">
                <a16:creationId xmlns:a16="http://schemas.microsoft.com/office/drawing/2014/main" id="{E9761379-B695-73E9-F34D-50C5DC5FF72F}"/>
              </a:ext>
            </a:extLst>
          </p:cNvPr>
          <p:cNvGraphicFramePr>
            <a:graphicFrameLocks noGrp="1"/>
          </p:cNvGraphicFramePr>
          <p:nvPr>
            <p:extLst>
              <p:ext uri="{D42A27DB-BD31-4B8C-83A1-F6EECF244321}">
                <p14:modId xmlns:p14="http://schemas.microsoft.com/office/powerpoint/2010/main" val="1619194874"/>
              </p:ext>
            </p:extLst>
          </p:nvPr>
        </p:nvGraphicFramePr>
        <p:xfrm>
          <a:off x="2684050" y="2359660"/>
          <a:ext cx="6823900" cy="3073400"/>
        </p:xfrm>
        <a:graphic>
          <a:graphicData uri="http://schemas.openxmlformats.org/drawingml/2006/table">
            <a:tbl>
              <a:tblPr firstRow="1" bandRow="1">
                <a:tableStyleId>{5C22544A-7EE6-4342-B048-85BDC9FD1C3A}</a:tableStyleId>
              </a:tblPr>
              <a:tblGrid>
                <a:gridCol w="1529811">
                  <a:extLst>
                    <a:ext uri="{9D8B030D-6E8A-4147-A177-3AD203B41FA5}">
                      <a16:colId xmlns:a16="http://schemas.microsoft.com/office/drawing/2014/main" val="2927200865"/>
                    </a:ext>
                  </a:extLst>
                </a:gridCol>
                <a:gridCol w="1528571">
                  <a:extLst>
                    <a:ext uri="{9D8B030D-6E8A-4147-A177-3AD203B41FA5}">
                      <a16:colId xmlns:a16="http://schemas.microsoft.com/office/drawing/2014/main" val="385517250"/>
                    </a:ext>
                  </a:extLst>
                </a:gridCol>
                <a:gridCol w="1697786">
                  <a:extLst>
                    <a:ext uri="{9D8B030D-6E8A-4147-A177-3AD203B41FA5}">
                      <a16:colId xmlns:a16="http://schemas.microsoft.com/office/drawing/2014/main" val="1370502826"/>
                    </a:ext>
                  </a:extLst>
                </a:gridCol>
                <a:gridCol w="2067732">
                  <a:extLst>
                    <a:ext uri="{9D8B030D-6E8A-4147-A177-3AD203B41FA5}">
                      <a16:colId xmlns:a16="http://schemas.microsoft.com/office/drawing/2014/main" val="3249715117"/>
                    </a:ext>
                  </a:extLst>
                </a:gridCol>
              </a:tblGrid>
              <a:tr h="370840">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Name</a:t>
                      </a: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Architecture</a:t>
                      </a: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Type</a:t>
                      </a: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mn-ea"/>
                          <a:cs typeface="Times New Roman" panose="02020603050405020304" pitchFamily="18" charset="0"/>
                        </a:rPr>
                        <a:t>Emulation successful</a:t>
                      </a: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26177070"/>
                  </a:ext>
                </a:extLst>
              </a:tr>
              <a:tr h="370840">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CD8371</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Network Camera</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rPr>
                        <a:t>No</a:t>
                      </a:r>
                      <a:endParaRPr lang="zh-TW" sz="2000" kern="100"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347425"/>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DX3001H9</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Yes</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068014"/>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DIR513A</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mipsel</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Yes</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4736732"/>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TEW692GR</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mipsel</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Yes</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298494"/>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RAX120</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rPr>
                        <a:t>No</a:t>
                      </a:r>
                      <a:endParaRPr lang="zh-TW" sz="2000" kern="100"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3670308"/>
                  </a:ext>
                </a:extLst>
              </a:tr>
              <a:tr h="370840">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NBG418N</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a:effectLst/>
                          <a:latin typeface="Times New Roman" panose="02020603050405020304" pitchFamily="18" charset="0"/>
                          <a:ea typeface="標楷體" panose="03000509000000000000" pitchFamily="65" charset="-120"/>
                          <a:cs typeface="Times New Roman" panose="02020603050405020304" pitchFamily="18" charset="0"/>
                        </a:rPr>
                        <a:t>mipsel</a:t>
                      </a:r>
                      <a:endParaRPr lang="zh-TW" sz="20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Yes</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6002400"/>
                  </a:ext>
                </a:extLst>
              </a:tr>
            </a:tbl>
          </a:graphicData>
        </a:graphic>
      </p:graphicFrame>
      <p:sp>
        <p:nvSpPr>
          <p:cNvPr id="7" name="投影片編號版面配置區 6">
            <a:extLst>
              <a:ext uri="{FF2B5EF4-FFF2-40B4-BE49-F238E27FC236}">
                <a16:creationId xmlns:a16="http://schemas.microsoft.com/office/drawing/2014/main" id="{4007CB88-B138-47D2-AF58-5313A49B8EBA}"/>
              </a:ext>
            </a:extLst>
          </p:cNvPr>
          <p:cNvSpPr>
            <a:spLocks noGrp="1"/>
          </p:cNvSpPr>
          <p:nvPr>
            <p:ph type="sldNum" sz="quarter" idx="12"/>
          </p:nvPr>
        </p:nvSpPr>
        <p:spPr/>
        <p:txBody>
          <a:bodyPr/>
          <a:lstStyle/>
          <a:p>
            <a:fld id="{7539D880-7677-4E8F-8D1B-ECF4759392EF}" type="slidenum">
              <a:rPr lang="zh-TW" altLang="en-US" smtClean="0"/>
              <a:t>32</a:t>
            </a:fld>
            <a:endParaRPr lang="zh-TW" altLang="en-US"/>
          </a:p>
        </p:txBody>
      </p:sp>
    </p:spTree>
    <p:extLst>
      <p:ext uri="{BB962C8B-B14F-4D97-AF65-F5344CB8AC3E}">
        <p14:creationId xmlns:p14="http://schemas.microsoft.com/office/powerpoint/2010/main" val="1016465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1</a:t>
            </a:r>
            <a:endParaRPr lang="zh-TW" altLang="en-US" dirty="0"/>
          </a:p>
        </p:txBody>
      </p:sp>
      <p:sp>
        <p:nvSpPr>
          <p:cNvPr id="4" name="內容版面配置區 2">
            <a:extLst>
              <a:ext uri="{FF2B5EF4-FFF2-40B4-BE49-F238E27FC236}">
                <a16:creationId xmlns:a16="http://schemas.microsoft.com/office/drawing/2014/main" id="{4E0EE2D6-07B7-4B29-A619-533C4A436ED7}"/>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 Kernel Panic occurred during the system boot process, and the issue is related to the initialization script configuration.</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Check whether the boot command uses the </a:t>
            </a:r>
            <a:r>
              <a:rPr lang="en-US" altLang="zh-TW" sz="2000" b="1" dirty="0" err="1">
                <a:solidFill>
                  <a:srgbClr val="FF0000"/>
                </a:solidFill>
                <a:latin typeface="Times New Roman" panose="02020603050405020304" pitchFamily="18" charset="0"/>
                <a:cs typeface="Times New Roman" panose="02020603050405020304" pitchFamily="18" charset="0"/>
              </a:rPr>
              <a:t>rdinit</a:t>
            </a:r>
            <a:r>
              <a:rPr lang="en-US" altLang="zh-TW" sz="2000" dirty="0">
                <a:latin typeface="Times New Roman" panose="02020603050405020304" pitchFamily="18" charset="0"/>
                <a:cs typeface="Times New Roman" panose="02020603050405020304" pitchFamily="18" charset="0"/>
              </a:rPr>
              <a:t> parameter and replace it with </a:t>
            </a:r>
            <a:r>
              <a:rPr lang="en-US" altLang="zh-TW" sz="2000" b="1" dirty="0" err="1">
                <a:solidFill>
                  <a:srgbClr val="FF0000"/>
                </a:solidFill>
                <a:latin typeface="Times New Roman" panose="02020603050405020304" pitchFamily="18" charset="0"/>
                <a:cs typeface="Times New Roman" panose="02020603050405020304" pitchFamily="18" charset="0"/>
              </a:rPr>
              <a:t>init</a:t>
            </a:r>
            <a:r>
              <a:rPr lang="en-US" altLang="zh-TW" sz="2000" dirty="0">
                <a:latin typeface="Times New Roman" panose="02020603050405020304" pitchFamily="18" charset="0"/>
                <a:cs typeface="Times New Roman" panose="02020603050405020304" pitchFamily="18" charset="0"/>
              </a:rPr>
              <a:t> to ensure the system boots properly. Configure </a:t>
            </a:r>
            <a:r>
              <a:rPr lang="en-US" altLang="zh-TW" sz="2000" b="1" dirty="0">
                <a:solidFill>
                  <a:srgbClr val="FF0000"/>
                </a:solidFill>
                <a:latin typeface="Times New Roman" panose="02020603050405020304" pitchFamily="18" charset="0"/>
                <a:cs typeface="Times New Roman" panose="02020603050405020304" pitchFamily="18" charset="0"/>
              </a:rPr>
              <a:t>preInit.sh </a:t>
            </a:r>
            <a:r>
              <a:rPr lang="en-US" altLang="zh-TW" sz="2000" dirty="0">
                <a:latin typeface="Times New Roman" panose="02020603050405020304" pitchFamily="18" charset="0"/>
                <a:cs typeface="Times New Roman" panose="02020603050405020304" pitchFamily="18" charset="0"/>
              </a:rPr>
              <a:t>as the initialization script responsible for mounting the file system, setting kernel parameters, and starting essential services.</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After the system boots, execute the initialization scripts in </a:t>
            </a:r>
            <a:r>
              <a:rPr lang="en-US" altLang="zh-TW" sz="2000" b="1" dirty="0">
                <a:solidFill>
                  <a:srgbClr val="FF0000"/>
                </a:solidFill>
                <a:latin typeface="Times New Roman" panose="02020603050405020304" pitchFamily="18" charset="0"/>
                <a:cs typeface="Times New Roman" panose="02020603050405020304" pitchFamily="18" charset="0"/>
              </a:rPr>
              <a:t>/</a:t>
            </a:r>
            <a:r>
              <a:rPr lang="en-US" altLang="zh-TW" sz="2000" b="1" dirty="0" err="1">
                <a:solidFill>
                  <a:srgbClr val="FF0000"/>
                </a:solidFill>
                <a:latin typeface="Times New Roman" panose="02020603050405020304" pitchFamily="18" charset="0"/>
                <a:cs typeface="Times New Roman" panose="02020603050405020304" pitchFamily="18" charset="0"/>
              </a:rPr>
              <a:t>etc</a:t>
            </a:r>
            <a:r>
              <a:rPr lang="en-US" altLang="zh-TW" sz="2000" b="1" dirty="0">
                <a:solidFill>
                  <a:srgbClr val="FF0000"/>
                </a:solidFill>
                <a:latin typeface="Times New Roman" panose="02020603050405020304" pitchFamily="18" charset="0"/>
                <a:cs typeface="Times New Roman" panose="02020603050405020304" pitchFamily="18" charset="0"/>
              </a:rPr>
              <a:t>/</a:t>
            </a:r>
            <a:r>
              <a:rPr lang="en-US" altLang="zh-TW" sz="2000" b="1" dirty="0" err="1">
                <a:solidFill>
                  <a:srgbClr val="FF0000"/>
                </a:solidFill>
                <a:latin typeface="Times New Roman" panose="02020603050405020304" pitchFamily="18" charset="0"/>
                <a:cs typeface="Times New Roman" panose="02020603050405020304" pitchFamily="18" charset="0"/>
              </a:rPr>
              <a:t>inittab</a:t>
            </a:r>
            <a:r>
              <a:rPr lang="en-US" altLang="zh-TW" sz="2000" b="1" dirty="0">
                <a:solidFill>
                  <a:srgbClr val="FF0000"/>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to complete service startup, network configuration, and module loading.</a:t>
            </a:r>
          </a:p>
        </p:txBody>
      </p:sp>
      <p:sp>
        <p:nvSpPr>
          <p:cNvPr id="7" name="投影片編號版面配置區 6">
            <a:extLst>
              <a:ext uri="{FF2B5EF4-FFF2-40B4-BE49-F238E27FC236}">
                <a16:creationId xmlns:a16="http://schemas.microsoft.com/office/drawing/2014/main" id="{EFBEA7FF-FA9C-47C4-94A6-5F06EEBFD8C7}"/>
              </a:ext>
            </a:extLst>
          </p:cNvPr>
          <p:cNvSpPr>
            <a:spLocks noGrp="1"/>
          </p:cNvSpPr>
          <p:nvPr>
            <p:ph type="sldNum" sz="quarter" idx="12"/>
          </p:nvPr>
        </p:nvSpPr>
        <p:spPr/>
        <p:txBody>
          <a:bodyPr/>
          <a:lstStyle/>
          <a:p>
            <a:fld id="{7539D880-7677-4E8F-8D1B-ECF4759392EF}" type="slidenum">
              <a:rPr lang="zh-TW" altLang="en-US" smtClean="0"/>
              <a:t>33</a:t>
            </a:fld>
            <a:endParaRPr lang="zh-TW" altLang="en-US"/>
          </a:p>
        </p:txBody>
      </p:sp>
    </p:spTree>
    <p:extLst>
      <p:ext uri="{BB962C8B-B14F-4D97-AF65-F5344CB8AC3E}">
        <p14:creationId xmlns:p14="http://schemas.microsoft.com/office/powerpoint/2010/main" val="140519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2</a:t>
            </a:r>
            <a:endParaRPr lang="zh-TW" altLang="en-US" dirty="0"/>
          </a:p>
        </p:txBody>
      </p:sp>
      <p:sp>
        <p:nvSpPr>
          <p:cNvPr id="4" name="內容版面配置區 2">
            <a:extLst>
              <a:ext uri="{FF2B5EF4-FFF2-40B4-BE49-F238E27FC236}">
                <a16:creationId xmlns:a16="http://schemas.microsoft.com/office/drawing/2014/main" id="{DA1F1930-464E-4E1A-83AC-6097D01EBD2A}"/>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 During the system initialization process, it was discovered that certain modules were missing.</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Based on the names of the missing modules, download or compile compatible modules, then restart the system and check the logs to ensure the modules are correctly loaded and functioning properly, avoiding new issues.</a:t>
            </a:r>
          </a:p>
        </p:txBody>
      </p:sp>
      <p:sp>
        <p:nvSpPr>
          <p:cNvPr id="7" name="投影片編號版面配置區 6">
            <a:extLst>
              <a:ext uri="{FF2B5EF4-FFF2-40B4-BE49-F238E27FC236}">
                <a16:creationId xmlns:a16="http://schemas.microsoft.com/office/drawing/2014/main" id="{08D52758-0995-4607-81BD-0A7495D96E51}"/>
              </a:ext>
            </a:extLst>
          </p:cNvPr>
          <p:cNvSpPr>
            <a:spLocks noGrp="1"/>
          </p:cNvSpPr>
          <p:nvPr>
            <p:ph type="sldNum" sz="quarter" idx="12"/>
          </p:nvPr>
        </p:nvSpPr>
        <p:spPr/>
        <p:txBody>
          <a:bodyPr/>
          <a:lstStyle/>
          <a:p>
            <a:fld id="{7539D880-7677-4E8F-8D1B-ECF4759392EF}" type="slidenum">
              <a:rPr lang="zh-TW" altLang="en-US" smtClean="0"/>
              <a:t>34</a:t>
            </a:fld>
            <a:endParaRPr lang="zh-TW" altLang="en-US"/>
          </a:p>
        </p:txBody>
      </p:sp>
    </p:spTree>
    <p:extLst>
      <p:ext uri="{BB962C8B-B14F-4D97-AF65-F5344CB8AC3E}">
        <p14:creationId xmlns:p14="http://schemas.microsoft.com/office/powerpoint/2010/main" val="2770079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3</a:t>
            </a:r>
            <a:endParaRPr lang="zh-TW" altLang="en-US" dirty="0"/>
          </a:p>
        </p:txBody>
      </p:sp>
      <p:sp>
        <p:nvSpPr>
          <p:cNvPr id="4" name="內容版面配置區 2">
            <a:extLst>
              <a:ext uri="{FF2B5EF4-FFF2-40B4-BE49-F238E27FC236}">
                <a16:creationId xmlns:a16="http://schemas.microsoft.com/office/drawing/2014/main" id="{D499AE95-96A8-4DA2-AC53-E89145A46F3E}"/>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 During the initialization process, it was found that support for NVRAM was insufficient, resulting in an inability to successfully emulate.</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err="1">
                <a:latin typeface="Times New Roman" panose="02020603050405020304" pitchFamily="18" charset="0"/>
                <a:cs typeface="Times New Roman" panose="02020603050405020304" pitchFamily="18" charset="0"/>
              </a:rPr>
              <a:t>FirmAE's</a:t>
            </a:r>
            <a:r>
              <a:rPr lang="en-US" altLang="zh-TW" sz="2000" dirty="0">
                <a:latin typeface="Times New Roman" panose="02020603050405020304" pitchFamily="18" charset="0"/>
                <a:cs typeface="Times New Roman" panose="02020603050405020304" pitchFamily="18" charset="0"/>
              </a:rPr>
              <a:t> NVRAM Arbitrations may override the native system, and insufficient support can lead to incorrect responses to system calls. This can be resolved by disabling the feature to use the native NVRAM configuration or supplementing the required NVRAM support.</a:t>
            </a:r>
          </a:p>
        </p:txBody>
      </p:sp>
      <p:sp>
        <p:nvSpPr>
          <p:cNvPr id="7" name="投影片編號版面配置區 6">
            <a:extLst>
              <a:ext uri="{FF2B5EF4-FFF2-40B4-BE49-F238E27FC236}">
                <a16:creationId xmlns:a16="http://schemas.microsoft.com/office/drawing/2014/main" id="{7E94D3E4-A4FE-46D0-A0A5-14ECB639CFDD}"/>
              </a:ext>
            </a:extLst>
          </p:cNvPr>
          <p:cNvSpPr>
            <a:spLocks noGrp="1"/>
          </p:cNvSpPr>
          <p:nvPr>
            <p:ph type="sldNum" sz="quarter" idx="12"/>
          </p:nvPr>
        </p:nvSpPr>
        <p:spPr/>
        <p:txBody>
          <a:bodyPr/>
          <a:lstStyle/>
          <a:p>
            <a:fld id="{7539D880-7677-4E8F-8D1B-ECF4759392EF}" type="slidenum">
              <a:rPr lang="zh-TW" altLang="en-US" smtClean="0"/>
              <a:t>35</a:t>
            </a:fld>
            <a:endParaRPr lang="zh-TW" altLang="en-US"/>
          </a:p>
        </p:txBody>
      </p:sp>
    </p:spTree>
    <p:extLst>
      <p:ext uri="{BB962C8B-B14F-4D97-AF65-F5344CB8AC3E}">
        <p14:creationId xmlns:p14="http://schemas.microsoft.com/office/powerpoint/2010/main" val="3328511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4</a:t>
            </a:r>
            <a:endParaRPr lang="zh-TW" altLang="en-US" dirty="0"/>
          </a:p>
        </p:txBody>
      </p:sp>
      <p:sp>
        <p:nvSpPr>
          <p:cNvPr id="4" name="內容版面配置區 2">
            <a:extLst>
              <a:ext uri="{FF2B5EF4-FFF2-40B4-BE49-F238E27FC236}">
                <a16:creationId xmlns:a16="http://schemas.microsoft.com/office/drawing/2014/main" id="{566CBBEC-B795-44B3-B07F-E1DD789CA112}"/>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 During the system initialization process, the system logs indicate an error in the script execution order.</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When the system logs indicate an error in the script execution order, analyze the script dependencies and </a:t>
            </a:r>
            <a:r>
              <a:rPr lang="en-US" altLang="zh-TW" sz="2000" b="1" dirty="0">
                <a:solidFill>
                  <a:srgbClr val="FF0000"/>
                </a:solidFill>
                <a:latin typeface="Times New Roman" panose="02020603050405020304" pitchFamily="18" charset="0"/>
                <a:cs typeface="Times New Roman" panose="02020603050405020304" pitchFamily="18" charset="0"/>
              </a:rPr>
              <a:t>execution sequence</a:t>
            </a:r>
            <a:r>
              <a:rPr lang="en-US" altLang="zh-TW" sz="2000" dirty="0">
                <a:latin typeface="Times New Roman" panose="02020603050405020304" pitchFamily="18" charset="0"/>
                <a:cs typeface="Times New Roman" panose="02020603050405020304" pitchFamily="18" charset="0"/>
              </a:rPr>
              <a:t> to ensure they meet the requirements, and confirm the order is correct and the error is resolved.</a:t>
            </a:r>
          </a:p>
        </p:txBody>
      </p:sp>
      <p:sp>
        <p:nvSpPr>
          <p:cNvPr id="7" name="投影片編號版面配置區 6">
            <a:extLst>
              <a:ext uri="{FF2B5EF4-FFF2-40B4-BE49-F238E27FC236}">
                <a16:creationId xmlns:a16="http://schemas.microsoft.com/office/drawing/2014/main" id="{B797BBF0-F64E-4F20-B4E4-2E2DAEA69552}"/>
              </a:ext>
            </a:extLst>
          </p:cNvPr>
          <p:cNvSpPr>
            <a:spLocks noGrp="1"/>
          </p:cNvSpPr>
          <p:nvPr>
            <p:ph type="sldNum" sz="quarter" idx="12"/>
          </p:nvPr>
        </p:nvSpPr>
        <p:spPr/>
        <p:txBody>
          <a:bodyPr/>
          <a:lstStyle/>
          <a:p>
            <a:fld id="{7539D880-7677-4E8F-8D1B-ECF4759392EF}" type="slidenum">
              <a:rPr lang="zh-TW" altLang="en-US" smtClean="0"/>
              <a:t>36</a:t>
            </a:fld>
            <a:endParaRPr lang="zh-TW" altLang="en-US"/>
          </a:p>
        </p:txBody>
      </p:sp>
    </p:spTree>
    <p:extLst>
      <p:ext uri="{BB962C8B-B14F-4D97-AF65-F5344CB8AC3E}">
        <p14:creationId xmlns:p14="http://schemas.microsoft.com/office/powerpoint/2010/main" val="2085325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5</a:t>
            </a:r>
            <a:endParaRPr lang="zh-TW" altLang="en-US" dirty="0"/>
          </a:p>
        </p:txBody>
      </p:sp>
      <p:sp>
        <p:nvSpPr>
          <p:cNvPr id="4" name="內容版面配置區 2">
            <a:extLst>
              <a:ext uri="{FF2B5EF4-FFF2-40B4-BE49-F238E27FC236}">
                <a16:creationId xmlns:a16="http://schemas.microsoft.com/office/drawing/2014/main" id="{8C2C7B0C-056F-48CF-B683-389CC2108EC2}"/>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During the network configuration phase, it was found that the network IP address used by the system does not match the default IP address.</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Check if the system's network IP differs from the default value (</a:t>
            </a:r>
            <a:r>
              <a:rPr lang="en-US" altLang="zh-TW" sz="2000" b="1" dirty="0">
                <a:solidFill>
                  <a:srgbClr val="FF0000"/>
                </a:solidFill>
                <a:latin typeface="Times New Roman" panose="02020603050405020304" pitchFamily="18" charset="0"/>
                <a:cs typeface="Times New Roman" panose="02020603050405020304" pitchFamily="18" charset="0"/>
              </a:rPr>
              <a:t>192.168.0.1</a:t>
            </a:r>
            <a:r>
              <a:rPr lang="en-US" altLang="zh-TW" sz="2000" dirty="0">
                <a:latin typeface="Times New Roman" panose="02020603050405020304" pitchFamily="18" charset="0"/>
                <a:cs typeface="Times New Roman" panose="02020603050405020304" pitchFamily="18" charset="0"/>
              </a:rPr>
              <a:t>) using ifconfig or </a:t>
            </a:r>
            <a:r>
              <a:rPr lang="en-US" altLang="zh-TW" sz="2000" dirty="0" err="1">
                <a:latin typeface="Times New Roman" panose="02020603050405020304" pitchFamily="18" charset="0"/>
                <a:cs typeface="Times New Roman" panose="02020603050405020304" pitchFamily="18" charset="0"/>
              </a:rPr>
              <a:t>ip</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addr</a:t>
            </a:r>
            <a:r>
              <a:rPr lang="en-US" altLang="zh-TW" sz="2000" dirty="0">
                <a:latin typeface="Times New Roman" panose="02020603050405020304" pitchFamily="18" charset="0"/>
                <a:cs typeface="Times New Roman" panose="02020603050405020304" pitchFamily="18" charset="0"/>
              </a:rPr>
              <a:t> show. Modify </a:t>
            </a:r>
            <a:r>
              <a:rPr lang="en-US" altLang="zh-TW" sz="2000" b="1" dirty="0">
                <a:solidFill>
                  <a:srgbClr val="FF0000"/>
                </a:solidFill>
                <a:latin typeface="Times New Roman" panose="02020603050405020304" pitchFamily="18" charset="0"/>
                <a:cs typeface="Times New Roman" panose="02020603050405020304" pitchFamily="18" charset="0"/>
              </a:rPr>
              <a:t>network.sh </a:t>
            </a:r>
            <a:r>
              <a:rPr lang="en-US" altLang="zh-TW" sz="2000" dirty="0">
                <a:latin typeface="Times New Roman" panose="02020603050405020304" pitchFamily="18" charset="0"/>
                <a:cs typeface="Times New Roman" panose="02020603050405020304" pitchFamily="18" charset="0"/>
              </a:rPr>
              <a:t>as needed based on the requirements.</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Adjust the </a:t>
            </a:r>
            <a:r>
              <a:rPr lang="en-US" altLang="zh-TW" sz="2000" b="1" dirty="0">
                <a:solidFill>
                  <a:srgbClr val="FF0000"/>
                </a:solidFill>
                <a:latin typeface="Times New Roman" panose="02020603050405020304" pitchFamily="18" charset="0"/>
                <a:cs typeface="Times New Roman" panose="02020603050405020304" pitchFamily="18" charset="0"/>
              </a:rPr>
              <a:t>run.sh </a:t>
            </a:r>
            <a:r>
              <a:rPr lang="en-US" altLang="zh-TW" sz="2000" dirty="0">
                <a:latin typeface="Times New Roman" panose="02020603050405020304" pitchFamily="18" charset="0"/>
                <a:cs typeface="Times New Roman" panose="02020603050405020304" pitchFamily="18" charset="0"/>
              </a:rPr>
              <a:t>script to configure the host's network IP so that it remains within the same subnet as the firmware.</a:t>
            </a:r>
          </a:p>
        </p:txBody>
      </p:sp>
      <p:sp>
        <p:nvSpPr>
          <p:cNvPr id="7" name="投影片編號版面配置區 6">
            <a:extLst>
              <a:ext uri="{FF2B5EF4-FFF2-40B4-BE49-F238E27FC236}">
                <a16:creationId xmlns:a16="http://schemas.microsoft.com/office/drawing/2014/main" id="{BCD5EB4E-C2E7-46E7-AE7A-063358FCECDA}"/>
              </a:ext>
            </a:extLst>
          </p:cNvPr>
          <p:cNvSpPr>
            <a:spLocks noGrp="1"/>
          </p:cNvSpPr>
          <p:nvPr>
            <p:ph type="sldNum" sz="quarter" idx="12"/>
          </p:nvPr>
        </p:nvSpPr>
        <p:spPr/>
        <p:txBody>
          <a:bodyPr/>
          <a:lstStyle/>
          <a:p>
            <a:fld id="{7539D880-7677-4E8F-8D1B-ECF4759392EF}" type="slidenum">
              <a:rPr lang="zh-TW" altLang="en-US" smtClean="0"/>
              <a:t>37</a:t>
            </a:fld>
            <a:endParaRPr lang="zh-TW" altLang="en-US"/>
          </a:p>
        </p:txBody>
      </p:sp>
    </p:spTree>
    <p:extLst>
      <p:ext uri="{BB962C8B-B14F-4D97-AF65-F5344CB8AC3E}">
        <p14:creationId xmlns:p14="http://schemas.microsoft.com/office/powerpoint/2010/main" val="969309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6</a:t>
            </a:r>
            <a:endParaRPr lang="zh-TW" altLang="en-US" dirty="0"/>
          </a:p>
        </p:txBody>
      </p:sp>
      <p:sp>
        <p:nvSpPr>
          <p:cNvPr id="4" name="內容版面配置區 2">
            <a:extLst>
              <a:ext uri="{FF2B5EF4-FFF2-40B4-BE49-F238E27FC236}">
                <a16:creationId xmlns:a16="http://schemas.microsoft.com/office/drawing/2014/main" id="{F5FE9F56-B48B-4C07-969E-67C17FFA26BB}"/>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During the network configuration phase, it was found that the MAC addresses of the bridge interface br0 and the physical interface eth0 are inconsistent.</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Stop the br0 network service and remove the interface, then recreate br0 and adjust its MAC address to match that of eth0.</a:t>
            </a:r>
          </a:p>
        </p:txBody>
      </p:sp>
      <p:sp>
        <p:nvSpPr>
          <p:cNvPr id="7" name="投影片編號版面配置區 6">
            <a:extLst>
              <a:ext uri="{FF2B5EF4-FFF2-40B4-BE49-F238E27FC236}">
                <a16:creationId xmlns:a16="http://schemas.microsoft.com/office/drawing/2014/main" id="{5E114925-6535-477C-80E1-28C59737A727}"/>
              </a:ext>
            </a:extLst>
          </p:cNvPr>
          <p:cNvSpPr>
            <a:spLocks noGrp="1"/>
          </p:cNvSpPr>
          <p:nvPr>
            <p:ph type="sldNum" sz="quarter" idx="12"/>
          </p:nvPr>
        </p:nvSpPr>
        <p:spPr/>
        <p:txBody>
          <a:bodyPr/>
          <a:lstStyle/>
          <a:p>
            <a:fld id="{7539D880-7677-4E8F-8D1B-ECF4759392EF}" type="slidenum">
              <a:rPr lang="zh-TW" altLang="en-US" smtClean="0"/>
              <a:t>38</a:t>
            </a:fld>
            <a:endParaRPr lang="zh-TW" altLang="en-US"/>
          </a:p>
        </p:txBody>
      </p:sp>
    </p:spTree>
    <p:extLst>
      <p:ext uri="{BB962C8B-B14F-4D97-AF65-F5344CB8AC3E}">
        <p14:creationId xmlns:p14="http://schemas.microsoft.com/office/powerpoint/2010/main" val="494295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Rule 7</a:t>
            </a:r>
            <a:endParaRPr lang="zh-TW" altLang="en-US" dirty="0"/>
          </a:p>
        </p:txBody>
      </p:sp>
      <p:sp>
        <p:nvSpPr>
          <p:cNvPr id="4" name="內容版面配置區 2">
            <a:extLst>
              <a:ext uri="{FF2B5EF4-FFF2-40B4-BE49-F238E27FC236}">
                <a16:creationId xmlns:a16="http://schemas.microsoft.com/office/drawing/2014/main" id="{7A1298C0-961B-45C1-B285-5E207B77E3A4}"/>
              </a:ext>
            </a:extLst>
          </p:cNvPr>
          <p:cNvSpPr>
            <a:spLocks noGrp="1"/>
          </p:cNvSpPr>
          <p:nvPr>
            <p:ph idx="1"/>
          </p:nvPr>
        </p:nvSpPr>
        <p:spPr>
          <a:xfrm>
            <a:off x="1097280" y="1845734"/>
            <a:ext cx="10058400" cy="4023360"/>
          </a:xfrm>
        </p:spPr>
        <p:txBody>
          <a:bodyPr>
            <a:normAutofit/>
          </a:bodyPr>
          <a:lstStyle/>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Condition</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During the network configuration phase, it was found that the firmware's initialization script has automatically configured the network interface, which may conflict with </a:t>
            </a:r>
            <a:r>
              <a:rPr lang="en-US" altLang="zh-TW" sz="2200" dirty="0" err="1">
                <a:latin typeface="Times New Roman" panose="02020603050405020304" pitchFamily="18" charset="0"/>
                <a:cs typeface="Times New Roman" panose="02020603050405020304" pitchFamily="18" charset="0"/>
              </a:rPr>
              <a:t>FirmAE's</a:t>
            </a:r>
            <a:r>
              <a:rPr lang="en-US" altLang="zh-TW" sz="2200" dirty="0">
                <a:latin typeface="Times New Roman" panose="02020603050405020304" pitchFamily="18" charset="0"/>
                <a:cs typeface="Times New Roman" panose="02020603050405020304" pitchFamily="18" charset="0"/>
              </a:rPr>
              <a:t> network settings.</a:t>
            </a:r>
          </a:p>
          <a:p>
            <a:pPr marL="361950" indent="-361950" algn="just">
              <a:buFont typeface="Wingdings" panose="05000000000000000000" pitchFamily="2" charset="2"/>
              <a:buChar char="l"/>
            </a:pPr>
            <a:r>
              <a:rPr lang="en-US" altLang="zh-TW" sz="2200" b="1" dirty="0">
                <a:latin typeface="Times New Roman" panose="02020603050405020304" pitchFamily="18" charset="0"/>
                <a:cs typeface="Times New Roman" panose="02020603050405020304" pitchFamily="18" charset="0"/>
              </a:rPr>
              <a:t>Solution</a:t>
            </a:r>
            <a:r>
              <a:rPr lang="en-US" altLang="zh-TW" sz="2200" dirty="0">
                <a:latin typeface="Times New Roman" panose="02020603050405020304" pitchFamily="18" charset="0"/>
                <a:cs typeface="Times New Roman" panose="02020603050405020304" pitchFamily="18" charset="0"/>
              </a:rPr>
              <a:t>: </a:t>
            </a:r>
          </a:p>
          <a:p>
            <a:pPr marL="654558" lvl="1" indent="-361950" algn="just">
              <a:buFont typeface="Wingdings" panose="05000000000000000000" pitchFamily="2" charset="2"/>
              <a:buChar char="Ø"/>
            </a:pPr>
            <a:r>
              <a:rPr lang="en-US" altLang="zh-TW" sz="2000" dirty="0">
                <a:latin typeface="Times New Roman" panose="02020603050405020304" pitchFamily="18" charset="0"/>
                <a:cs typeface="Times New Roman" panose="02020603050405020304" pitchFamily="18" charset="0"/>
              </a:rPr>
              <a:t>When it is found that the firmware's initialization script actively configures the network interface, </a:t>
            </a:r>
            <a:r>
              <a:rPr lang="en-US" altLang="zh-TW" sz="2000" dirty="0" err="1">
                <a:latin typeface="Times New Roman" panose="02020603050405020304" pitchFamily="18" charset="0"/>
                <a:cs typeface="Times New Roman" panose="02020603050405020304" pitchFamily="18" charset="0"/>
              </a:rPr>
              <a:t>FirmAE's</a:t>
            </a:r>
            <a:r>
              <a:rPr lang="en-US" altLang="zh-TW" sz="2000" dirty="0">
                <a:latin typeface="Times New Roman" panose="02020603050405020304" pitchFamily="18" charset="0"/>
                <a:cs typeface="Times New Roman" panose="02020603050405020304" pitchFamily="18" charset="0"/>
              </a:rPr>
              <a:t> network settings should be disabled to avoid conflicts between the two configurations, which could result in network malfunctions.</a:t>
            </a:r>
          </a:p>
        </p:txBody>
      </p:sp>
      <p:sp>
        <p:nvSpPr>
          <p:cNvPr id="7" name="投影片編號版面配置區 6">
            <a:extLst>
              <a:ext uri="{FF2B5EF4-FFF2-40B4-BE49-F238E27FC236}">
                <a16:creationId xmlns:a16="http://schemas.microsoft.com/office/drawing/2014/main" id="{2FFAC4FF-1EB7-4602-BA14-4CB04DEAFB0E}"/>
              </a:ext>
            </a:extLst>
          </p:cNvPr>
          <p:cNvSpPr>
            <a:spLocks noGrp="1"/>
          </p:cNvSpPr>
          <p:nvPr>
            <p:ph type="sldNum" sz="quarter" idx="12"/>
          </p:nvPr>
        </p:nvSpPr>
        <p:spPr/>
        <p:txBody>
          <a:bodyPr/>
          <a:lstStyle/>
          <a:p>
            <a:fld id="{7539D880-7677-4E8F-8D1B-ECF4759392EF}" type="slidenum">
              <a:rPr lang="zh-TW" altLang="en-US" smtClean="0"/>
              <a:t>39</a:t>
            </a:fld>
            <a:endParaRPr lang="zh-TW" altLang="en-US"/>
          </a:p>
        </p:txBody>
      </p:sp>
    </p:spTree>
    <p:extLst>
      <p:ext uri="{BB962C8B-B14F-4D97-AF65-F5344CB8AC3E}">
        <p14:creationId xmlns:p14="http://schemas.microsoft.com/office/powerpoint/2010/main" val="100240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Validation Dataset</a:t>
            </a:r>
            <a:endParaRPr lang="zh-TW" altLang="en-US" dirty="0"/>
          </a:p>
        </p:txBody>
      </p:sp>
      <p:graphicFrame>
        <p:nvGraphicFramePr>
          <p:cNvPr id="5" name="表格 4">
            <a:extLst>
              <a:ext uri="{FF2B5EF4-FFF2-40B4-BE49-F238E27FC236}">
                <a16:creationId xmlns:a16="http://schemas.microsoft.com/office/drawing/2014/main" id="{D5F317EF-A452-476F-BF7A-264CE6EE1618}"/>
              </a:ext>
            </a:extLst>
          </p:cNvPr>
          <p:cNvGraphicFramePr>
            <a:graphicFrameLocks noGrp="1"/>
          </p:cNvGraphicFramePr>
          <p:nvPr>
            <p:extLst>
              <p:ext uri="{D42A27DB-BD31-4B8C-83A1-F6EECF244321}">
                <p14:modId xmlns:p14="http://schemas.microsoft.com/office/powerpoint/2010/main" val="1536151502"/>
              </p:ext>
            </p:extLst>
          </p:nvPr>
        </p:nvGraphicFramePr>
        <p:xfrm>
          <a:off x="2684049" y="2872740"/>
          <a:ext cx="6823901" cy="1112520"/>
        </p:xfrm>
        <a:graphic>
          <a:graphicData uri="http://schemas.openxmlformats.org/drawingml/2006/table">
            <a:tbl>
              <a:tblPr firstRow="1" bandRow="1">
                <a:tableStyleId>{5C22544A-7EE6-4342-B048-85BDC9FD1C3A}</a:tableStyleId>
              </a:tblPr>
              <a:tblGrid>
                <a:gridCol w="1449039">
                  <a:extLst>
                    <a:ext uri="{9D8B030D-6E8A-4147-A177-3AD203B41FA5}">
                      <a16:colId xmlns:a16="http://schemas.microsoft.com/office/drawing/2014/main" val="2927200865"/>
                    </a:ext>
                  </a:extLst>
                </a:gridCol>
                <a:gridCol w="2408188">
                  <a:extLst>
                    <a:ext uri="{9D8B030D-6E8A-4147-A177-3AD203B41FA5}">
                      <a16:colId xmlns:a16="http://schemas.microsoft.com/office/drawing/2014/main" val="385517250"/>
                    </a:ext>
                  </a:extLst>
                </a:gridCol>
                <a:gridCol w="2966674">
                  <a:extLst>
                    <a:ext uri="{9D8B030D-6E8A-4147-A177-3AD203B41FA5}">
                      <a16:colId xmlns:a16="http://schemas.microsoft.com/office/drawing/2014/main" val="1370502826"/>
                    </a:ext>
                  </a:extLst>
                </a:gridCol>
              </a:tblGrid>
              <a:tr h="370840">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Name</a:t>
                      </a:r>
                      <a:endParaRPr lang="zh-TW" sz="2000" b="1"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Architecture</a:t>
                      </a:r>
                      <a:endParaRPr lang="zh-TW" sz="2000" b="1"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Type</a:t>
                      </a:r>
                      <a:endParaRPr lang="zh-TW" sz="2000" b="1"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2617707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DX3001H9</a:t>
                      </a:r>
                      <a:endParaRPr lang="zh-TW" altLang="zh-TW" sz="2000" kern="100" dirty="0">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347425"/>
                  </a:ext>
                </a:extLst>
              </a:tr>
              <a:tr h="370840">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DX3021L9</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err="1">
                          <a:effectLst/>
                          <a:latin typeface="Times New Roman" panose="02020603050405020304" pitchFamily="18" charset="0"/>
                          <a:ea typeface="標楷體" panose="03000509000000000000" pitchFamily="65" charset="-120"/>
                          <a:cs typeface="Times New Roman" panose="02020603050405020304" pitchFamily="18" charset="0"/>
                        </a:rPr>
                        <a:t>armel</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Router</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068014"/>
                  </a:ext>
                </a:extLst>
              </a:tr>
            </a:tbl>
          </a:graphicData>
        </a:graphic>
      </p:graphicFrame>
      <p:sp>
        <p:nvSpPr>
          <p:cNvPr id="7" name="投影片編號版面配置區 6">
            <a:extLst>
              <a:ext uri="{FF2B5EF4-FFF2-40B4-BE49-F238E27FC236}">
                <a16:creationId xmlns:a16="http://schemas.microsoft.com/office/drawing/2014/main" id="{05E7CCC6-E1F3-4E23-940C-AA7502F095F1}"/>
              </a:ext>
            </a:extLst>
          </p:cNvPr>
          <p:cNvSpPr>
            <a:spLocks noGrp="1"/>
          </p:cNvSpPr>
          <p:nvPr>
            <p:ph type="sldNum" sz="quarter" idx="12"/>
          </p:nvPr>
        </p:nvSpPr>
        <p:spPr/>
        <p:txBody>
          <a:bodyPr/>
          <a:lstStyle/>
          <a:p>
            <a:fld id="{7539D880-7677-4E8F-8D1B-ECF4759392EF}" type="slidenum">
              <a:rPr lang="zh-TW" altLang="en-US" smtClean="0"/>
              <a:t>40</a:t>
            </a:fld>
            <a:endParaRPr lang="zh-TW" altLang="en-US"/>
          </a:p>
        </p:txBody>
      </p:sp>
    </p:spTree>
    <p:extLst>
      <p:ext uri="{BB962C8B-B14F-4D97-AF65-F5344CB8AC3E}">
        <p14:creationId xmlns:p14="http://schemas.microsoft.com/office/powerpoint/2010/main" val="596677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pic>
        <p:nvPicPr>
          <p:cNvPr id="6" name="圖片 5">
            <a:extLst>
              <a:ext uri="{FF2B5EF4-FFF2-40B4-BE49-F238E27FC236}">
                <a16:creationId xmlns:a16="http://schemas.microsoft.com/office/drawing/2014/main" id="{F45DB886-0A9E-4D55-90CC-3DBF45CF3F9D}"/>
              </a:ext>
            </a:extLst>
          </p:cNvPr>
          <p:cNvPicPr/>
          <p:nvPr/>
        </p:nvPicPr>
        <p:blipFill>
          <a:blip r:embed="rId3"/>
          <a:stretch>
            <a:fillRect/>
          </a:stretch>
        </p:blipFill>
        <p:spPr>
          <a:xfrm>
            <a:off x="2052246" y="3530303"/>
            <a:ext cx="8087507" cy="1820809"/>
          </a:xfrm>
          <a:prstGeom prst="rect">
            <a:avLst/>
          </a:prstGeom>
        </p:spPr>
      </p:pic>
      <p:sp>
        <p:nvSpPr>
          <p:cNvPr id="5" name="內容版面配置區 2">
            <a:extLst>
              <a:ext uri="{FF2B5EF4-FFF2-40B4-BE49-F238E27FC236}">
                <a16:creationId xmlns:a16="http://schemas.microsoft.com/office/drawing/2014/main" id="{F7B52F16-1316-4983-8C00-08C0416EF1A6}"/>
              </a:ext>
            </a:extLst>
          </p:cNvPr>
          <p:cNvSpPr>
            <a:spLocks noGrp="1"/>
          </p:cNvSpPr>
          <p:nvPr>
            <p:ph idx="1"/>
          </p:nvPr>
        </p:nvSpPr>
        <p:spPr>
          <a:xfrm>
            <a:off x="1097280" y="2123706"/>
            <a:ext cx="10058400" cy="91210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1, the startup parameter </a:t>
            </a:r>
            <a:r>
              <a:rPr lang="en-US" altLang="zh-TW" sz="2200" b="1" dirty="0" err="1">
                <a:solidFill>
                  <a:srgbClr val="FF0000"/>
                </a:solidFill>
                <a:latin typeface="Times New Roman" panose="02020603050405020304" pitchFamily="18" charset="0"/>
                <a:cs typeface="Times New Roman" panose="02020603050405020304" pitchFamily="18" charset="0"/>
              </a:rPr>
              <a:t>rdinit</a:t>
            </a:r>
            <a:r>
              <a:rPr lang="en-US" altLang="zh-TW" sz="2200" dirty="0">
                <a:latin typeface="Times New Roman" panose="02020603050405020304" pitchFamily="18" charset="0"/>
                <a:cs typeface="Times New Roman" panose="02020603050405020304" pitchFamily="18" charset="0"/>
              </a:rPr>
              <a:t> in the run.sh script can be replaced with </a:t>
            </a:r>
            <a:r>
              <a:rPr lang="en-US" altLang="zh-TW" sz="2200" b="1" dirty="0" err="1">
                <a:solidFill>
                  <a:srgbClr val="FF0000"/>
                </a:solidFill>
                <a:latin typeface="Times New Roman" panose="02020603050405020304" pitchFamily="18" charset="0"/>
                <a:cs typeface="Times New Roman" panose="02020603050405020304" pitchFamily="18" charset="0"/>
              </a:rPr>
              <a:t>init</a:t>
            </a:r>
            <a:r>
              <a:rPr lang="en-US" altLang="zh-TW" sz="2200" dirty="0" err="1">
                <a:latin typeface="Times New Roman" panose="02020603050405020304" pitchFamily="18" charset="0"/>
                <a:cs typeface="Times New Roman" panose="02020603050405020304" pitchFamily="18" charset="0"/>
              </a:rPr>
              <a:t>.</a:t>
            </a:r>
            <a:endParaRPr lang="en-US" altLang="zh-TW" sz="2200" dirty="0">
              <a:latin typeface="Times New Roman" panose="02020603050405020304" pitchFamily="18" charset="0"/>
              <a:cs typeface="Times New Roman" panose="02020603050405020304" pitchFamily="18" charset="0"/>
            </a:endParaRPr>
          </a:p>
        </p:txBody>
      </p:sp>
      <p:sp>
        <p:nvSpPr>
          <p:cNvPr id="8" name="投影片編號版面配置區 7">
            <a:extLst>
              <a:ext uri="{FF2B5EF4-FFF2-40B4-BE49-F238E27FC236}">
                <a16:creationId xmlns:a16="http://schemas.microsoft.com/office/drawing/2014/main" id="{7C523349-A6CA-4C58-8708-30504C3AF519}"/>
              </a:ext>
            </a:extLst>
          </p:cNvPr>
          <p:cNvSpPr>
            <a:spLocks noGrp="1"/>
          </p:cNvSpPr>
          <p:nvPr>
            <p:ph type="sldNum" sz="quarter" idx="12"/>
          </p:nvPr>
        </p:nvSpPr>
        <p:spPr/>
        <p:txBody>
          <a:bodyPr/>
          <a:lstStyle/>
          <a:p>
            <a:fld id="{7539D880-7677-4E8F-8D1B-ECF4759392EF}" type="slidenum">
              <a:rPr lang="zh-TW" altLang="en-US" smtClean="0"/>
              <a:t>41</a:t>
            </a:fld>
            <a:endParaRPr lang="zh-TW" altLang="en-US"/>
          </a:p>
        </p:txBody>
      </p:sp>
    </p:spTree>
    <p:extLst>
      <p:ext uri="{BB962C8B-B14F-4D97-AF65-F5344CB8AC3E}">
        <p14:creationId xmlns:p14="http://schemas.microsoft.com/office/powerpoint/2010/main" val="2828251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pic>
        <p:nvPicPr>
          <p:cNvPr id="4" name="圖片 3">
            <a:extLst>
              <a:ext uri="{FF2B5EF4-FFF2-40B4-BE49-F238E27FC236}">
                <a16:creationId xmlns:a16="http://schemas.microsoft.com/office/drawing/2014/main" id="{631D6C09-A33E-4C03-9411-D94ACC254564}"/>
              </a:ext>
            </a:extLst>
          </p:cNvPr>
          <p:cNvPicPr>
            <a:picLocks noChangeAspect="1"/>
          </p:cNvPicPr>
          <p:nvPr/>
        </p:nvPicPr>
        <p:blipFill>
          <a:blip r:embed="rId3"/>
          <a:stretch>
            <a:fillRect/>
          </a:stretch>
        </p:blipFill>
        <p:spPr>
          <a:xfrm>
            <a:off x="1163495" y="4071617"/>
            <a:ext cx="9865010" cy="818430"/>
          </a:xfrm>
          <a:prstGeom prst="rect">
            <a:avLst/>
          </a:prstGeom>
        </p:spPr>
      </p:pic>
      <p:sp>
        <p:nvSpPr>
          <p:cNvPr id="5" name="內容版面配置區 2">
            <a:extLst>
              <a:ext uri="{FF2B5EF4-FFF2-40B4-BE49-F238E27FC236}">
                <a16:creationId xmlns:a16="http://schemas.microsoft.com/office/drawing/2014/main" id="{37CFEDB1-4871-4A17-A34B-C203508FBF36}"/>
              </a:ext>
            </a:extLst>
          </p:cNvPr>
          <p:cNvSpPr>
            <a:spLocks noGrp="1"/>
          </p:cNvSpPr>
          <p:nvPr>
            <p:ph idx="1"/>
          </p:nvPr>
        </p:nvSpPr>
        <p:spPr>
          <a:xfrm>
            <a:off x="1097280" y="2123706"/>
            <a:ext cx="10058400" cy="91210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2, supplement the firmware with the missing kernel modules.</a:t>
            </a:r>
          </a:p>
        </p:txBody>
      </p:sp>
      <p:sp>
        <p:nvSpPr>
          <p:cNvPr id="8" name="投影片編號版面配置區 7">
            <a:extLst>
              <a:ext uri="{FF2B5EF4-FFF2-40B4-BE49-F238E27FC236}">
                <a16:creationId xmlns:a16="http://schemas.microsoft.com/office/drawing/2014/main" id="{F1FBE180-35CC-468B-9A78-1A0E8FF6F7CF}"/>
              </a:ext>
            </a:extLst>
          </p:cNvPr>
          <p:cNvSpPr>
            <a:spLocks noGrp="1"/>
          </p:cNvSpPr>
          <p:nvPr>
            <p:ph type="sldNum" sz="quarter" idx="12"/>
          </p:nvPr>
        </p:nvSpPr>
        <p:spPr/>
        <p:txBody>
          <a:bodyPr/>
          <a:lstStyle/>
          <a:p>
            <a:fld id="{7539D880-7677-4E8F-8D1B-ECF4759392EF}" type="slidenum">
              <a:rPr lang="zh-TW" altLang="en-US" smtClean="0"/>
              <a:t>42</a:t>
            </a:fld>
            <a:endParaRPr lang="zh-TW" altLang="en-US"/>
          </a:p>
        </p:txBody>
      </p:sp>
    </p:spTree>
    <p:extLst>
      <p:ext uri="{BB962C8B-B14F-4D97-AF65-F5344CB8AC3E}">
        <p14:creationId xmlns:p14="http://schemas.microsoft.com/office/powerpoint/2010/main" val="30974015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pic>
        <p:nvPicPr>
          <p:cNvPr id="5" name="圖片 4">
            <a:extLst>
              <a:ext uri="{FF2B5EF4-FFF2-40B4-BE49-F238E27FC236}">
                <a16:creationId xmlns:a16="http://schemas.microsoft.com/office/drawing/2014/main" id="{6E4C3249-A6F8-49F8-B27F-5081903BF5E2}"/>
              </a:ext>
            </a:extLst>
          </p:cNvPr>
          <p:cNvPicPr/>
          <p:nvPr/>
        </p:nvPicPr>
        <p:blipFill>
          <a:blip r:embed="rId3"/>
          <a:stretch>
            <a:fillRect/>
          </a:stretch>
        </p:blipFill>
        <p:spPr>
          <a:xfrm>
            <a:off x="3075903" y="2676216"/>
            <a:ext cx="6040193" cy="2663037"/>
          </a:xfrm>
          <a:prstGeom prst="rect">
            <a:avLst/>
          </a:prstGeom>
        </p:spPr>
      </p:pic>
      <p:sp>
        <p:nvSpPr>
          <p:cNvPr id="6" name="矩形 5">
            <a:extLst>
              <a:ext uri="{FF2B5EF4-FFF2-40B4-BE49-F238E27FC236}">
                <a16:creationId xmlns:a16="http://schemas.microsoft.com/office/drawing/2014/main" id="{71B88C5D-D52D-4996-BA1D-19C209CD82B9}"/>
              </a:ext>
            </a:extLst>
          </p:cNvPr>
          <p:cNvSpPr/>
          <p:nvPr/>
        </p:nvSpPr>
        <p:spPr>
          <a:xfrm>
            <a:off x="3567412" y="3010477"/>
            <a:ext cx="5402775" cy="639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9C7C40BA-1B55-4CE7-AB08-213CE20E5214}"/>
              </a:ext>
            </a:extLst>
          </p:cNvPr>
          <p:cNvSpPr>
            <a:spLocks noGrp="1"/>
          </p:cNvSpPr>
          <p:nvPr>
            <p:ph type="sldNum" sz="quarter" idx="12"/>
          </p:nvPr>
        </p:nvSpPr>
        <p:spPr/>
        <p:txBody>
          <a:bodyPr/>
          <a:lstStyle/>
          <a:p>
            <a:fld id="{7539D880-7677-4E8F-8D1B-ECF4759392EF}" type="slidenum">
              <a:rPr lang="zh-TW" altLang="en-US" smtClean="0"/>
              <a:t>43</a:t>
            </a:fld>
            <a:endParaRPr lang="zh-TW" altLang="en-US"/>
          </a:p>
        </p:txBody>
      </p:sp>
    </p:spTree>
    <p:extLst>
      <p:ext uri="{BB962C8B-B14F-4D97-AF65-F5344CB8AC3E}">
        <p14:creationId xmlns:p14="http://schemas.microsoft.com/office/powerpoint/2010/main" val="3074451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pic>
        <p:nvPicPr>
          <p:cNvPr id="4" name="圖片 3">
            <a:extLst>
              <a:ext uri="{FF2B5EF4-FFF2-40B4-BE49-F238E27FC236}">
                <a16:creationId xmlns:a16="http://schemas.microsoft.com/office/drawing/2014/main" id="{3FD82F71-67D5-4233-9226-3B429358B82F}"/>
              </a:ext>
            </a:extLst>
          </p:cNvPr>
          <p:cNvPicPr>
            <a:picLocks noChangeAspect="1"/>
          </p:cNvPicPr>
          <p:nvPr/>
        </p:nvPicPr>
        <p:blipFill>
          <a:blip r:embed="rId3"/>
          <a:stretch>
            <a:fillRect/>
          </a:stretch>
        </p:blipFill>
        <p:spPr>
          <a:xfrm>
            <a:off x="2093096" y="3696040"/>
            <a:ext cx="8066768" cy="1425129"/>
          </a:xfrm>
          <a:prstGeom prst="rect">
            <a:avLst/>
          </a:prstGeom>
        </p:spPr>
      </p:pic>
      <p:sp>
        <p:nvSpPr>
          <p:cNvPr id="5" name="內容版面配置區 2">
            <a:extLst>
              <a:ext uri="{FF2B5EF4-FFF2-40B4-BE49-F238E27FC236}">
                <a16:creationId xmlns:a16="http://schemas.microsoft.com/office/drawing/2014/main" id="{DF48F1C1-434C-4129-8198-E81FB3F00922}"/>
              </a:ext>
            </a:extLst>
          </p:cNvPr>
          <p:cNvSpPr>
            <a:spLocks noGrp="1"/>
          </p:cNvSpPr>
          <p:nvPr>
            <p:ph idx="1"/>
          </p:nvPr>
        </p:nvSpPr>
        <p:spPr>
          <a:xfrm>
            <a:off x="1097280" y="2123706"/>
            <a:ext cx="10058400" cy="91210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3, you can disable NVRAM arbitrations, use the native system's NVRAM configuration, or supplement support for the required NVRAM values.</a:t>
            </a:r>
          </a:p>
        </p:txBody>
      </p:sp>
      <p:sp>
        <p:nvSpPr>
          <p:cNvPr id="8" name="投影片編號版面配置區 7">
            <a:extLst>
              <a:ext uri="{FF2B5EF4-FFF2-40B4-BE49-F238E27FC236}">
                <a16:creationId xmlns:a16="http://schemas.microsoft.com/office/drawing/2014/main" id="{918272AC-8372-46A7-9024-D5D59002691E}"/>
              </a:ext>
            </a:extLst>
          </p:cNvPr>
          <p:cNvSpPr>
            <a:spLocks noGrp="1"/>
          </p:cNvSpPr>
          <p:nvPr>
            <p:ph type="sldNum" sz="quarter" idx="12"/>
          </p:nvPr>
        </p:nvSpPr>
        <p:spPr/>
        <p:txBody>
          <a:bodyPr/>
          <a:lstStyle/>
          <a:p>
            <a:fld id="{7539D880-7677-4E8F-8D1B-ECF4759392EF}" type="slidenum">
              <a:rPr lang="zh-TW" altLang="en-US" smtClean="0"/>
              <a:t>44</a:t>
            </a:fld>
            <a:endParaRPr lang="zh-TW" altLang="en-US"/>
          </a:p>
        </p:txBody>
      </p:sp>
    </p:spTree>
    <p:extLst>
      <p:ext uri="{BB962C8B-B14F-4D97-AF65-F5344CB8AC3E}">
        <p14:creationId xmlns:p14="http://schemas.microsoft.com/office/powerpoint/2010/main" val="4209656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pic>
        <p:nvPicPr>
          <p:cNvPr id="4" name="圖片 3">
            <a:extLst>
              <a:ext uri="{FF2B5EF4-FFF2-40B4-BE49-F238E27FC236}">
                <a16:creationId xmlns:a16="http://schemas.microsoft.com/office/drawing/2014/main" id="{247D9434-A9A0-454C-BE80-264155814D6F}"/>
              </a:ext>
            </a:extLst>
          </p:cNvPr>
          <p:cNvPicPr/>
          <p:nvPr/>
        </p:nvPicPr>
        <p:blipFill>
          <a:blip r:embed="rId3"/>
          <a:stretch>
            <a:fillRect/>
          </a:stretch>
        </p:blipFill>
        <p:spPr>
          <a:xfrm>
            <a:off x="3770471" y="2258245"/>
            <a:ext cx="4651058" cy="3333258"/>
          </a:xfrm>
          <a:prstGeom prst="rect">
            <a:avLst/>
          </a:prstGeom>
        </p:spPr>
      </p:pic>
      <p:sp>
        <p:nvSpPr>
          <p:cNvPr id="5" name="矩形 4">
            <a:extLst>
              <a:ext uri="{FF2B5EF4-FFF2-40B4-BE49-F238E27FC236}">
                <a16:creationId xmlns:a16="http://schemas.microsoft.com/office/drawing/2014/main" id="{1EBC92B9-0144-4640-A38F-3C8F433D60B5}"/>
              </a:ext>
            </a:extLst>
          </p:cNvPr>
          <p:cNvSpPr/>
          <p:nvPr/>
        </p:nvSpPr>
        <p:spPr>
          <a:xfrm>
            <a:off x="4663182" y="2466371"/>
            <a:ext cx="1149790" cy="2332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4D2A44B5-F2B1-4375-A9E3-86701022E3BB}"/>
              </a:ext>
            </a:extLst>
          </p:cNvPr>
          <p:cNvSpPr>
            <a:spLocks noGrp="1"/>
          </p:cNvSpPr>
          <p:nvPr>
            <p:ph type="sldNum" sz="quarter" idx="12"/>
          </p:nvPr>
        </p:nvSpPr>
        <p:spPr/>
        <p:txBody>
          <a:bodyPr/>
          <a:lstStyle/>
          <a:p>
            <a:fld id="{7539D880-7677-4E8F-8D1B-ECF4759392EF}" type="slidenum">
              <a:rPr lang="zh-TW" altLang="en-US" smtClean="0"/>
              <a:t>45</a:t>
            </a:fld>
            <a:endParaRPr lang="zh-TW" altLang="en-US"/>
          </a:p>
        </p:txBody>
      </p:sp>
    </p:spTree>
    <p:extLst>
      <p:ext uri="{BB962C8B-B14F-4D97-AF65-F5344CB8AC3E}">
        <p14:creationId xmlns:p14="http://schemas.microsoft.com/office/powerpoint/2010/main" val="2142972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pic>
        <p:nvPicPr>
          <p:cNvPr id="8" name="圖片 7">
            <a:extLst>
              <a:ext uri="{FF2B5EF4-FFF2-40B4-BE49-F238E27FC236}">
                <a16:creationId xmlns:a16="http://schemas.microsoft.com/office/drawing/2014/main" id="{0E5A5D84-2A9B-4DCA-A42E-F909F7E63177}"/>
              </a:ext>
            </a:extLst>
          </p:cNvPr>
          <p:cNvPicPr>
            <a:picLocks noChangeAspect="1"/>
          </p:cNvPicPr>
          <p:nvPr/>
        </p:nvPicPr>
        <p:blipFill>
          <a:blip r:embed="rId3"/>
          <a:stretch>
            <a:fillRect/>
          </a:stretch>
        </p:blipFill>
        <p:spPr>
          <a:xfrm>
            <a:off x="2897806" y="3370578"/>
            <a:ext cx="6396388" cy="2530180"/>
          </a:xfrm>
          <a:prstGeom prst="rect">
            <a:avLst/>
          </a:prstGeom>
        </p:spPr>
      </p:pic>
      <p:sp>
        <p:nvSpPr>
          <p:cNvPr id="5" name="內容版面配置區 2">
            <a:extLst>
              <a:ext uri="{FF2B5EF4-FFF2-40B4-BE49-F238E27FC236}">
                <a16:creationId xmlns:a16="http://schemas.microsoft.com/office/drawing/2014/main" id="{9735BB75-8DAE-4AAF-B4CF-4E47345F8110}"/>
              </a:ext>
            </a:extLst>
          </p:cNvPr>
          <p:cNvSpPr>
            <a:spLocks noGrp="1"/>
          </p:cNvSpPr>
          <p:nvPr>
            <p:ph idx="1"/>
          </p:nvPr>
        </p:nvSpPr>
        <p:spPr>
          <a:xfrm>
            <a:off x="1097280" y="2123706"/>
            <a:ext cx="10058400" cy="912100"/>
          </a:xfrm>
        </p:spPr>
        <p:txBody>
          <a:bodyPr>
            <a:no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6, first stop the network services related to br0 and delete the br0 interface. Then, recreate a new br0 bridge interface and set its MAC address to match that of eth0.</a:t>
            </a:r>
          </a:p>
        </p:txBody>
      </p:sp>
      <p:sp>
        <p:nvSpPr>
          <p:cNvPr id="7" name="投影片編號版面配置區 6">
            <a:extLst>
              <a:ext uri="{FF2B5EF4-FFF2-40B4-BE49-F238E27FC236}">
                <a16:creationId xmlns:a16="http://schemas.microsoft.com/office/drawing/2014/main" id="{6ACEC2FE-8DA1-4941-A7B9-6CE274B70295}"/>
              </a:ext>
            </a:extLst>
          </p:cNvPr>
          <p:cNvSpPr>
            <a:spLocks noGrp="1"/>
          </p:cNvSpPr>
          <p:nvPr>
            <p:ph type="sldNum" sz="quarter" idx="12"/>
          </p:nvPr>
        </p:nvSpPr>
        <p:spPr/>
        <p:txBody>
          <a:bodyPr/>
          <a:lstStyle/>
          <a:p>
            <a:fld id="{7539D880-7677-4E8F-8D1B-ECF4759392EF}" type="slidenum">
              <a:rPr lang="zh-TW" altLang="en-US" smtClean="0"/>
              <a:t>46</a:t>
            </a:fld>
            <a:endParaRPr lang="zh-TW" altLang="en-US"/>
          </a:p>
        </p:txBody>
      </p:sp>
    </p:spTree>
    <p:extLst>
      <p:ext uri="{BB962C8B-B14F-4D97-AF65-F5344CB8AC3E}">
        <p14:creationId xmlns:p14="http://schemas.microsoft.com/office/powerpoint/2010/main" val="20667792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grpSp>
        <p:nvGrpSpPr>
          <p:cNvPr id="5" name="群組 4">
            <a:extLst>
              <a:ext uri="{FF2B5EF4-FFF2-40B4-BE49-F238E27FC236}">
                <a16:creationId xmlns:a16="http://schemas.microsoft.com/office/drawing/2014/main" id="{4E55C4D2-C1A5-4DFE-BAB4-8417ACE29FB6}"/>
              </a:ext>
            </a:extLst>
          </p:cNvPr>
          <p:cNvGrpSpPr/>
          <p:nvPr/>
        </p:nvGrpSpPr>
        <p:grpSpPr>
          <a:xfrm>
            <a:off x="2506475" y="4288212"/>
            <a:ext cx="7240010" cy="790685"/>
            <a:chOff x="2475995" y="3937547"/>
            <a:chExt cx="7240010" cy="790685"/>
          </a:xfrm>
        </p:grpSpPr>
        <p:pic>
          <p:nvPicPr>
            <p:cNvPr id="4" name="圖片 3">
              <a:extLst>
                <a:ext uri="{FF2B5EF4-FFF2-40B4-BE49-F238E27FC236}">
                  <a16:creationId xmlns:a16="http://schemas.microsoft.com/office/drawing/2014/main" id="{EA48D105-03AE-4B43-8579-4037542605DA}"/>
                </a:ext>
              </a:extLst>
            </p:cNvPr>
            <p:cNvPicPr>
              <a:picLocks noChangeAspect="1"/>
            </p:cNvPicPr>
            <p:nvPr/>
          </p:nvPicPr>
          <p:blipFill>
            <a:blip r:embed="rId3"/>
            <a:stretch>
              <a:fillRect/>
            </a:stretch>
          </p:blipFill>
          <p:spPr>
            <a:xfrm>
              <a:off x="2475995" y="3937547"/>
              <a:ext cx="7240010" cy="790685"/>
            </a:xfrm>
            <a:prstGeom prst="rect">
              <a:avLst/>
            </a:prstGeom>
          </p:spPr>
        </p:pic>
        <p:sp>
          <p:nvSpPr>
            <p:cNvPr id="6" name="矩形 5">
              <a:extLst>
                <a:ext uri="{FF2B5EF4-FFF2-40B4-BE49-F238E27FC236}">
                  <a16:creationId xmlns:a16="http://schemas.microsoft.com/office/drawing/2014/main" id="{9A7F89AE-DE96-4297-A310-B70AF36CDF69}"/>
                </a:ext>
              </a:extLst>
            </p:cNvPr>
            <p:cNvSpPr/>
            <p:nvPr/>
          </p:nvSpPr>
          <p:spPr>
            <a:xfrm>
              <a:off x="5060833" y="4453709"/>
              <a:ext cx="2044159" cy="2745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 name="內容版面配置區 2">
            <a:extLst>
              <a:ext uri="{FF2B5EF4-FFF2-40B4-BE49-F238E27FC236}">
                <a16:creationId xmlns:a16="http://schemas.microsoft.com/office/drawing/2014/main" id="{D705FD39-4933-430D-BC8E-4CD1CC872B5D}"/>
              </a:ext>
            </a:extLst>
          </p:cNvPr>
          <p:cNvSpPr>
            <a:spLocks noGrp="1"/>
          </p:cNvSpPr>
          <p:nvPr>
            <p:ph idx="1"/>
          </p:nvPr>
        </p:nvSpPr>
        <p:spPr>
          <a:xfrm>
            <a:off x="1097280" y="2123706"/>
            <a:ext cx="10058400" cy="912100"/>
          </a:xfrm>
        </p:spPr>
        <p:txBody>
          <a:bodyPr>
            <a:no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5, the host IP address should remain within the same subnet as the firmware to ensure proper connectivity.</a:t>
            </a:r>
          </a:p>
        </p:txBody>
      </p:sp>
      <p:sp>
        <p:nvSpPr>
          <p:cNvPr id="10" name="投影片編號版面配置區 9">
            <a:extLst>
              <a:ext uri="{FF2B5EF4-FFF2-40B4-BE49-F238E27FC236}">
                <a16:creationId xmlns:a16="http://schemas.microsoft.com/office/drawing/2014/main" id="{E06BF28A-3BF8-4960-B567-7F52D79D1D97}"/>
              </a:ext>
            </a:extLst>
          </p:cNvPr>
          <p:cNvSpPr>
            <a:spLocks noGrp="1"/>
          </p:cNvSpPr>
          <p:nvPr>
            <p:ph type="sldNum" sz="quarter" idx="12"/>
          </p:nvPr>
        </p:nvSpPr>
        <p:spPr/>
        <p:txBody>
          <a:bodyPr/>
          <a:lstStyle/>
          <a:p>
            <a:fld id="{7539D880-7677-4E8F-8D1B-ECF4759392EF}" type="slidenum">
              <a:rPr lang="zh-TW" altLang="en-US" smtClean="0"/>
              <a:t>47</a:t>
            </a:fld>
            <a:endParaRPr lang="zh-TW" altLang="en-US"/>
          </a:p>
        </p:txBody>
      </p:sp>
    </p:spTree>
    <p:extLst>
      <p:ext uri="{BB962C8B-B14F-4D97-AF65-F5344CB8AC3E}">
        <p14:creationId xmlns:p14="http://schemas.microsoft.com/office/powerpoint/2010/main" val="39509029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DX-3001H9</a:t>
            </a:r>
          </a:p>
        </p:txBody>
      </p:sp>
      <p:grpSp>
        <p:nvGrpSpPr>
          <p:cNvPr id="3" name="群組 2">
            <a:extLst>
              <a:ext uri="{FF2B5EF4-FFF2-40B4-BE49-F238E27FC236}">
                <a16:creationId xmlns:a16="http://schemas.microsoft.com/office/drawing/2014/main" id="{0934733D-EF85-4870-AFEC-80D1C843C53C}"/>
              </a:ext>
            </a:extLst>
          </p:cNvPr>
          <p:cNvGrpSpPr/>
          <p:nvPr/>
        </p:nvGrpSpPr>
        <p:grpSpPr>
          <a:xfrm>
            <a:off x="1261220" y="2268712"/>
            <a:ext cx="9669560" cy="3238709"/>
            <a:chOff x="1261220" y="2268712"/>
            <a:chExt cx="9669560" cy="3238709"/>
          </a:xfrm>
        </p:grpSpPr>
        <p:pic>
          <p:nvPicPr>
            <p:cNvPr id="4" name="圖片 3">
              <a:extLst>
                <a:ext uri="{FF2B5EF4-FFF2-40B4-BE49-F238E27FC236}">
                  <a16:creationId xmlns:a16="http://schemas.microsoft.com/office/drawing/2014/main" id="{71759D45-63A1-4974-829A-10B9897DF0A5}"/>
                </a:ext>
              </a:extLst>
            </p:cNvPr>
            <p:cNvPicPr/>
            <p:nvPr/>
          </p:nvPicPr>
          <p:blipFill>
            <a:blip r:embed="rId3"/>
            <a:stretch>
              <a:fillRect/>
            </a:stretch>
          </p:blipFill>
          <p:spPr>
            <a:xfrm>
              <a:off x="1261220" y="2268712"/>
              <a:ext cx="9669560" cy="3238709"/>
            </a:xfrm>
            <a:prstGeom prst="rect">
              <a:avLst/>
            </a:prstGeom>
          </p:spPr>
        </p:pic>
        <p:sp>
          <p:nvSpPr>
            <p:cNvPr id="5" name="矩形 4">
              <a:extLst>
                <a:ext uri="{FF2B5EF4-FFF2-40B4-BE49-F238E27FC236}">
                  <a16:creationId xmlns:a16="http://schemas.microsoft.com/office/drawing/2014/main" id="{AE2A43A2-7C6B-4582-B875-2DF76DCBAB65}"/>
                </a:ext>
              </a:extLst>
            </p:cNvPr>
            <p:cNvSpPr/>
            <p:nvPr/>
          </p:nvSpPr>
          <p:spPr>
            <a:xfrm>
              <a:off x="10084780" y="2432244"/>
              <a:ext cx="499137" cy="2745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1C1B3BA3-6688-4EC6-BEA7-3B5807561F3D}"/>
                </a:ext>
              </a:extLst>
            </p:cNvPr>
            <p:cNvSpPr/>
            <p:nvPr/>
          </p:nvSpPr>
          <p:spPr>
            <a:xfrm>
              <a:off x="2874683" y="4109865"/>
              <a:ext cx="593731" cy="2098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9">
            <a:extLst>
              <a:ext uri="{FF2B5EF4-FFF2-40B4-BE49-F238E27FC236}">
                <a16:creationId xmlns:a16="http://schemas.microsoft.com/office/drawing/2014/main" id="{BF01CF48-7EBE-4AE2-B1BE-5DDCFE2EEFF4}"/>
              </a:ext>
            </a:extLst>
          </p:cNvPr>
          <p:cNvSpPr>
            <a:spLocks noGrp="1"/>
          </p:cNvSpPr>
          <p:nvPr>
            <p:ph type="sldNum" sz="quarter" idx="12"/>
          </p:nvPr>
        </p:nvSpPr>
        <p:spPr/>
        <p:txBody>
          <a:bodyPr/>
          <a:lstStyle/>
          <a:p>
            <a:fld id="{7539D880-7677-4E8F-8D1B-ECF4759392EF}" type="slidenum">
              <a:rPr lang="zh-TW" altLang="en-US" smtClean="0"/>
              <a:t>48</a:t>
            </a:fld>
            <a:endParaRPr lang="zh-TW" altLang="en-US"/>
          </a:p>
        </p:txBody>
      </p:sp>
    </p:spTree>
    <p:extLst>
      <p:ext uri="{BB962C8B-B14F-4D97-AF65-F5344CB8AC3E}">
        <p14:creationId xmlns:p14="http://schemas.microsoft.com/office/powerpoint/2010/main" val="2955433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DX-3021L9</a:t>
            </a:r>
          </a:p>
        </p:txBody>
      </p:sp>
      <p:pic>
        <p:nvPicPr>
          <p:cNvPr id="7" name="圖片 6">
            <a:extLst>
              <a:ext uri="{FF2B5EF4-FFF2-40B4-BE49-F238E27FC236}">
                <a16:creationId xmlns:a16="http://schemas.microsoft.com/office/drawing/2014/main" id="{702CE35C-6CD6-4DD6-900C-D9084B79169F}"/>
              </a:ext>
            </a:extLst>
          </p:cNvPr>
          <p:cNvPicPr>
            <a:picLocks noChangeAspect="1"/>
          </p:cNvPicPr>
          <p:nvPr/>
        </p:nvPicPr>
        <p:blipFill>
          <a:blip r:embed="rId3"/>
          <a:stretch>
            <a:fillRect/>
          </a:stretch>
        </p:blipFill>
        <p:spPr>
          <a:xfrm>
            <a:off x="1917657" y="3576145"/>
            <a:ext cx="8356685" cy="1939121"/>
          </a:xfrm>
          <a:prstGeom prst="rect">
            <a:avLst/>
          </a:prstGeom>
        </p:spPr>
      </p:pic>
      <p:sp>
        <p:nvSpPr>
          <p:cNvPr id="5" name="內容版面配置區 2">
            <a:extLst>
              <a:ext uri="{FF2B5EF4-FFF2-40B4-BE49-F238E27FC236}">
                <a16:creationId xmlns:a16="http://schemas.microsoft.com/office/drawing/2014/main" id="{E0FF1334-CF5E-48E9-ACD1-5DE2D9D50239}"/>
              </a:ext>
            </a:extLst>
          </p:cNvPr>
          <p:cNvSpPr>
            <a:spLocks noGrp="1"/>
          </p:cNvSpPr>
          <p:nvPr>
            <p:ph idx="1"/>
          </p:nvPr>
        </p:nvSpPr>
        <p:spPr>
          <a:xfrm>
            <a:off x="1097280" y="2123706"/>
            <a:ext cx="10058400" cy="91210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1, the startup parameter </a:t>
            </a:r>
            <a:r>
              <a:rPr lang="en-US" altLang="zh-TW" sz="2200" b="1" dirty="0" err="1">
                <a:solidFill>
                  <a:srgbClr val="FF0000"/>
                </a:solidFill>
                <a:latin typeface="Times New Roman" panose="02020603050405020304" pitchFamily="18" charset="0"/>
                <a:cs typeface="Times New Roman" panose="02020603050405020304" pitchFamily="18" charset="0"/>
              </a:rPr>
              <a:t>rdinit</a:t>
            </a:r>
            <a:r>
              <a:rPr lang="en-US" altLang="zh-TW" sz="2200" dirty="0">
                <a:latin typeface="Times New Roman" panose="02020603050405020304" pitchFamily="18" charset="0"/>
                <a:cs typeface="Times New Roman" panose="02020603050405020304" pitchFamily="18" charset="0"/>
              </a:rPr>
              <a:t> in the run.sh script can be replaced with </a:t>
            </a:r>
            <a:r>
              <a:rPr lang="en-US" altLang="zh-TW" sz="2200" b="1" dirty="0" err="1">
                <a:solidFill>
                  <a:srgbClr val="FF0000"/>
                </a:solidFill>
                <a:latin typeface="Times New Roman" panose="02020603050405020304" pitchFamily="18" charset="0"/>
                <a:cs typeface="Times New Roman" panose="02020603050405020304" pitchFamily="18" charset="0"/>
              </a:rPr>
              <a:t>init</a:t>
            </a:r>
            <a:r>
              <a:rPr lang="en-US" altLang="zh-TW" sz="2200" dirty="0" err="1">
                <a:latin typeface="Times New Roman" panose="02020603050405020304" pitchFamily="18" charset="0"/>
                <a:cs typeface="Times New Roman" panose="02020603050405020304" pitchFamily="18" charset="0"/>
              </a:rPr>
              <a:t>.</a:t>
            </a:r>
            <a:endParaRPr lang="en-US" altLang="zh-TW" sz="2200" dirty="0">
              <a:latin typeface="Times New Roman" panose="02020603050405020304" pitchFamily="18" charset="0"/>
              <a:cs typeface="Times New Roman" panose="02020603050405020304" pitchFamily="18" charset="0"/>
            </a:endParaRPr>
          </a:p>
        </p:txBody>
      </p:sp>
      <p:sp>
        <p:nvSpPr>
          <p:cNvPr id="8" name="投影片編號版面配置區 7">
            <a:extLst>
              <a:ext uri="{FF2B5EF4-FFF2-40B4-BE49-F238E27FC236}">
                <a16:creationId xmlns:a16="http://schemas.microsoft.com/office/drawing/2014/main" id="{17113A78-04D3-4BF2-9B5C-40F86E461633}"/>
              </a:ext>
            </a:extLst>
          </p:cNvPr>
          <p:cNvSpPr>
            <a:spLocks noGrp="1"/>
          </p:cNvSpPr>
          <p:nvPr>
            <p:ph type="sldNum" sz="quarter" idx="12"/>
          </p:nvPr>
        </p:nvSpPr>
        <p:spPr/>
        <p:txBody>
          <a:bodyPr/>
          <a:lstStyle/>
          <a:p>
            <a:fld id="{7539D880-7677-4E8F-8D1B-ECF4759392EF}" type="slidenum">
              <a:rPr lang="zh-TW" altLang="en-US" smtClean="0"/>
              <a:t>49</a:t>
            </a:fld>
            <a:endParaRPr lang="zh-TW" altLang="en-US"/>
          </a:p>
        </p:txBody>
      </p:sp>
    </p:spTree>
    <p:extLst>
      <p:ext uri="{BB962C8B-B14F-4D97-AF65-F5344CB8AC3E}">
        <p14:creationId xmlns:p14="http://schemas.microsoft.com/office/powerpoint/2010/main" val="2193595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DX-3021L9</a:t>
            </a:r>
          </a:p>
        </p:txBody>
      </p:sp>
      <p:pic>
        <p:nvPicPr>
          <p:cNvPr id="4" name="圖片 3">
            <a:extLst>
              <a:ext uri="{FF2B5EF4-FFF2-40B4-BE49-F238E27FC236}">
                <a16:creationId xmlns:a16="http://schemas.microsoft.com/office/drawing/2014/main" id="{548C2E91-34D5-4BD8-9CA5-19A9161B92D0}"/>
              </a:ext>
            </a:extLst>
          </p:cNvPr>
          <p:cNvPicPr>
            <a:picLocks noChangeAspect="1"/>
          </p:cNvPicPr>
          <p:nvPr/>
        </p:nvPicPr>
        <p:blipFill>
          <a:blip r:embed="rId3"/>
          <a:stretch>
            <a:fillRect/>
          </a:stretch>
        </p:blipFill>
        <p:spPr>
          <a:xfrm>
            <a:off x="1163495" y="4071617"/>
            <a:ext cx="9865010" cy="818430"/>
          </a:xfrm>
          <a:prstGeom prst="rect">
            <a:avLst/>
          </a:prstGeom>
        </p:spPr>
      </p:pic>
      <p:sp>
        <p:nvSpPr>
          <p:cNvPr id="5" name="內容版面配置區 2">
            <a:extLst>
              <a:ext uri="{FF2B5EF4-FFF2-40B4-BE49-F238E27FC236}">
                <a16:creationId xmlns:a16="http://schemas.microsoft.com/office/drawing/2014/main" id="{D8BC3D53-F5D9-4106-9829-3B0EDB85036E}"/>
              </a:ext>
            </a:extLst>
          </p:cNvPr>
          <p:cNvSpPr>
            <a:spLocks noGrp="1"/>
          </p:cNvSpPr>
          <p:nvPr>
            <p:ph idx="1"/>
          </p:nvPr>
        </p:nvSpPr>
        <p:spPr>
          <a:xfrm>
            <a:off x="1097280" y="2123706"/>
            <a:ext cx="10058400" cy="91210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2, supplement the firmware with the missing kernel modules.</a:t>
            </a:r>
          </a:p>
        </p:txBody>
      </p:sp>
      <p:sp>
        <p:nvSpPr>
          <p:cNvPr id="8" name="投影片編號版面配置區 7">
            <a:extLst>
              <a:ext uri="{FF2B5EF4-FFF2-40B4-BE49-F238E27FC236}">
                <a16:creationId xmlns:a16="http://schemas.microsoft.com/office/drawing/2014/main" id="{8567C015-CB77-4061-945D-181C3A9D7D0B}"/>
              </a:ext>
            </a:extLst>
          </p:cNvPr>
          <p:cNvSpPr>
            <a:spLocks noGrp="1"/>
          </p:cNvSpPr>
          <p:nvPr>
            <p:ph type="sldNum" sz="quarter" idx="12"/>
          </p:nvPr>
        </p:nvSpPr>
        <p:spPr/>
        <p:txBody>
          <a:bodyPr/>
          <a:lstStyle/>
          <a:p>
            <a:fld id="{7539D880-7677-4E8F-8D1B-ECF4759392EF}" type="slidenum">
              <a:rPr lang="zh-TW" altLang="en-US" smtClean="0"/>
              <a:t>50</a:t>
            </a:fld>
            <a:endParaRPr lang="zh-TW" altLang="en-US"/>
          </a:p>
        </p:txBody>
      </p:sp>
    </p:spTree>
    <p:extLst>
      <p:ext uri="{BB962C8B-B14F-4D97-AF65-F5344CB8AC3E}">
        <p14:creationId xmlns:p14="http://schemas.microsoft.com/office/powerpoint/2010/main" val="32788243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DX-3021L9</a:t>
            </a:r>
          </a:p>
        </p:txBody>
      </p:sp>
      <p:pic>
        <p:nvPicPr>
          <p:cNvPr id="4" name="圖片 3">
            <a:extLst>
              <a:ext uri="{FF2B5EF4-FFF2-40B4-BE49-F238E27FC236}">
                <a16:creationId xmlns:a16="http://schemas.microsoft.com/office/drawing/2014/main" id="{F77C1FCD-AA31-4EAC-A8A9-560D3BABB7F0}"/>
              </a:ext>
            </a:extLst>
          </p:cNvPr>
          <p:cNvPicPr/>
          <p:nvPr/>
        </p:nvPicPr>
        <p:blipFill>
          <a:blip r:embed="rId3"/>
          <a:stretch>
            <a:fillRect/>
          </a:stretch>
        </p:blipFill>
        <p:spPr>
          <a:xfrm>
            <a:off x="3075903" y="2676216"/>
            <a:ext cx="6040193" cy="2663037"/>
          </a:xfrm>
          <a:prstGeom prst="rect">
            <a:avLst/>
          </a:prstGeom>
        </p:spPr>
      </p:pic>
      <p:sp>
        <p:nvSpPr>
          <p:cNvPr id="5" name="矩形 4">
            <a:extLst>
              <a:ext uri="{FF2B5EF4-FFF2-40B4-BE49-F238E27FC236}">
                <a16:creationId xmlns:a16="http://schemas.microsoft.com/office/drawing/2014/main" id="{56729DEB-2273-423F-889E-0CFF927B5EC6}"/>
              </a:ext>
            </a:extLst>
          </p:cNvPr>
          <p:cNvSpPr/>
          <p:nvPr/>
        </p:nvSpPr>
        <p:spPr>
          <a:xfrm>
            <a:off x="3567412" y="3010477"/>
            <a:ext cx="5402775" cy="639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a:extLst>
              <a:ext uri="{FF2B5EF4-FFF2-40B4-BE49-F238E27FC236}">
                <a16:creationId xmlns:a16="http://schemas.microsoft.com/office/drawing/2014/main" id="{3646EA3F-4392-4474-8755-905DC0FB0DEB}"/>
              </a:ext>
            </a:extLst>
          </p:cNvPr>
          <p:cNvSpPr>
            <a:spLocks noGrp="1"/>
          </p:cNvSpPr>
          <p:nvPr>
            <p:ph type="sldNum" sz="quarter" idx="12"/>
          </p:nvPr>
        </p:nvSpPr>
        <p:spPr/>
        <p:txBody>
          <a:bodyPr/>
          <a:lstStyle/>
          <a:p>
            <a:fld id="{7539D880-7677-4E8F-8D1B-ECF4759392EF}" type="slidenum">
              <a:rPr lang="zh-TW" altLang="en-US" smtClean="0"/>
              <a:t>51</a:t>
            </a:fld>
            <a:endParaRPr lang="zh-TW" altLang="en-US"/>
          </a:p>
        </p:txBody>
      </p:sp>
    </p:spTree>
    <p:extLst>
      <p:ext uri="{BB962C8B-B14F-4D97-AF65-F5344CB8AC3E}">
        <p14:creationId xmlns:p14="http://schemas.microsoft.com/office/powerpoint/2010/main" val="2063941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DX-3021L9</a:t>
            </a:r>
          </a:p>
        </p:txBody>
      </p:sp>
      <p:pic>
        <p:nvPicPr>
          <p:cNvPr id="4" name="圖片 3">
            <a:extLst>
              <a:ext uri="{FF2B5EF4-FFF2-40B4-BE49-F238E27FC236}">
                <a16:creationId xmlns:a16="http://schemas.microsoft.com/office/drawing/2014/main" id="{865314DB-4E49-4627-95BB-83F0BA435C85}"/>
              </a:ext>
            </a:extLst>
          </p:cNvPr>
          <p:cNvPicPr/>
          <p:nvPr/>
        </p:nvPicPr>
        <p:blipFill>
          <a:blip r:embed="rId3"/>
          <a:stretch>
            <a:fillRect/>
          </a:stretch>
        </p:blipFill>
        <p:spPr>
          <a:xfrm>
            <a:off x="3967162" y="2931230"/>
            <a:ext cx="4257675" cy="3181350"/>
          </a:xfrm>
          <a:prstGeom prst="rect">
            <a:avLst/>
          </a:prstGeom>
        </p:spPr>
      </p:pic>
      <p:sp>
        <p:nvSpPr>
          <p:cNvPr id="5" name="內容版面配置區 2">
            <a:extLst>
              <a:ext uri="{FF2B5EF4-FFF2-40B4-BE49-F238E27FC236}">
                <a16:creationId xmlns:a16="http://schemas.microsoft.com/office/drawing/2014/main" id="{9C33E094-2382-4983-9A48-43F14DDF0CC2}"/>
              </a:ext>
            </a:extLst>
          </p:cNvPr>
          <p:cNvSpPr>
            <a:spLocks noGrp="1"/>
          </p:cNvSpPr>
          <p:nvPr>
            <p:ph idx="1"/>
          </p:nvPr>
        </p:nvSpPr>
        <p:spPr>
          <a:xfrm>
            <a:off x="1097280" y="2123706"/>
            <a:ext cx="10058400" cy="912100"/>
          </a:xfrm>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3, you can disable NVRAM arbitrations, use the native system's NVRAM configuration, or supplement support for the required NVRAM values.</a:t>
            </a:r>
          </a:p>
        </p:txBody>
      </p:sp>
      <p:sp>
        <p:nvSpPr>
          <p:cNvPr id="6" name="矩形 5">
            <a:extLst>
              <a:ext uri="{FF2B5EF4-FFF2-40B4-BE49-F238E27FC236}">
                <a16:creationId xmlns:a16="http://schemas.microsoft.com/office/drawing/2014/main" id="{07C52D21-AB55-4AB9-A15D-520C13B53BEC}"/>
              </a:ext>
            </a:extLst>
          </p:cNvPr>
          <p:cNvSpPr/>
          <p:nvPr/>
        </p:nvSpPr>
        <p:spPr>
          <a:xfrm>
            <a:off x="4967982" y="4013813"/>
            <a:ext cx="942961" cy="1554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投影片編號版面配置區 8">
            <a:extLst>
              <a:ext uri="{FF2B5EF4-FFF2-40B4-BE49-F238E27FC236}">
                <a16:creationId xmlns:a16="http://schemas.microsoft.com/office/drawing/2014/main" id="{ADC5B67E-2C79-43C6-AC8A-83DED9BE7694}"/>
              </a:ext>
            </a:extLst>
          </p:cNvPr>
          <p:cNvSpPr>
            <a:spLocks noGrp="1"/>
          </p:cNvSpPr>
          <p:nvPr>
            <p:ph type="sldNum" sz="quarter" idx="12"/>
          </p:nvPr>
        </p:nvSpPr>
        <p:spPr/>
        <p:txBody>
          <a:bodyPr/>
          <a:lstStyle/>
          <a:p>
            <a:fld id="{7539D880-7677-4E8F-8D1B-ECF4759392EF}" type="slidenum">
              <a:rPr lang="zh-TW" altLang="en-US" smtClean="0"/>
              <a:t>52</a:t>
            </a:fld>
            <a:endParaRPr lang="zh-TW" altLang="en-US"/>
          </a:p>
        </p:txBody>
      </p:sp>
    </p:spTree>
    <p:extLst>
      <p:ext uri="{BB962C8B-B14F-4D97-AF65-F5344CB8AC3E}">
        <p14:creationId xmlns:p14="http://schemas.microsoft.com/office/powerpoint/2010/main" val="3717741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DX-3021L9</a:t>
            </a:r>
          </a:p>
        </p:txBody>
      </p:sp>
      <p:grpSp>
        <p:nvGrpSpPr>
          <p:cNvPr id="5" name="群組 4">
            <a:extLst>
              <a:ext uri="{FF2B5EF4-FFF2-40B4-BE49-F238E27FC236}">
                <a16:creationId xmlns:a16="http://schemas.microsoft.com/office/drawing/2014/main" id="{24C909D6-3C6B-4960-934F-67C77DBD5FB4}"/>
              </a:ext>
            </a:extLst>
          </p:cNvPr>
          <p:cNvGrpSpPr/>
          <p:nvPr/>
        </p:nvGrpSpPr>
        <p:grpSpPr>
          <a:xfrm>
            <a:off x="1808098" y="4180039"/>
            <a:ext cx="8575803" cy="854416"/>
            <a:chOff x="1808098" y="4180039"/>
            <a:chExt cx="8575803" cy="854416"/>
          </a:xfrm>
        </p:grpSpPr>
        <p:pic>
          <p:nvPicPr>
            <p:cNvPr id="4" name="圖片 3">
              <a:extLst>
                <a:ext uri="{FF2B5EF4-FFF2-40B4-BE49-F238E27FC236}">
                  <a16:creationId xmlns:a16="http://schemas.microsoft.com/office/drawing/2014/main" id="{85C693E2-5A84-4B1E-9495-C5835B3325AD}"/>
                </a:ext>
              </a:extLst>
            </p:cNvPr>
            <p:cNvPicPr>
              <a:picLocks noChangeAspect="1"/>
            </p:cNvPicPr>
            <p:nvPr/>
          </p:nvPicPr>
          <p:blipFill>
            <a:blip r:embed="rId3"/>
            <a:stretch>
              <a:fillRect/>
            </a:stretch>
          </p:blipFill>
          <p:spPr>
            <a:xfrm>
              <a:off x="1808098" y="4180039"/>
              <a:ext cx="8575803" cy="854416"/>
            </a:xfrm>
            <a:prstGeom prst="rect">
              <a:avLst/>
            </a:prstGeom>
          </p:spPr>
        </p:pic>
        <p:sp>
          <p:nvSpPr>
            <p:cNvPr id="6" name="矩形 5">
              <a:extLst>
                <a:ext uri="{FF2B5EF4-FFF2-40B4-BE49-F238E27FC236}">
                  <a16:creationId xmlns:a16="http://schemas.microsoft.com/office/drawing/2014/main" id="{C2682834-0DAE-4AA9-917C-7DD241A0FD54}"/>
                </a:ext>
              </a:extLst>
            </p:cNvPr>
            <p:cNvSpPr/>
            <p:nvPr/>
          </p:nvSpPr>
          <p:spPr>
            <a:xfrm>
              <a:off x="4704790" y="4748971"/>
              <a:ext cx="2789086" cy="285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內容版面配置區 2">
            <a:extLst>
              <a:ext uri="{FF2B5EF4-FFF2-40B4-BE49-F238E27FC236}">
                <a16:creationId xmlns:a16="http://schemas.microsoft.com/office/drawing/2014/main" id="{9142FBD9-8654-400C-B166-30877BB79028}"/>
              </a:ext>
            </a:extLst>
          </p:cNvPr>
          <p:cNvSpPr>
            <a:spLocks noGrp="1"/>
          </p:cNvSpPr>
          <p:nvPr>
            <p:ph idx="1"/>
          </p:nvPr>
        </p:nvSpPr>
        <p:spPr>
          <a:xfrm>
            <a:off x="1097280" y="2123706"/>
            <a:ext cx="10058400" cy="912100"/>
          </a:xfrm>
        </p:spPr>
        <p:txBody>
          <a:bodyPr>
            <a:no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According to Rule 5, the host IP address should remain within the same subnet as the firmware to ensure proper connectivity.</a:t>
            </a:r>
          </a:p>
        </p:txBody>
      </p:sp>
      <p:sp>
        <p:nvSpPr>
          <p:cNvPr id="10" name="投影片編號版面配置區 9">
            <a:extLst>
              <a:ext uri="{FF2B5EF4-FFF2-40B4-BE49-F238E27FC236}">
                <a16:creationId xmlns:a16="http://schemas.microsoft.com/office/drawing/2014/main" id="{FABFF7D3-8D60-43E1-82EB-676B22A201C1}"/>
              </a:ext>
            </a:extLst>
          </p:cNvPr>
          <p:cNvSpPr>
            <a:spLocks noGrp="1"/>
          </p:cNvSpPr>
          <p:nvPr>
            <p:ph type="sldNum" sz="quarter" idx="12"/>
          </p:nvPr>
        </p:nvSpPr>
        <p:spPr/>
        <p:txBody>
          <a:bodyPr/>
          <a:lstStyle/>
          <a:p>
            <a:fld id="{7539D880-7677-4E8F-8D1B-ECF4759392EF}" type="slidenum">
              <a:rPr lang="zh-TW" altLang="en-US" smtClean="0"/>
              <a:t>53</a:t>
            </a:fld>
            <a:endParaRPr lang="zh-TW" altLang="en-US"/>
          </a:p>
        </p:txBody>
      </p:sp>
    </p:spTree>
    <p:extLst>
      <p:ext uri="{BB962C8B-B14F-4D97-AF65-F5344CB8AC3E}">
        <p14:creationId xmlns:p14="http://schemas.microsoft.com/office/powerpoint/2010/main" val="38819061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ea typeface="Times New Roman"/>
                <a:cs typeface="Times New Roman"/>
                <a:sym typeface="Times New Roman"/>
              </a:rPr>
              <a:t>DX-3021L9</a:t>
            </a:r>
          </a:p>
        </p:txBody>
      </p:sp>
      <p:grpSp>
        <p:nvGrpSpPr>
          <p:cNvPr id="3" name="群組 2">
            <a:extLst>
              <a:ext uri="{FF2B5EF4-FFF2-40B4-BE49-F238E27FC236}">
                <a16:creationId xmlns:a16="http://schemas.microsoft.com/office/drawing/2014/main" id="{12402241-6439-4BCE-9EB3-0BEDA37DBD1F}"/>
              </a:ext>
            </a:extLst>
          </p:cNvPr>
          <p:cNvGrpSpPr/>
          <p:nvPr/>
        </p:nvGrpSpPr>
        <p:grpSpPr>
          <a:xfrm>
            <a:off x="1547250" y="1987210"/>
            <a:ext cx="9097499" cy="3951134"/>
            <a:chOff x="1547250" y="1987210"/>
            <a:chExt cx="9097499" cy="3951134"/>
          </a:xfrm>
        </p:grpSpPr>
        <p:pic>
          <p:nvPicPr>
            <p:cNvPr id="4" name="圖片 3">
              <a:extLst>
                <a:ext uri="{FF2B5EF4-FFF2-40B4-BE49-F238E27FC236}">
                  <a16:creationId xmlns:a16="http://schemas.microsoft.com/office/drawing/2014/main" id="{EBF0A418-F274-4373-994C-237586AC9B99}"/>
                </a:ext>
              </a:extLst>
            </p:cNvPr>
            <p:cNvPicPr/>
            <p:nvPr/>
          </p:nvPicPr>
          <p:blipFill>
            <a:blip r:embed="rId3"/>
            <a:stretch>
              <a:fillRect/>
            </a:stretch>
          </p:blipFill>
          <p:spPr>
            <a:xfrm>
              <a:off x="1547250" y="2027055"/>
              <a:ext cx="9097499" cy="3911289"/>
            </a:xfrm>
            <a:prstGeom prst="rect">
              <a:avLst/>
            </a:prstGeom>
          </p:spPr>
        </p:pic>
        <p:sp>
          <p:nvSpPr>
            <p:cNvPr id="5" name="矩形 4">
              <a:extLst>
                <a:ext uri="{FF2B5EF4-FFF2-40B4-BE49-F238E27FC236}">
                  <a16:creationId xmlns:a16="http://schemas.microsoft.com/office/drawing/2014/main" id="{ECF77FAE-10A3-4E40-A77A-A3C7EA8D4F1E}"/>
                </a:ext>
              </a:extLst>
            </p:cNvPr>
            <p:cNvSpPr/>
            <p:nvPr/>
          </p:nvSpPr>
          <p:spPr>
            <a:xfrm>
              <a:off x="1547250" y="2184446"/>
              <a:ext cx="544309" cy="2434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6D6B9FF0-C0C3-4E1C-953D-F422D5D0C02C}"/>
                </a:ext>
              </a:extLst>
            </p:cNvPr>
            <p:cNvSpPr/>
            <p:nvPr/>
          </p:nvSpPr>
          <p:spPr>
            <a:xfrm>
              <a:off x="2371493" y="1987210"/>
              <a:ext cx="855184" cy="2434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9">
            <a:extLst>
              <a:ext uri="{FF2B5EF4-FFF2-40B4-BE49-F238E27FC236}">
                <a16:creationId xmlns:a16="http://schemas.microsoft.com/office/drawing/2014/main" id="{0F54FB99-BEAC-480D-8BF3-AE64038D8F9F}"/>
              </a:ext>
            </a:extLst>
          </p:cNvPr>
          <p:cNvSpPr>
            <a:spLocks noGrp="1"/>
          </p:cNvSpPr>
          <p:nvPr>
            <p:ph type="sldNum" sz="quarter" idx="12"/>
          </p:nvPr>
        </p:nvSpPr>
        <p:spPr/>
        <p:txBody>
          <a:bodyPr/>
          <a:lstStyle/>
          <a:p>
            <a:fld id="{7539D880-7677-4E8F-8D1B-ECF4759392EF}" type="slidenum">
              <a:rPr lang="zh-TW" altLang="en-US" smtClean="0"/>
              <a:t>54</a:t>
            </a:fld>
            <a:endParaRPr lang="zh-TW" altLang="en-US"/>
          </a:p>
        </p:txBody>
      </p:sp>
    </p:spTree>
    <p:extLst>
      <p:ext uri="{BB962C8B-B14F-4D97-AF65-F5344CB8AC3E}">
        <p14:creationId xmlns:p14="http://schemas.microsoft.com/office/powerpoint/2010/main" val="3066608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Outline</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6963" y="1846263"/>
            <a:ext cx="10058400" cy="4022725"/>
          </a:xfrm>
          <a:prstGeom prst="rect">
            <a:avLst/>
          </a:prstGeom>
          <a:noFill/>
          <a:ln>
            <a:noFill/>
          </a:ln>
        </p:spPr>
        <p:txBody>
          <a:bodyPr spcFirstLastPara="1" wrap="square" lIns="0" tIns="45700" rIns="0" bIns="45700" anchor="t" anchorCtr="0">
            <a:normAutofit/>
          </a:bodyPr>
          <a:lstStyle/>
          <a:p>
            <a:pPr marL="91440" lvl="0" indent="-209550" algn="l" rtl="0">
              <a:lnSpc>
                <a:spcPct val="90000"/>
              </a:lnSpc>
              <a:spcBef>
                <a:spcPts val="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Motivation</a:t>
            </a:r>
            <a:endParaRPr sz="3300" dirty="0">
              <a:solidFill>
                <a:schemeClr val="bg2">
                  <a:lumMod val="90000"/>
                </a:schemeClr>
              </a:solidFill>
              <a:latin typeface="Times New Roman"/>
              <a:cs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The proposed approach</a:t>
            </a:r>
          </a:p>
          <a:p>
            <a:pPr marL="91440" lvl="0" indent="-209550" algn="l" rtl="0">
              <a:lnSpc>
                <a:spcPct val="90000"/>
              </a:lnSpc>
              <a:spcBef>
                <a:spcPts val="1400"/>
              </a:spcBef>
              <a:spcAft>
                <a:spcPts val="0"/>
              </a:spcAft>
              <a:buClr>
                <a:schemeClr val="dk1"/>
              </a:buClr>
              <a:buSzPts val="3300"/>
              <a:buFont typeface="Arial"/>
              <a:buChar char="•"/>
            </a:pPr>
            <a:r>
              <a:rPr lang="zh-TW" altLang="en-US" sz="3300" dirty="0">
                <a:solidFill>
                  <a:schemeClr val="bg2">
                    <a:lumMod val="90000"/>
                  </a:schemeClr>
                </a:solidFill>
                <a:latin typeface="Times New Roman"/>
                <a:cs typeface="Times New Roman"/>
                <a:sym typeface="Times New Roman"/>
              </a:rPr>
              <a:t> </a:t>
            </a:r>
            <a:r>
              <a:rPr lang="en-US" altLang="zh-TW" sz="3300" dirty="0">
                <a:solidFill>
                  <a:schemeClr val="bg2">
                    <a:lumMod val="90000"/>
                  </a:schemeClr>
                </a:solidFill>
                <a:latin typeface="Times New Roman"/>
                <a:cs typeface="Times New Roman"/>
                <a:sym typeface="Times New Roman"/>
              </a:rPr>
              <a:t>Experiment</a:t>
            </a:r>
            <a:endParaRPr sz="3300" dirty="0">
              <a:solidFill>
                <a:schemeClr val="bg2">
                  <a:lumMod val="90000"/>
                </a:schemeClr>
              </a:solidFill>
              <a:latin typeface="Times New Roman"/>
              <a:cs typeface="Times New Roman"/>
            </a:endParaRPr>
          </a:p>
          <a:p>
            <a:pPr marL="91440" indent="-209550">
              <a:spcBef>
                <a:spcPts val="1400"/>
              </a:spcBef>
              <a:buClr>
                <a:schemeClr val="dk1"/>
              </a:buClr>
              <a:buSzPts val="3300"/>
              <a:buFont typeface="Arial"/>
              <a:buChar char="•"/>
            </a:pPr>
            <a:r>
              <a:rPr lang="en-US" altLang="zh-TW" sz="3300" dirty="0">
                <a:solidFill>
                  <a:schemeClr val="bg2">
                    <a:lumMod val="90000"/>
                  </a:schemeClr>
                </a:solidFill>
                <a:latin typeface="Times New Roman"/>
                <a:cs typeface="Times New Roman"/>
                <a:sym typeface="Times New Roman"/>
              </a:rPr>
              <a:t> </a:t>
            </a:r>
            <a:r>
              <a:rPr lang="en-US" altLang="zh-TW" sz="3300" dirty="0">
                <a:solidFill>
                  <a:schemeClr val="dk1"/>
                </a:solidFill>
                <a:latin typeface="Times New Roman"/>
                <a:cs typeface="Times New Roman"/>
                <a:sym typeface="Times New Roman"/>
              </a:rPr>
              <a:t>Discussion</a:t>
            </a:r>
            <a:endParaRPr sz="3300" dirty="0">
              <a:solidFill>
                <a:schemeClr val="bg2">
                  <a:lumMod val="90000"/>
                </a:schemeClr>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bg2">
                    <a:lumMod val="90000"/>
                  </a:schemeClr>
                </a:solidFill>
                <a:latin typeface="Times New Roman"/>
                <a:cs typeface="Times New Roman"/>
                <a:sym typeface="Times New Roman"/>
              </a:rPr>
              <a:t> Conclusion &amp; Future</a:t>
            </a:r>
            <a:endParaRPr sz="3300" dirty="0">
              <a:solidFill>
                <a:schemeClr val="bg2">
                  <a:lumMod val="90000"/>
                </a:schemeClr>
              </a:solidFill>
              <a:latin typeface="Times New Roman"/>
              <a:cs typeface="Times New Roman"/>
            </a:endParaRPr>
          </a:p>
          <a:p>
            <a:pPr marL="91440" lvl="0" indent="0" algn="l" rtl="0">
              <a:lnSpc>
                <a:spcPct val="90000"/>
              </a:lnSpc>
              <a:spcBef>
                <a:spcPts val="1400"/>
              </a:spcBef>
              <a:spcAft>
                <a:spcPts val="0"/>
              </a:spcAft>
              <a:buClr>
                <a:srgbClr val="3F3F3F"/>
              </a:buClr>
              <a:buSzPts val="3200"/>
              <a:buFont typeface="Arial"/>
              <a:buNone/>
            </a:pPr>
            <a:endParaRPr sz="3200" dirty="0">
              <a:solidFill>
                <a:schemeClr val="dk1"/>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solidFill>
                <a:schemeClr val="dk1"/>
              </a:solidFill>
              <a:latin typeface="Times New Roman"/>
              <a:ea typeface="Times New Roman"/>
              <a:cs typeface="Times New Roman"/>
              <a:sym typeface="Times New Roman"/>
            </a:endParaRPr>
          </a:p>
        </p:txBody>
      </p:sp>
      <p:sp>
        <p:nvSpPr>
          <p:cNvPr id="8" name="投影片編號版面配置區 7">
            <a:extLst>
              <a:ext uri="{FF2B5EF4-FFF2-40B4-BE49-F238E27FC236}">
                <a16:creationId xmlns:a16="http://schemas.microsoft.com/office/drawing/2014/main" id="{2F5618CE-607D-4C28-A677-A4EC9603EE5C}"/>
              </a:ext>
            </a:extLst>
          </p:cNvPr>
          <p:cNvSpPr>
            <a:spLocks noGrp="1"/>
          </p:cNvSpPr>
          <p:nvPr>
            <p:ph type="sldNum" sz="quarter" idx="12"/>
          </p:nvPr>
        </p:nvSpPr>
        <p:spPr/>
        <p:txBody>
          <a:bodyPr/>
          <a:lstStyle/>
          <a:p>
            <a:fld id="{7539D880-7677-4E8F-8D1B-ECF4759392EF}" type="slidenum">
              <a:rPr lang="zh-TW" altLang="en-US" smtClean="0"/>
              <a:t>55</a:t>
            </a:fld>
            <a:endParaRPr lang="zh-TW" altLang="en-US"/>
          </a:p>
        </p:txBody>
      </p:sp>
    </p:spTree>
    <p:extLst>
      <p:ext uri="{BB962C8B-B14F-4D97-AF65-F5344CB8AC3E}">
        <p14:creationId xmlns:p14="http://schemas.microsoft.com/office/powerpoint/2010/main" val="30691732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a:xfrm>
            <a:off x="1097280" y="286603"/>
            <a:ext cx="10058400" cy="1425129"/>
          </a:xfrm>
        </p:spPr>
        <p:txBody>
          <a:bodyPr/>
          <a:lstStyle/>
          <a:p>
            <a:r>
              <a:rPr lang="en-US" altLang="zh-TW" dirty="0">
                <a:solidFill>
                  <a:schemeClr val="dk1"/>
                </a:solidFill>
                <a:latin typeface="Times New Roman"/>
                <a:cs typeface="Times New Roman"/>
                <a:sym typeface="Times New Roman"/>
              </a:rPr>
              <a:t>Discussion</a:t>
            </a:r>
            <a:endParaRPr lang="zh-TW" altLang="en-US" dirty="0"/>
          </a:p>
        </p:txBody>
      </p:sp>
      <p:graphicFrame>
        <p:nvGraphicFramePr>
          <p:cNvPr id="6" name="表格 5">
            <a:extLst>
              <a:ext uri="{FF2B5EF4-FFF2-40B4-BE49-F238E27FC236}">
                <a16:creationId xmlns:a16="http://schemas.microsoft.com/office/drawing/2014/main" id="{6C0BD3A6-8788-47F2-98C0-FD4805492F89}"/>
              </a:ext>
            </a:extLst>
          </p:cNvPr>
          <p:cNvGraphicFramePr>
            <a:graphicFrameLocks noGrp="1"/>
          </p:cNvGraphicFramePr>
          <p:nvPr>
            <p:extLst>
              <p:ext uri="{D42A27DB-BD31-4B8C-83A1-F6EECF244321}">
                <p14:modId xmlns:p14="http://schemas.microsoft.com/office/powerpoint/2010/main" val="1936141699"/>
              </p:ext>
            </p:extLst>
          </p:nvPr>
        </p:nvGraphicFramePr>
        <p:xfrm>
          <a:off x="3223260" y="2174156"/>
          <a:ext cx="5745480" cy="2966720"/>
        </p:xfrm>
        <a:graphic>
          <a:graphicData uri="http://schemas.openxmlformats.org/drawingml/2006/table">
            <a:tbl>
              <a:tblPr firstRow="1" bandRow="1">
                <a:tableStyleId>{5C22544A-7EE6-4342-B048-85BDC9FD1C3A}</a:tableStyleId>
              </a:tblPr>
              <a:tblGrid>
                <a:gridCol w="1053334">
                  <a:extLst>
                    <a:ext uri="{9D8B030D-6E8A-4147-A177-3AD203B41FA5}">
                      <a16:colId xmlns:a16="http://schemas.microsoft.com/office/drawing/2014/main" val="2927200865"/>
                    </a:ext>
                  </a:extLst>
                </a:gridCol>
                <a:gridCol w="2340832">
                  <a:extLst>
                    <a:ext uri="{9D8B030D-6E8A-4147-A177-3AD203B41FA5}">
                      <a16:colId xmlns:a16="http://schemas.microsoft.com/office/drawing/2014/main" val="3931520976"/>
                    </a:ext>
                  </a:extLst>
                </a:gridCol>
                <a:gridCol w="2351314">
                  <a:extLst>
                    <a:ext uri="{9D8B030D-6E8A-4147-A177-3AD203B41FA5}">
                      <a16:colId xmlns:a16="http://schemas.microsoft.com/office/drawing/2014/main" val="385517250"/>
                    </a:ext>
                  </a:extLst>
                </a:gridCol>
              </a:tblGrid>
              <a:tr h="370840">
                <a:tc>
                  <a:txBody>
                    <a:bodyPr/>
                    <a:lstStyle/>
                    <a:p>
                      <a:pPr algn="ct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rPr>
                        <a:t>Meaning</a:t>
                      </a: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Number of uses</a:t>
                      </a:r>
                      <a:endParaRPr lang="zh-TW" sz="2000" b="1" kern="10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26177070"/>
                  </a:ext>
                </a:extLst>
              </a:tr>
              <a:tr h="370840">
                <a:tc>
                  <a:txBody>
                    <a:bodyPr/>
                    <a:lstStyle/>
                    <a:p>
                      <a:pPr algn="ctr"/>
                      <a:r>
                        <a:rPr lang="en-US" sz="2000" kern="100" dirty="0">
                          <a:effectLst/>
                          <a:latin typeface="Times New Roman" panose="02020603050405020304" pitchFamily="18" charset="0"/>
                          <a:ea typeface="標楷體" panose="03000509000000000000" pitchFamily="65" charset="-120"/>
                          <a:cs typeface="Times New Roman" panose="02020603050405020304" pitchFamily="18" charset="0"/>
                        </a:rPr>
                        <a:t>Rule 1</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Init fail</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6</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347425"/>
                  </a:ext>
                </a:extLst>
              </a:tr>
              <a:tr h="370840">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Rule 2</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Missing module</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068014"/>
                  </a:ext>
                </a:extLst>
              </a:tr>
              <a:tr h="370840">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Rule 3</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NVRAM error</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4736732"/>
                  </a:ext>
                </a:extLst>
              </a:tr>
              <a:tr h="370840">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Rule 4</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Execute order</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1</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298494"/>
                  </a:ext>
                </a:extLst>
              </a:tr>
              <a:tr h="370840">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Rule 5</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IP config</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5</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3670308"/>
                  </a:ext>
                </a:extLst>
              </a:tr>
              <a:tr h="370840">
                <a:tc>
                  <a:txBody>
                    <a:bodyPr/>
                    <a:lstStyle/>
                    <a:p>
                      <a:pPr algn="ct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Rule 6</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mn-ea"/>
                          <a:cs typeface="Times New Roman" panose="02020603050405020304" pitchFamily="18" charset="0"/>
                        </a:rPr>
                        <a:t>MAC config</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60024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kern="100" dirty="0">
                          <a:effectLst/>
                          <a:latin typeface="Times New Roman" panose="02020603050405020304" pitchFamily="18" charset="0"/>
                          <a:ea typeface="標楷體" panose="03000509000000000000" pitchFamily="65" charset="-120"/>
                          <a:cs typeface="Times New Roman" panose="02020603050405020304" pitchFamily="18" charset="0"/>
                        </a:rPr>
                        <a:t>Rule 7</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kern="100" dirty="0">
                          <a:effectLst/>
                          <a:latin typeface="Times New Roman" panose="02020603050405020304" pitchFamily="18" charset="0"/>
                          <a:ea typeface="+mn-ea"/>
                          <a:cs typeface="Times New Roman" panose="02020603050405020304" pitchFamily="18" charset="0"/>
                        </a:rPr>
                        <a:t>Default error</a:t>
                      </a:r>
                      <a:endParaRPr lang="zh-TW" altLang="zh-TW"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kern="100" dirty="0">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002035"/>
                  </a:ext>
                </a:extLst>
              </a:tr>
            </a:tbl>
          </a:graphicData>
        </a:graphic>
      </p:graphicFrame>
      <p:sp>
        <p:nvSpPr>
          <p:cNvPr id="7" name="投影片編號版面配置區 6">
            <a:extLst>
              <a:ext uri="{FF2B5EF4-FFF2-40B4-BE49-F238E27FC236}">
                <a16:creationId xmlns:a16="http://schemas.microsoft.com/office/drawing/2014/main" id="{83A9930F-C6B2-44AA-B7CA-4FEA92153BAD}"/>
              </a:ext>
            </a:extLst>
          </p:cNvPr>
          <p:cNvSpPr>
            <a:spLocks noGrp="1"/>
          </p:cNvSpPr>
          <p:nvPr>
            <p:ph type="sldNum" sz="quarter" idx="12"/>
          </p:nvPr>
        </p:nvSpPr>
        <p:spPr/>
        <p:txBody>
          <a:bodyPr/>
          <a:lstStyle/>
          <a:p>
            <a:fld id="{7539D880-7677-4E8F-8D1B-ECF4759392EF}" type="slidenum">
              <a:rPr lang="zh-TW" altLang="en-US" smtClean="0"/>
              <a:t>56</a:t>
            </a:fld>
            <a:endParaRPr lang="zh-TW" altLang="en-US"/>
          </a:p>
        </p:txBody>
      </p:sp>
    </p:spTree>
    <p:extLst>
      <p:ext uri="{BB962C8B-B14F-4D97-AF65-F5344CB8AC3E}">
        <p14:creationId xmlns:p14="http://schemas.microsoft.com/office/powerpoint/2010/main" val="41046334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7523-150B-4450-B8C8-0A4AF37013FA}"/>
              </a:ext>
            </a:extLst>
          </p:cNvPr>
          <p:cNvSpPr>
            <a:spLocks noGrp="1"/>
          </p:cNvSpPr>
          <p:nvPr>
            <p:ph type="title"/>
          </p:nvPr>
        </p:nvSpPr>
        <p:spPr/>
        <p:txBody>
          <a:bodyPr/>
          <a:lstStyle/>
          <a:p>
            <a:r>
              <a:rPr lang="en-US" altLang="zh-TW" dirty="0">
                <a:solidFill>
                  <a:schemeClr val="dk1"/>
                </a:solidFill>
                <a:latin typeface="Times New Roman"/>
                <a:ea typeface="Times New Roman"/>
                <a:cs typeface="Times New Roman"/>
                <a:sym typeface="Times New Roman"/>
              </a:rPr>
              <a:t>Outline</a:t>
            </a:r>
            <a:endParaRPr lang="zh-TW" altLang="en-US" dirty="0"/>
          </a:p>
        </p:txBody>
      </p:sp>
      <p:sp>
        <p:nvSpPr>
          <p:cNvPr id="4" name="Google Shape;114;p2">
            <a:extLst>
              <a:ext uri="{FF2B5EF4-FFF2-40B4-BE49-F238E27FC236}">
                <a16:creationId xmlns:a16="http://schemas.microsoft.com/office/drawing/2014/main" id="{8BD47802-D722-4DF1-9014-025F7873A23E}"/>
              </a:ext>
            </a:extLst>
          </p:cNvPr>
          <p:cNvSpPr txBox="1">
            <a:spLocks noGrp="1"/>
          </p:cNvSpPr>
          <p:nvPr>
            <p:ph idx="1"/>
          </p:nvPr>
        </p:nvSpPr>
        <p:spPr>
          <a:xfrm>
            <a:off x="1096963" y="1846263"/>
            <a:ext cx="10058400" cy="4022725"/>
          </a:xfrm>
          <a:prstGeom prst="rect">
            <a:avLst/>
          </a:prstGeom>
          <a:noFill/>
          <a:ln>
            <a:noFill/>
          </a:ln>
        </p:spPr>
        <p:txBody>
          <a:bodyPr spcFirstLastPara="1" wrap="square" lIns="0" tIns="45700" rIns="0" bIns="45700" anchor="t" anchorCtr="0">
            <a:normAutofit/>
          </a:bodyPr>
          <a:lstStyle/>
          <a:p>
            <a:pPr marL="91440" lvl="0" indent="-209550" algn="l" rtl="0">
              <a:lnSpc>
                <a:spcPct val="90000"/>
              </a:lnSpc>
              <a:spcBef>
                <a:spcPts val="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Motivation</a:t>
            </a:r>
            <a:endParaRPr sz="3300" dirty="0">
              <a:solidFill>
                <a:schemeClr val="bg2">
                  <a:lumMod val="90000"/>
                </a:schemeClr>
              </a:solidFill>
              <a:latin typeface="Times New Roman"/>
              <a:cs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dk1"/>
                </a:solidFill>
                <a:latin typeface="Times New Roman"/>
                <a:ea typeface="Times New Roman"/>
                <a:cs typeface="Times New Roman"/>
                <a:sym typeface="Times New Roman"/>
              </a:rPr>
              <a:t> </a:t>
            </a:r>
            <a:r>
              <a:rPr lang="en-US" sz="3300" dirty="0">
                <a:solidFill>
                  <a:schemeClr val="bg2">
                    <a:lumMod val="90000"/>
                  </a:schemeClr>
                </a:solidFill>
                <a:latin typeface="Times New Roman"/>
                <a:cs typeface="Times New Roman"/>
                <a:sym typeface="Times New Roman"/>
              </a:rPr>
              <a:t>The proposed approach</a:t>
            </a:r>
          </a:p>
          <a:p>
            <a:pPr marL="91440" lvl="0" indent="-209550" algn="l" rtl="0">
              <a:lnSpc>
                <a:spcPct val="90000"/>
              </a:lnSpc>
              <a:spcBef>
                <a:spcPts val="1400"/>
              </a:spcBef>
              <a:spcAft>
                <a:spcPts val="0"/>
              </a:spcAft>
              <a:buClr>
                <a:schemeClr val="dk1"/>
              </a:buClr>
              <a:buSzPts val="3300"/>
              <a:buFont typeface="Arial"/>
              <a:buChar char="•"/>
            </a:pPr>
            <a:r>
              <a:rPr lang="zh-TW" altLang="en-US" sz="3300" dirty="0">
                <a:solidFill>
                  <a:schemeClr val="bg2">
                    <a:lumMod val="90000"/>
                  </a:schemeClr>
                </a:solidFill>
                <a:latin typeface="Times New Roman"/>
                <a:cs typeface="Times New Roman"/>
                <a:sym typeface="Times New Roman"/>
              </a:rPr>
              <a:t> </a:t>
            </a:r>
            <a:r>
              <a:rPr lang="en-US" altLang="zh-TW" sz="3300" dirty="0">
                <a:solidFill>
                  <a:schemeClr val="bg2">
                    <a:lumMod val="90000"/>
                  </a:schemeClr>
                </a:solidFill>
                <a:latin typeface="Times New Roman"/>
                <a:cs typeface="Times New Roman"/>
                <a:sym typeface="Times New Roman"/>
              </a:rPr>
              <a:t>Experiment</a:t>
            </a:r>
            <a:endParaRPr sz="3300" dirty="0">
              <a:solidFill>
                <a:schemeClr val="bg2">
                  <a:lumMod val="90000"/>
                </a:schemeClr>
              </a:solidFill>
              <a:latin typeface="Times New Roman"/>
              <a:cs typeface="Times New Roman"/>
            </a:endParaRPr>
          </a:p>
          <a:p>
            <a:pPr marL="91440" indent="-209550">
              <a:spcBef>
                <a:spcPts val="1400"/>
              </a:spcBef>
              <a:buClr>
                <a:schemeClr val="dk1"/>
              </a:buClr>
              <a:buSzPts val="3300"/>
              <a:buFont typeface="Arial"/>
              <a:buChar char="•"/>
            </a:pPr>
            <a:r>
              <a:rPr lang="en-US" altLang="zh-TW" sz="3300" dirty="0">
                <a:solidFill>
                  <a:schemeClr val="bg2">
                    <a:lumMod val="90000"/>
                  </a:schemeClr>
                </a:solidFill>
                <a:latin typeface="Times New Roman"/>
                <a:cs typeface="Times New Roman"/>
                <a:sym typeface="Times New Roman"/>
              </a:rPr>
              <a:t> Discussion</a:t>
            </a:r>
            <a:endParaRPr sz="3300" dirty="0">
              <a:solidFill>
                <a:schemeClr val="bg2">
                  <a:lumMod val="90000"/>
                </a:schemeClr>
              </a:solidFill>
              <a:latin typeface="Times New Roman"/>
              <a:cs typeface="Times New Roman"/>
              <a:sym typeface="Times New Roman"/>
            </a:endParaRPr>
          </a:p>
          <a:p>
            <a:pPr marL="91440" lvl="0" indent="-209550" algn="l" rtl="0">
              <a:lnSpc>
                <a:spcPct val="90000"/>
              </a:lnSpc>
              <a:spcBef>
                <a:spcPts val="1400"/>
              </a:spcBef>
              <a:spcAft>
                <a:spcPts val="0"/>
              </a:spcAft>
              <a:buClr>
                <a:schemeClr val="dk1"/>
              </a:buClr>
              <a:buSzPts val="3300"/>
              <a:buFont typeface="Arial"/>
              <a:buChar char="•"/>
            </a:pPr>
            <a:r>
              <a:rPr lang="en-US" sz="3300" dirty="0">
                <a:solidFill>
                  <a:schemeClr val="bg2">
                    <a:lumMod val="90000"/>
                  </a:schemeClr>
                </a:solidFill>
                <a:latin typeface="Times New Roman"/>
                <a:cs typeface="Times New Roman"/>
                <a:sym typeface="Times New Roman"/>
              </a:rPr>
              <a:t> </a:t>
            </a:r>
            <a:r>
              <a:rPr lang="en-US" sz="3300" dirty="0">
                <a:solidFill>
                  <a:schemeClr val="tx1"/>
                </a:solidFill>
                <a:latin typeface="Times New Roman"/>
                <a:cs typeface="Times New Roman"/>
                <a:sym typeface="Times New Roman"/>
              </a:rPr>
              <a:t>Conclusion &amp; Future</a:t>
            </a:r>
            <a:endParaRPr sz="3300" dirty="0">
              <a:solidFill>
                <a:schemeClr val="tx1"/>
              </a:solidFill>
              <a:latin typeface="Times New Roman"/>
              <a:cs typeface="Times New Roman"/>
            </a:endParaRPr>
          </a:p>
          <a:p>
            <a:pPr marL="91440" lvl="0" indent="0" algn="l" rtl="0">
              <a:lnSpc>
                <a:spcPct val="90000"/>
              </a:lnSpc>
              <a:spcBef>
                <a:spcPts val="1400"/>
              </a:spcBef>
              <a:spcAft>
                <a:spcPts val="0"/>
              </a:spcAft>
              <a:buClr>
                <a:srgbClr val="3F3F3F"/>
              </a:buClr>
              <a:buSzPts val="3200"/>
              <a:buFont typeface="Arial"/>
              <a:buNone/>
            </a:pPr>
            <a:endParaRPr sz="3200" dirty="0">
              <a:solidFill>
                <a:schemeClr val="dk1"/>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solidFill>
                <a:schemeClr val="dk1"/>
              </a:solidFill>
              <a:latin typeface="Times New Roman"/>
              <a:ea typeface="Times New Roman"/>
              <a:cs typeface="Times New Roman"/>
              <a:sym typeface="Times New Roman"/>
            </a:endParaRPr>
          </a:p>
        </p:txBody>
      </p:sp>
      <p:sp>
        <p:nvSpPr>
          <p:cNvPr id="8" name="投影片編號版面配置區 7">
            <a:extLst>
              <a:ext uri="{FF2B5EF4-FFF2-40B4-BE49-F238E27FC236}">
                <a16:creationId xmlns:a16="http://schemas.microsoft.com/office/drawing/2014/main" id="{73399ED5-E494-4104-9A7B-69F2AE153FA2}"/>
              </a:ext>
            </a:extLst>
          </p:cNvPr>
          <p:cNvSpPr>
            <a:spLocks noGrp="1"/>
          </p:cNvSpPr>
          <p:nvPr>
            <p:ph type="sldNum" sz="quarter" idx="12"/>
          </p:nvPr>
        </p:nvSpPr>
        <p:spPr/>
        <p:txBody>
          <a:bodyPr/>
          <a:lstStyle/>
          <a:p>
            <a:fld id="{7539D880-7677-4E8F-8D1B-ECF4759392EF}" type="slidenum">
              <a:rPr lang="zh-TW" altLang="en-US" smtClean="0"/>
              <a:t>57</a:t>
            </a:fld>
            <a:endParaRPr lang="zh-TW" altLang="en-US"/>
          </a:p>
        </p:txBody>
      </p:sp>
    </p:spTree>
    <p:extLst>
      <p:ext uri="{BB962C8B-B14F-4D97-AF65-F5344CB8AC3E}">
        <p14:creationId xmlns:p14="http://schemas.microsoft.com/office/powerpoint/2010/main" val="923194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p:txBody>
          <a:bodyPr>
            <a:normAutofit/>
          </a:bodyPr>
          <a:lstStyle/>
          <a:p>
            <a:pPr lvl="0" defTabSz="1123158">
              <a:lnSpc>
                <a:spcPct val="100000"/>
              </a:lnSpc>
              <a:spcBef>
                <a:spcPts val="0"/>
              </a:spcBef>
              <a:defRPr/>
            </a:pPr>
            <a:r>
              <a:rPr lang="en-US" altLang="zh-TW" dirty="0">
                <a:solidFill>
                  <a:schemeClr val="tx1"/>
                </a:solidFill>
                <a:latin typeface="Times New Roman"/>
                <a:cs typeface="Times New Roman"/>
                <a:sym typeface="Times New Roman"/>
              </a:rPr>
              <a:t>Conclusion</a:t>
            </a:r>
            <a:endParaRPr lang="zh-TW" altLang="en-US" dirty="0"/>
          </a:p>
        </p:txBody>
      </p:sp>
      <p:sp>
        <p:nvSpPr>
          <p:cNvPr id="3" name="內容版面配置區 2">
            <a:extLst>
              <a:ext uri="{FF2B5EF4-FFF2-40B4-BE49-F238E27FC236}">
                <a16:creationId xmlns:a16="http://schemas.microsoft.com/office/drawing/2014/main" id="{9AFD8761-5308-4427-928B-5B29FD30CBEE}"/>
              </a:ext>
            </a:extLst>
          </p:cNvPr>
          <p:cNvSpPr>
            <a:spLocks noGrp="1"/>
          </p:cNvSpPr>
          <p:nvPr>
            <p:ph idx="1"/>
          </p:nvPr>
        </p:nvSpPr>
        <p:spPr/>
        <p:txBody>
          <a:bodyPr>
            <a:normAutofit/>
          </a:bodyPr>
          <a:lstStyle/>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In the </a:t>
            </a:r>
            <a:r>
              <a:rPr lang="en-US" altLang="zh-TW" sz="2200" b="1" dirty="0">
                <a:solidFill>
                  <a:srgbClr val="FF0000"/>
                </a:solidFill>
                <a:latin typeface="Times New Roman" panose="02020603050405020304" pitchFamily="18" charset="0"/>
                <a:cs typeface="Times New Roman" panose="02020603050405020304" pitchFamily="18" charset="0"/>
              </a:rPr>
              <a:t>8</a:t>
            </a:r>
            <a:r>
              <a:rPr lang="en-US" altLang="zh-TW" sz="2200" dirty="0">
                <a:latin typeface="Times New Roman" panose="02020603050405020304" pitchFamily="18" charset="0"/>
                <a:cs typeface="Times New Roman" panose="02020603050405020304" pitchFamily="18" charset="0"/>
              </a:rPr>
              <a:t> firmware images that originally failed to emulate, this study successfully resolved the issues causing emulation failures and ultimately achieved successful emulation in </a:t>
            </a:r>
            <a:r>
              <a:rPr lang="en-US" altLang="zh-TW" sz="2200" b="1" dirty="0">
                <a:solidFill>
                  <a:srgbClr val="FF0000"/>
                </a:solidFill>
                <a:latin typeface="Times New Roman" panose="02020603050405020304" pitchFamily="18" charset="0"/>
                <a:cs typeface="Times New Roman" panose="02020603050405020304" pitchFamily="18" charset="0"/>
              </a:rPr>
              <a:t>6</a:t>
            </a:r>
            <a:r>
              <a:rPr lang="en-US" altLang="zh-TW" sz="2200" dirty="0">
                <a:latin typeface="Times New Roman" panose="02020603050405020304" pitchFamily="18" charset="0"/>
                <a:cs typeface="Times New Roman" panose="02020603050405020304" pitchFamily="18" charset="0"/>
              </a:rPr>
              <a:t> of them.</a:t>
            </a:r>
          </a:p>
          <a:p>
            <a:pPr marL="361950" indent="-361950" algn="just">
              <a:buFont typeface="Wingdings" panose="05000000000000000000" pitchFamily="2" charset="2"/>
              <a:buChar char="l"/>
            </a:pPr>
            <a:r>
              <a:rPr lang="en-US" altLang="zh-TW" sz="2200" dirty="0">
                <a:latin typeface="Times New Roman" panose="02020603050405020304" pitchFamily="18" charset="0"/>
                <a:cs typeface="Times New Roman" panose="02020603050405020304" pitchFamily="18" charset="0"/>
              </a:rPr>
              <a:t>This study was able to successfully apply the rules derived from analysis and experimentation to the firmware of a </a:t>
            </a:r>
            <a:r>
              <a:rPr lang="en-US" altLang="zh-TW" sz="2200" b="1" dirty="0">
                <a:solidFill>
                  <a:srgbClr val="FF0000"/>
                </a:solidFill>
                <a:latin typeface="Times New Roman" panose="02020603050405020304" pitchFamily="18" charset="0"/>
                <a:cs typeface="Times New Roman" panose="02020603050405020304" pitchFamily="18" charset="0"/>
              </a:rPr>
              <a:t>completely new </a:t>
            </a:r>
            <a:r>
              <a:rPr lang="en-US" altLang="zh-TW" sz="2200" dirty="0">
                <a:latin typeface="Times New Roman" panose="02020603050405020304" pitchFamily="18" charset="0"/>
                <a:cs typeface="Times New Roman" panose="02020603050405020304" pitchFamily="18" charset="0"/>
              </a:rPr>
              <a:t>IoT device, and ultimately complete the emulation successfully.</a:t>
            </a:r>
          </a:p>
          <a:p>
            <a:pPr marL="0" indent="0" algn="just">
              <a:buNone/>
            </a:pPr>
            <a:endParaRPr lang="zh-TW" altLang="en-US" sz="2200" dirty="0">
              <a:latin typeface="Times New Roman" panose="02020603050405020304" pitchFamily="18" charset="0"/>
              <a:cs typeface="Times New Roman" panose="02020603050405020304" pitchFamily="18" charset="0"/>
            </a:endParaRPr>
          </a:p>
        </p:txBody>
      </p:sp>
      <p:sp>
        <p:nvSpPr>
          <p:cNvPr id="8" name="投影片編號版面配置區 7">
            <a:extLst>
              <a:ext uri="{FF2B5EF4-FFF2-40B4-BE49-F238E27FC236}">
                <a16:creationId xmlns:a16="http://schemas.microsoft.com/office/drawing/2014/main" id="{B3BA41AB-20A1-445A-A0A9-8903B1339D69}"/>
              </a:ext>
            </a:extLst>
          </p:cNvPr>
          <p:cNvSpPr>
            <a:spLocks noGrp="1"/>
          </p:cNvSpPr>
          <p:nvPr>
            <p:ph type="sldNum" sz="quarter" idx="12"/>
          </p:nvPr>
        </p:nvSpPr>
        <p:spPr/>
        <p:txBody>
          <a:bodyPr/>
          <a:lstStyle/>
          <a:p>
            <a:fld id="{7539D880-7677-4E8F-8D1B-ECF4759392EF}" type="slidenum">
              <a:rPr lang="zh-TW" altLang="en-US" smtClean="0"/>
              <a:t>58</a:t>
            </a:fld>
            <a:endParaRPr lang="zh-TW" altLang="en-US"/>
          </a:p>
        </p:txBody>
      </p:sp>
    </p:spTree>
    <p:extLst>
      <p:ext uri="{BB962C8B-B14F-4D97-AF65-F5344CB8AC3E}">
        <p14:creationId xmlns:p14="http://schemas.microsoft.com/office/powerpoint/2010/main" val="29052586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757B63-E734-4E95-BB2B-40DE015050BD}"/>
              </a:ext>
            </a:extLst>
          </p:cNvPr>
          <p:cNvSpPr>
            <a:spLocks noGrp="1"/>
          </p:cNvSpPr>
          <p:nvPr>
            <p:ph type="title"/>
          </p:nvPr>
        </p:nvSpPr>
        <p:spPr/>
        <p:txBody>
          <a:bodyPr>
            <a:normAutofit/>
          </a:bodyPr>
          <a:lstStyle/>
          <a:p>
            <a:pPr lvl="0" defTabSz="1123158">
              <a:lnSpc>
                <a:spcPct val="100000"/>
              </a:lnSpc>
              <a:spcBef>
                <a:spcPts val="0"/>
              </a:spcBef>
              <a:defRPr/>
            </a:pPr>
            <a:r>
              <a:rPr lang="en-US" altLang="zh-TW" dirty="0">
                <a:solidFill>
                  <a:schemeClr val="tx1"/>
                </a:solidFill>
                <a:latin typeface="Times New Roman"/>
                <a:cs typeface="Times New Roman"/>
                <a:sym typeface="Times New Roman"/>
              </a:rPr>
              <a:t>Future</a:t>
            </a:r>
            <a:endParaRPr lang="zh-TW" altLang="en-US" dirty="0"/>
          </a:p>
        </p:txBody>
      </p:sp>
      <p:sp>
        <p:nvSpPr>
          <p:cNvPr id="3" name="內容版面配置區 2">
            <a:extLst>
              <a:ext uri="{FF2B5EF4-FFF2-40B4-BE49-F238E27FC236}">
                <a16:creationId xmlns:a16="http://schemas.microsoft.com/office/drawing/2014/main" id="{9AFD8761-5308-4427-928B-5B29FD30CBEE}"/>
              </a:ext>
            </a:extLst>
          </p:cNvPr>
          <p:cNvSpPr>
            <a:spLocks noGrp="1"/>
          </p:cNvSpPr>
          <p:nvPr>
            <p:ph idx="1"/>
          </p:nvPr>
        </p:nvSpPr>
        <p:spPr/>
        <p:txBody>
          <a:bodyPr>
            <a:normAutofit/>
          </a:bodyPr>
          <a:lstStyle/>
          <a:p>
            <a:pPr marL="0" indent="0">
              <a:buNone/>
            </a:pPr>
            <a:endParaRPr lang="en-US" altLang="zh-TW"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l"/>
            </a:pPr>
            <a:endParaRPr lang="en-US" altLang="zh-TW" sz="2600" dirty="0">
              <a:latin typeface="Times New Roman" panose="02020603050405020304" pitchFamily="18" charset="0"/>
              <a:cs typeface="Times New Roman" panose="02020603050405020304" pitchFamily="18" charset="0"/>
            </a:endParaRPr>
          </a:p>
          <a:p>
            <a:pPr marL="0" indent="0">
              <a:buNone/>
            </a:pPr>
            <a:endParaRPr lang="zh-TW" altLang="en-US" sz="2600" dirty="0">
              <a:latin typeface="Times New Roman" panose="02020603050405020304" pitchFamily="18" charset="0"/>
              <a:cs typeface="Times New Roman" panose="02020603050405020304" pitchFamily="18" charset="0"/>
            </a:endParaRPr>
          </a:p>
        </p:txBody>
      </p:sp>
      <p:sp>
        <p:nvSpPr>
          <p:cNvPr id="5" name="Google Shape;114;p2">
            <a:extLst>
              <a:ext uri="{FF2B5EF4-FFF2-40B4-BE49-F238E27FC236}">
                <a16:creationId xmlns:a16="http://schemas.microsoft.com/office/drawing/2014/main" id="{699609FF-AEEE-4DA5-9722-4C96D3E8ACEC}"/>
              </a:ext>
            </a:extLst>
          </p:cNvPr>
          <p:cNvSpPr txBox="1">
            <a:spLocks/>
          </p:cNvSpPr>
          <p:nvPr/>
        </p:nvSpPr>
        <p:spPr>
          <a:xfrm>
            <a:off x="1097280" y="1818128"/>
            <a:ext cx="10248816" cy="4287251"/>
          </a:xfrm>
          <a:prstGeom prst="rect">
            <a:avLst/>
          </a:prstGeom>
          <a:noFill/>
          <a:ln>
            <a:noFill/>
          </a:ln>
        </p:spPr>
        <p:txBody>
          <a:bodyPr spcFirstLastPara="1" vert="horz" wrap="square" lIns="0" tIns="45700" rIns="0"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39090" indent="-457200" algn="just">
              <a:lnSpc>
                <a:spcPct val="150000"/>
              </a:lnSpc>
              <a:spcBef>
                <a:spcPts val="0"/>
              </a:spcBef>
              <a:spcAft>
                <a:spcPts val="0"/>
              </a:spcAft>
              <a:buSzPct val="77000"/>
              <a:buFont typeface="Wingdings" panose="05000000000000000000" pitchFamily="2" charset="2"/>
              <a:buChar char="l"/>
            </a:pPr>
            <a:r>
              <a:rPr lang="en-US" sz="2200" dirty="0">
                <a:solidFill>
                  <a:schemeClr val="dk1"/>
                </a:solidFill>
                <a:latin typeface="Times New Roman"/>
                <a:ea typeface="Times New Roman"/>
                <a:cs typeface="Times New Roman"/>
                <a:sym typeface="Times New Roman"/>
              </a:rPr>
              <a:t>When processing NVRAM, the system will return non-NULL values ​​to avoid system crashes due to illegal values, but this is not real. This situation may be solved by working with the manufacturer.</a:t>
            </a:r>
          </a:p>
          <a:p>
            <a:pPr marL="339090" indent="-457200" algn="just">
              <a:lnSpc>
                <a:spcPct val="150000"/>
              </a:lnSpc>
              <a:spcBef>
                <a:spcPts val="0"/>
              </a:spcBef>
              <a:spcAft>
                <a:spcPts val="0"/>
              </a:spcAft>
              <a:buSzPct val="77000"/>
              <a:buFont typeface="Wingdings" panose="05000000000000000000" pitchFamily="2" charset="2"/>
              <a:buChar char="l"/>
            </a:pPr>
            <a:endParaRPr lang="en-US" sz="2200" dirty="0">
              <a:solidFill>
                <a:schemeClr val="dk1"/>
              </a:solidFill>
              <a:latin typeface="Times New Roman"/>
              <a:ea typeface="Times New Roman"/>
              <a:cs typeface="Times New Roman"/>
              <a:sym typeface="Times New Roman"/>
            </a:endParaRPr>
          </a:p>
          <a:p>
            <a:pPr marL="339090" indent="-457200" algn="just">
              <a:lnSpc>
                <a:spcPct val="150000"/>
              </a:lnSpc>
              <a:spcBef>
                <a:spcPts val="0"/>
              </a:spcBef>
              <a:spcAft>
                <a:spcPts val="0"/>
              </a:spcAft>
              <a:buSzPct val="77000"/>
              <a:buFont typeface="Wingdings" panose="05000000000000000000" pitchFamily="2" charset="2"/>
              <a:buChar char="l"/>
            </a:pPr>
            <a:r>
              <a:rPr lang="en-US" sz="2200" dirty="0">
                <a:solidFill>
                  <a:schemeClr val="dk1"/>
                </a:solidFill>
                <a:latin typeface="Times New Roman"/>
                <a:ea typeface="Times New Roman"/>
                <a:cs typeface="Times New Roman"/>
                <a:sym typeface="Times New Roman"/>
              </a:rPr>
              <a:t>Due to the wide variety of firmware and different manufacturers’ Customization varies, and the rules for this study may only cover some of the issues.</a:t>
            </a:r>
          </a:p>
        </p:txBody>
      </p:sp>
      <p:sp>
        <p:nvSpPr>
          <p:cNvPr id="9" name="投影片編號版面配置區 8">
            <a:extLst>
              <a:ext uri="{FF2B5EF4-FFF2-40B4-BE49-F238E27FC236}">
                <a16:creationId xmlns:a16="http://schemas.microsoft.com/office/drawing/2014/main" id="{D4482A5F-4675-4C29-ADEA-6CC6D427A6F6}"/>
              </a:ext>
            </a:extLst>
          </p:cNvPr>
          <p:cNvSpPr>
            <a:spLocks noGrp="1"/>
          </p:cNvSpPr>
          <p:nvPr>
            <p:ph type="sldNum" sz="quarter" idx="12"/>
          </p:nvPr>
        </p:nvSpPr>
        <p:spPr/>
        <p:txBody>
          <a:bodyPr/>
          <a:lstStyle/>
          <a:p>
            <a:fld id="{7539D880-7677-4E8F-8D1B-ECF4759392EF}" type="slidenum">
              <a:rPr lang="zh-TW" altLang="en-US" smtClean="0"/>
              <a:t>59</a:t>
            </a:fld>
            <a:endParaRPr lang="zh-TW" altLang="en-US"/>
          </a:p>
        </p:txBody>
      </p:sp>
    </p:spTree>
    <p:extLst>
      <p:ext uri="{BB962C8B-B14F-4D97-AF65-F5344CB8AC3E}">
        <p14:creationId xmlns:p14="http://schemas.microsoft.com/office/powerpoint/2010/main" val="24960071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5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Times New Roman"/>
              <a:buNone/>
            </a:pPr>
            <a:r>
              <a:rPr lang="en-US" cap="none">
                <a:solidFill>
                  <a:schemeClr val="dk1"/>
                </a:solidFill>
                <a:latin typeface="Times New Roman"/>
                <a:ea typeface="Times New Roman"/>
                <a:cs typeface="Times New Roman"/>
                <a:sym typeface="Times New Roman"/>
              </a:rPr>
              <a:t>Q &amp; A</a:t>
            </a:r>
            <a:endParaRPr cap="none">
              <a:solidFill>
                <a:schemeClr val="dk1"/>
              </a:solidFill>
              <a:latin typeface="Times New Roman"/>
              <a:ea typeface="Times New Roman"/>
              <a:cs typeface="Times New Roman"/>
              <a:sym typeface="Times New Roman"/>
            </a:endParaRPr>
          </a:p>
        </p:txBody>
      </p:sp>
      <p:sp>
        <p:nvSpPr>
          <p:cNvPr id="859" name="Google Shape;859;p50"/>
          <p:cNvSpPr txBox="1">
            <a:spLocks noGrp="1"/>
          </p:cNvSpPr>
          <p:nvPr>
            <p:ph type="body" idx="1"/>
          </p:nvPr>
        </p:nvSpPr>
        <p:spPr>
          <a:xfrm>
            <a:off x="1235965" y="3064213"/>
            <a:ext cx="9720071" cy="729574"/>
          </a:xfrm>
          <a:prstGeom prst="rect">
            <a:avLst/>
          </a:prstGeom>
          <a:noFill/>
          <a:ln>
            <a:noFill/>
          </a:ln>
        </p:spPr>
        <p:txBody>
          <a:bodyPr spcFirstLastPara="1" wrap="square" lIns="0" tIns="45700" rIns="0" bIns="45700" anchor="t" anchorCtr="0">
            <a:normAutofit/>
          </a:bodyPr>
          <a:lstStyle/>
          <a:p>
            <a:pPr marL="0" lvl="0" indent="0" algn="ctr" rtl="0">
              <a:lnSpc>
                <a:spcPct val="90000"/>
              </a:lnSpc>
              <a:spcBef>
                <a:spcPts val="0"/>
              </a:spcBef>
              <a:spcAft>
                <a:spcPts val="0"/>
              </a:spcAft>
              <a:buClr>
                <a:srgbClr val="3F3F3F"/>
              </a:buClr>
              <a:buSzPts val="4400"/>
              <a:buNone/>
            </a:pPr>
            <a:r>
              <a:rPr lang="en-US" sz="4400" dirty="0">
                <a:latin typeface="Times New Roman"/>
                <a:ea typeface="Times New Roman"/>
                <a:cs typeface="Times New Roman"/>
                <a:sym typeface="Times New Roman"/>
              </a:rPr>
              <a:t>Thank you for listening！</a:t>
            </a:r>
            <a:endParaRPr sz="4400" dirty="0">
              <a:solidFill>
                <a:srgbClr val="0070C0"/>
              </a:solidFill>
              <a:latin typeface="Times New Roman"/>
              <a:ea typeface="Times New Roman"/>
              <a:cs typeface="Times New Roman"/>
              <a:sym typeface="Times New Roman"/>
            </a:endParaRPr>
          </a:p>
          <a:p>
            <a:pPr marL="91440" lvl="0" indent="0" algn="l" rtl="0">
              <a:lnSpc>
                <a:spcPct val="90000"/>
              </a:lnSpc>
              <a:spcBef>
                <a:spcPts val="1400"/>
              </a:spcBef>
              <a:spcAft>
                <a:spcPts val="0"/>
              </a:spcAft>
              <a:buClr>
                <a:srgbClr val="3F3F3F"/>
              </a:buClr>
              <a:buSzPts val="3200"/>
              <a:buFont typeface="Arial"/>
              <a:buNone/>
            </a:pPr>
            <a:endParaRPr sz="3200" dirty="0">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latin typeface="Times New Roman"/>
              <a:ea typeface="Times New Roman"/>
              <a:cs typeface="Times New Roman"/>
              <a:sym typeface="Times New Roman"/>
            </a:endParaRPr>
          </a:p>
        </p:txBody>
      </p:sp>
      <p:sp>
        <p:nvSpPr>
          <p:cNvPr id="5" name="投影片編號版面配置區 4">
            <a:extLst>
              <a:ext uri="{FF2B5EF4-FFF2-40B4-BE49-F238E27FC236}">
                <a16:creationId xmlns:a16="http://schemas.microsoft.com/office/drawing/2014/main" id="{DE869316-2E88-4E11-AA59-E23805F045F0}"/>
              </a:ext>
            </a:extLst>
          </p:cNvPr>
          <p:cNvSpPr>
            <a:spLocks noGrp="1"/>
          </p:cNvSpPr>
          <p:nvPr>
            <p:ph type="sldNum" sz="quarter" idx="12"/>
          </p:nvPr>
        </p:nvSpPr>
        <p:spPr/>
        <p:txBody>
          <a:bodyPr/>
          <a:lstStyle/>
          <a:p>
            <a:fld id="{7539D880-7677-4E8F-8D1B-ECF4759392EF}" type="slidenum">
              <a:rPr lang="zh-TW" altLang="en-US" smtClean="0"/>
              <a:t>60</a:t>
            </a:fld>
            <a:endParaRPr lang="zh-TW" altLang="en-US"/>
          </a:p>
        </p:txBody>
      </p:sp>
    </p:spTree>
  </p:cSld>
  <p:clrMapOvr>
    <a:masterClrMapping/>
  </p:clrMapOvr>
</p:sld>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16966</TotalTime>
  <Words>5221</Words>
  <Application>Microsoft Office PowerPoint</Application>
  <PresentationFormat>寬螢幕</PresentationFormat>
  <Paragraphs>612</Paragraphs>
  <Slides>60</Slides>
  <Notes>60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60</vt:i4>
      </vt:variant>
    </vt:vector>
  </HeadingPairs>
  <TitlesOfParts>
    <vt:vector size="68" baseType="lpstr">
      <vt:lpstr>source-serif-pro</vt:lpstr>
      <vt:lpstr>DFKai-SB</vt:lpstr>
      <vt:lpstr>Arial</vt:lpstr>
      <vt:lpstr>Calibri</vt:lpstr>
      <vt:lpstr>Calibri Light</vt:lpstr>
      <vt:lpstr>Times New Roman</vt:lpstr>
      <vt:lpstr>Wingdings</vt:lpstr>
      <vt:lpstr>回顧</vt:lpstr>
      <vt:lpstr>The study of Improvement for embedded firmware emulation applying FirmAE</vt:lpstr>
      <vt:lpstr>Outline</vt:lpstr>
      <vt:lpstr>Outline</vt:lpstr>
      <vt:lpstr>Motivation</vt:lpstr>
      <vt:lpstr>Outline</vt:lpstr>
      <vt:lpstr>The Proposed Approach</vt:lpstr>
      <vt:lpstr>The Proposed Approach</vt:lpstr>
      <vt:lpstr>Extractor</vt:lpstr>
      <vt:lpstr>The Proposed Approach</vt:lpstr>
      <vt:lpstr>ImageMaker</vt:lpstr>
      <vt:lpstr>The Proposed Approach</vt:lpstr>
      <vt:lpstr>Emulator</vt:lpstr>
      <vt:lpstr>The Proposed Approach</vt:lpstr>
      <vt:lpstr>Arbitration - Boot</vt:lpstr>
      <vt:lpstr>Issue</vt:lpstr>
      <vt:lpstr>Arbitration – Kernel</vt:lpstr>
      <vt:lpstr>Issue</vt:lpstr>
      <vt:lpstr>Arbitration – Network</vt:lpstr>
      <vt:lpstr>Issue</vt:lpstr>
      <vt:lpstr>Arbitration - NVRAM</vt:lpstr>
      <vt:lpstr>Issue</vt:lpstr>
      <vt:lpstr>The Repair Process</vt:lpstr>
      <vt:lpstr>The Repair Process</vt:lpstr>
      <vt:lpstr>Redirect Output</vt:lpstr>
      <vt:lpstr>The Repair Process</vt:lpstr>
      <vt:lpstr>Induce Rules</vt:lpstr>
      <vt:lpstr>The Repair Process</vt:lpstr>
      <vt:lpstr>Validate Rules</vt:lpstr>
      <vt:lpstr>Outline</vt:lpstr>
      <vt:lpstr>Experiment</vt:lpstr>
      <vt:lpstr>Experiment Dataset</vt:lpstr>
      <vt:lpstr>Experiment Result</vt:lpstr>
      <vt:lpstr>Rule 1</vt:lpstr>
      <vt:lpstr>Rule 2</vt:lpstr>
      <vt:lpstr>Rule 3</vt:lpstr>
      <vt:lpstr>Rule 4</vt:lpstr>
      <vt:lpstr>Rule 5</vt:lpstr>
      <vt:lpstr>Rule 6</vt:lpstr>
      <vt:lpstr>Rule 7</vt:lpstr>
      <vt:lpstr>Validation Dataset</vt:lpstr>
      <vt:lpstr>DX-3001H9</vt:lpstr>
      <vt:lpstr>DX-3001H9</vt:lpstr>
      <vt:lpstr>DX-3001H9</vt:lpstr>
      <vt:lpstr>DX-3001H9</vt:lpstr>
      <vt:lpstr>DX-3001H9</vt:lpstr>
      <vt:lpstr>DX-3001H9</vt:lpstr>
      <vt:lpstr>DX-3001H9</vt:lpstr>
      <vt:lpstr>DX-3001H9</vt:lpstr>
      <vt:lpstr>DX-3021L9</vt:lpstr>
      <vt:lpstr>DX-3021L9</vt:lpstr>
      <vt:lpstr>DX-3021L9</vt:lpstr>
      <vt:lpstr>DX-3021L9</vt:lpstr>
      <vt:lpstr>DX-3021L9</vt:lpstr>
      <vt:lpstr>DX-3021L9</vt:lpstr>
      <vt:lpstr>Outline</vt:lpstr>
      <vt:lpstr>Discussion</vt:lpstr>
      <vt:lpstr>Outline</vt:lpstr>
      <vt:lpstr>Conclusion</vt:lpstr>
      <vt:lpstr>Future</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Attention-Based YOLOv7 Model for Liver Tumor Detection</dc:title>
  <dc:creator>郭宗育</dc:creator>
  <cp:lastModifiedBy>裕詮 王</cp:lastModifiedBy>
  <cp:revision>1266</cp:revision>
  <dcterms:created xsi:type="dcterms:W3CDTF">2023-12-04T10:49:11Z</dcterms:created>
  <dcterms:modified xsi:type="dcterms:W3CDTF">2025-01-20T10:05:29Z</dcterms:modified>
</cp:coreProperties>
</file>